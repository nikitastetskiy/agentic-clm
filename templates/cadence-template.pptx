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2.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9" r:id="rId1"/>
  </p:sldMasterIdLst>
  <p:notesMasterIdLst>
    <p:notesMasterId r:id="rId87"/>
  </p:notesMasterIdLst>
  <p:handoutMasterIdLst>
    <p:handoutMasterId r:id="rId88"/>
  </p:handoutMasterIdLst>
  <p:sldIdLst>
    <p:sldId id="461" r:id="rId3"/>
    <p:sldId id="466" r:id="rId8"/>
    <p:sldId id="467" r:id="rId9"/>
    <p:sldId id="468" r:id="rId10"/>
    <p:sldId id="471" r:id="rId13"/>
    <p:sldId id="472" r:id="rId14"/>
    <p:sldId id="473" r:id="rId15"/>
    <p:sldId id="474" r:id="rId16"/>
    <p:sldId id="475" r:id="rId17"/>
    <p:sldId id="476" r:id="rId18"/>
    <p:sldId id="407" r:id="rId21"/>
  </p:sldIdLst>
  <p:sldSz cx="9144000" cy="5148263"/>
  <p:notesSz cx="6858000" cy="9144000"/>
  <p:embeddedFontLst>
    <p:embeddedFont>
      <p:font typeface="Inter" panose="020B0604020202020204" charset="0"/>
      <p:regular r:id="rId89"/>
      <p:bold r:id="rId90"/>
    </p:embeddedFont>
    <p:embeddedFont>
      <p:font typeface="Inter Medium" panose="020B0604020202020204" charset="0"/>
      <p:regular r:id="rId99"/>
    </p:embeddedFont>
    <p:embeddedFont>
      <p:font typeface="Inter SemiBold" panose="020B0604020202020204" charset="0"/>
      <p:regular r:id="rId100"/>
      <p:bold r:id="rId101"/>
    </p:embeddedFont>
    <p:embeddedFont>
      <p:font typeface="Poppins" panose="00000500000000000000" pitchFamily="2" charset="0"/>
      <p:regular r:id="rId102"/>
      <p:bold r:id="rId103"/>
      <p:italic r:id="rId104"/>
      <p:boldItalic r:id="rId10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8DFF"/>
    <a:srgbClr val="FBA87B"/>
    <a:srgbClr val="7D83FF"/>
    <a:srgbClr val="EE88B0"/>
    <a:srgbClr val="FFFFFF"/>
    <a:srgbClr val="FC9E82"/>
    <a:srgbClr val="7582FF"/>
    <a:srgbClr val="FA889C"/>
    <a:srgbClr val="FE9388"/>
    <a:srgbClr val="E689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21" Type="http://schemas.openxmlformats.org/officeDocument/2006/relationships/slide" Target="slides/slide20.xml"/><Relationship Id="rId89" Type="http://schemas.openxmlformats.org/officeDocument/2006/relationships/font" Target="fonts/font1.fntdata"/><Relationship Id="rId16" Type="http://schemas.openxmlformats.org/officeDocument/2006/relationships/slide" Target="slides/slide15.xml"/><Relationship Id="rId107" Type="http://schemas.openxmlformats.org/officeDocument/2006/relationships/viewProps" Target="viewProps.xml"/><Relationship Id="rId102" Type="http://schemas.openxmlformats.org/officeDocument/2006/relationships/font" Target="fonts/font14.fntdata"/><Relationship Id="rId90" Type="http://schemas.openxmlformats.org/officeDocument/2006/relationships/font" Target="fonts/font2.fntdata"/><Relationship Id="rId17" Type="http://schemas.openxmlformats.org/officeDocument/2006/relationships/slide" Target="slides/slide16.xml"/><Relationship Id="rId103" Type="http://schemas.openxmlformats.org/officeDocument/2006/relationships/font" Target="fonts/font15.fntdata"/><Relationship Id="rId108"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slide" Target="slides/slide14.xml"/><Relationship Id="rId106" Type="http://schemas.openxmlformats.org/officeDocument/2006/relationships/presProps" Target="presProps.xml"/><Relationship Id="rId10" Type="http://schemas.openxmlformats.org/officeDocument/2006/relationships/slide" Target="slides/slide9.xml"/><Relationship Id="rId99" Type="http://schemas.openxmlformats.org/officeDocument/2006/relationships/font" Target="fonts/font11.fntdata"/><Relationship Id="rId101" Type="http://schemas.openxmlformats.org/officeDocument/2006/relationships/font" Target="fonts/font13.fntdata"/><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109" Type="http://schemas.openxmlformats.org/officeDocument/2006/relationships/tableStyles" Target="tableStyles.xml"/><Relationship Id="rId104" Type="http://schemas.openxmlformats.org/officeDocument/2006/relationships/font" Target="fonts/font16.fntdata"/><Relationship Id="rId87" Type="http://schemas.openxmlformats.org/officeDocument/2006/relationships/notesMaster" Target="notesMasters/notesMaster1.xml"/><Relationship Id="rId14" Type="http://schemas.openxmlformats.org/officeDocument/2006/relationships/slide" Target="slides/slide13.xml"/><Relationship Id="rId100" Type="http://schemas.openxmlformats.org/officeDocument/2006/relationships/font" Target="fonts/font12.fntdata"/><Relationship Id="rId10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88" Type="http://schemas.openxmlformats.org/officeDocument/2006/relationships/handoutMaster" Target="handoutMasters/handoutMaster1.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C0A959-346B-B1E2-5498-103FD6F297A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Inter" panose="02000503000000020004" pitchFamily="2" charset="0"/>
              <a:ea typeface="Inter" panose="02000503000000020004" pitchFamily="2" charset="0"/>
            </a:endParaRPr>
          </a:p>
        </p:txBody>
      </p:sp>
      <p:sp>
        <p:nvSpPr>
          <p:cNvPr id="3" name="Date Placeholder 2">
            <a:extLst>
              <a:ext uri="{FF2B5EF4-FFF2-40B4-BE49-F238E27FC236}">
                <a16:creationId xmlns:a16="http://schemas.microsoft.com/office/drawing/2014/main" id="{137A31F7-F2E3-E478-F656-865100CBBD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C4E741-C540-8945-AAB4-8817927E1D55}" type="datetimeFigureOut">
              <a:rPr lang="en-US" smtClean="0">
                <a:latin typeface="Inter" panose="02000503000000020004" pitchFamily="2" charset="0"/>
                <a:ea typeface="Inter" panose="02000503000000020004" pitchFamily="2" charset="0"/>
              </a:rPr>
              <a:t>10/13/2026</a:t>
            </a:fld>
            <a:endParaRPr lang="en-US">
              <a:latin typeface="Inter" panose="02000503000000020004" pitchFamily="2" charset="0"/>
              <a:ea typeface="Inter" panose="02000503000000020004" pitchFamily="2" charset="0"/>
            </a:endParaRPr>
          </a:p>
        </p:txBody>
      </p:sp>
      <p:sp>
        <p:nvSpPr>
          <p:cNvPr id="4" name="Footer Placeholder 3">
            <a:extLst>
              <a:ext uri="{FF2B5EF4-FFF2-40B4-BE49-F238E27FC236}">
                <a16:creationId xmlns:a16="http://schemas.microsoft.com/office/drawing/2014/main" id="{15D386E7-DA50-4BE2-E9BF-BD75A7B45E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Inter" panose="02000503000000020004" pitchFamily="2" charset="0"/>
              <a:ea typeface="Inter" panose="02000503000000020004" pitchFamily="2" charset="0"/>
            </a:endParaRPr>
          </a:p>
        </p:txBody>
      </p:sp>
      <p:sp>
        <p:nvSpPr>
          <p:cNvPr id="5" name="Slide Number Placeholder 4">
            <a:extLst>
              <a:ext uri="{FF2B5EF4-FFF2-40B4-BE49-F238E27FC236}">
                <a16:creationId xmlns:a16="http://schemas.microsoft.com/office/drawing/2014/main" id="{94D15843-2BB7-46A0-A946-E16B7003E25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4AA80D-C55B-A446-8EFC-000C1D742EEF}" type="slidenum">
              <a:rPr lang="en-US" smtClean="0">
                <a:latin typeface="Inter" panose="02000503000000020004" pitchFamily="2" charset="0"/>
                <a:ea typeface="Inter" panose="02000503000000020004" pitchFamily="2" charset="0"/>
              </a:rPr>
              <a:t>‹#›</a:t>
            </a:fld>
            <a:endParaRPr lang="en-US">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56762571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BB0FA60F-88AE-4244-841E-E177ECF5EC44}" type="datetimeFigureOut">
              <a:rPr lang="en-US" smtClean="0"/>
              <a:pPr/>
              <a:t>10/13/2026</a:t>
            </a:fld>
            <a:endParaRPr lang="en-US"/>
          </a:p>
        </p:txBody>
      </p:sp>
      <p:sp>
        <p:nvSpPr>
          <p:cNvPr id="4" name="Slide Image Placeholder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87A560D0-DBFC-914E-84C5-8ADE738FEB1E}" type="slidenum">
              <a:rPr lang="en-US" smtClean="0"/>
              <a:pPr/>
              <a:t>‹#›</a:t>
            </a:fld>
            <a:endParaRPr lang="en-US"/>
          </a:p>
        </p:txBody>
      </p:sp>
    </p:spTree>
    <p:extLst>
      <p:ext uri="{BB962C8B-B14F-4D97-AF65-F5344CB8AC3E}">
        <p14:creationId xmlns:p14="http://schemas.microsoft.com/office/powerpoint/2010/main" val="2179819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457200" algn="l" defTabSz="914400" rtl="0" eaLnBrk="1" latinLnBrk="0" hangingPunct="1">
      <a:defRPr sz="1200" b="0" i="0" kern="1200">
        <a:solidFill>
          <a:schemeClr val="tx1"/>
        </a:solidFill>
        <a:latin typeface="Inter" panose="02000503000000020004" pitchFamily="2" charset="0"/>
        <a:ea typeface="+mn-ea"/>
        <a:cs typeface="+mn-cs"/>
      </a:defRPr>
    </a:lvl2pPr>
    <a:lvl3pPr marL="914400" algn="l" defTabSz="914400" rtl="0" eaLnBrk="1" latinLnBrk="0" hangingPunct="1">
      <a:defRPr sz="1200" b="0" i="0" kern="1200">
        <a:solidFill>
          <a:schemeClr val="tx1"/>
        </a:solidFill>
        <a:latin typeface="Inter" panose="02000503000000020004" pitchFamily="2" charset="0"/>
        <a:ea typeface="+mn-ea"/>
        <a:cs typeface="+mn-cs"/>
      </a:defRPr>
    </a:lvl3pPr>
    <a:lvl4pPr marL="1371600" algn="l" defTabSz="914400" rtl="0" eaLnBrk="1" latinLnBrk="0" hangingPunct="1">
      <a:defRPr sz="1200" b="0" i="0" kern="1200">
        <a:solidFill>
          <a:schemeClr val="tx1"/>
        </a:solidFill>
        <a:latin typeface="Inter" panose="02000503000000020004" pitchFamily="2" charset="0"/>
        <a:ea typeface="+mn-ea"/>
        <a:cs typeface="+mn-cs"/>
      </a:defRPr>
    </a:lvl4pPr>
    <a:lvl5pPr marL="1828800" algn="l" defTabSz="914400" rtl="0" eaLnBrk="1" latinLnBrk="0" hangingPunct="1">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9751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1_Title Subtitle Terraform">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9F747F-0181-0315-773B-BEA824EF5638}"/>
              </a:ext>
            </a:extLst>
          </p:cNvPr>
          <p:cNvSpPr/>
          <p:nvPr userDrawn="1"/>
        </p:nvSpPr>
        <p:spPr>
          <a:xfrm>
            <a:off x="0" y="2613962"/>
            <a:ext cx="9144000" cy="2529538"/>
          </a:xfrm>
          <a:prstGeom prst="rect">
            <a:avLst/>
          </a:prstGeom>
          <a:gradFill>
            <a:gsLst>
              <a:gs pos="0">
                <a:schemeClr val="bg1">
                  <a:alpha val="0"/>
                </a:schemeClr>
              </a:gs>
              <a:gs pos="100000">
                <a:srgbClr val="F4ECF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2" charset="0"/>
              <a:ea typeface="Inter" panose="02000503000000020004" pitchFamily="2" charset="0"/>
            </a:endParaRPr>
          </a:p>
        </p:txBody>
      </p:sp>
      <p:sp>
        <p:nvSpPr>
          <p:cNvPr id="3" name="Google Shape;28;p5">
            <a:extLst>
              <a:ext uri="{FF2B5EF4-FFF2-40B4-BE49-F238E27FC236}">
                <a16:creationId xmlns:a16="http://schemas.microsoft.com/office/drawing/2014/main" id="{AFA02BE4-0604-C69A-EDFA-C0E5E09C2434}"/>
              </a:ext>
            </a:extLst>
          </p:cNvPr>
          <p:cNvSpPr txBox="1">
            <a:spLocks/>
          </p:cNvSpPr>
          <p:nvPr userDrawn="1"/>
        </p:nvSpPr>
        <p:spPr>
          <a:xfrm>
            <a:off x="218075" y="4905100"/>
            <a:ext cx="193500" cy="981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1pPr>
            <a:lvl2pPr marR="0" lvl="1"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2pPr>
            <a:lvl3pPr marR="0" lvl="2"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3pPr>
            <a:lvl4pPr marR="0" lvl="3"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4pPr>
            <a:lvl5pPr marR="0" lvl="4"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5pPr>
            <a:lvl6pPr marR="0" lvl="5"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6pPr>
            <a:lvl7pPr marR="0" lvl="6"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7pPr>
            <a:lvl8pPr marR="0" lvl="7"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8pPr>
            <a:lvl9pPr marR="0" lvl="8"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500" b="0" i="0" u="none" strike="noStrike" kern="0" cap="none" spc="0" normalizeH="0" baseline="0" noProof="0" smtClean="0">
                <a:ln>
                  <a:noFill/>
                </a:ln>
                <a:solidFill>
                  <a:srgbClr val="646466"/>
                </a:solidFill>
                <a:effectLst/>
                <a:uLnTx/>
                <a:uFillTx/>
                <a:latin typeface="Inter SemiBold"/>
                <a:ea typeface="Inter SemiBold"/>
                <a:sym typeface="Inter SemiBold"/>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 sz="500" b="0" i="0" u="none" strike="noStrike" kern="0" cap="none" spc="0" normalizeH="0" baseline="0" noProof="0">
              <a:ln>
                <a:noFill/>
              </a:ln>
              <a:solidFill>
                <a:srgbClr val="646466"/>
              </a:solidFill>
              <a:effectLst/>
              <a:uLnTx/>
              <a:uFillTx/>
              <a:latin typeface="Inter SemiBold"/>
              <a:ea typeface="Inter SemiBold"/>
              <a:sym typeface="Inter SemiBold"/>
            </a:endParaRPr>
          </a:p>
        </p:txBody>
      </p:sp>
      <p:sp>
        <p:nvSpPr>
          <p:cNvPr id="4" name="Google Shape;22;p3">
            <a:extLst>
              <a:ext uri="{FF2B5EF4-FFF2-40B4-BE49-F238E27FC236}">
                <a16:creationId xmlns:a16="http://schemas.microsoft.com/office/drawing/2014/main" id="{55E976F2-3811-A413-B1CC-6DBDDF9488B6}"/>
              </a:ext>
            </a:extLst>
          </p:cNvPr>
          <p:cNvSpPr txBox="1">
            <a:spLocks noGrp="1"/>
          </p:cNvSpPr>
          <p:nvPr>
            <p:ph type="title"/>
          </p:nvPr>
        </p:nvSpPr>
        <p:spPr>
          <a:xfrm>
            <a:off x="411450" y="365750"/>
            <a:ext cx="8321100" cy="360099"/>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2600"/>
              <a:buNone/>
              <a:defRPr sz="2600" kern="1200" dirty="0">
                <a:solidFill>
                  <a:schemeClr val="tx1"/>
                </a:solidFill>
                <a:latin typeface="Inter SemiBold"/>
                <a:ea typeface="Inter SemiBold"/>
                <a:cs typeface="Inter SemiBold"/>
              </a:defRPr>
            </a:lvl1pPr>
            <a:lvl2pPr lvl="1" rtl="0">
              <a:spcBef>
                <a:spcPts val="700"/>
              </a:spcBef>
              <a:spcAft>
                <a:spcPts val="0"/>
              </a:spcAft>
              <a:buClr>
                <a:schemeClr val="lt1"/>
              </a:buClr>
              <a:buSzPts val="2800"/>
              <a:buNone/>
              <a:defRPr>
                <a:solidFill>
                  <a:schemeClr val="lt1"/>
                </a:solidFill>
                <a:latin typeface="Inter"/>
                <a:ea typeface="Inter"/>
                <a:cs typeface="Inter"/>
                <a:sym typeface="Inter"/>
              </a:defRPr>
            </a:lvl2pPr>
            <a:lvl3pPr lvl="2" rtl="0">
              <a:spcBef>
                <a:spcPts val="2000"/>
              </a:spcBef>
              <a:spcAft>
                <a:spcPts val="0"/>
              </a:spcAft>
              <a:buClr>
                <a:schemeClr val="lt1"/>
              </a:buClr>
              <a:buSzPts val="2800"/>
              <a:buNone/>
              <a:defRPr>
                <a:solidFill>
                  <a:schemeClr val="lt1"/>
                </a:solidFill>
                <a:latin typeface="Inter"/>
                <a:ea typeface="Inter"/>
                <a:cs typeface="Inter"/>
                <a:sym typeface="Inter"/>
              </a:defRPr>
            </a:lvl3pPr>
            <a:lvl4pPr lvl="3" rtl="0">
              <a:spcBef>
                <a:spcPts val="2000"/>
              </a:spcBef>
              <a:spcAft>
                <a:spcPts val="0"/>
              </a:spcAft>
              <a:buClr>
                <a:schemeClr val="lt1"/>
              </a:buClr>
              <a:buSzPts val="2800"/>
              <a:buNone/>
              <a:defRPr>
                <a:solidFill>
                  <a:schemeClr val="lt1"/>
                </a:solidFill>
                <a:latin typeface="Inter"/>
                <a:ea typeface="Inter"/>
                <a:cs typeface="Inter"/>
                <a:sym typeface="Inter"/>
              </a:defRPr>
            </a:lvl4pPr>
            <a:lvl5pPr lvl="4" rtl="0">
              <a:spcBef>
                <a:spcPts val="2000"/>
              </a:spcBef>
              <a:spcAft>
                <a:spcPts val="0"/>
              </a:spcAft>
              <a:buClr>
                <a:schemeClr val="lt1"/>
              </a:buClr>
              <a:buSzPts val="2800"/>
              <a:buNone/>
              <a:defRPr>
                <a:solidFill>
                  <a:schemeClr val="lt1"/>
                </a:solidFill>
                <a:latin typeface="Inter"/>
                <a:ea typeface="Inter"/>
                <a:cs typeface="Inter"/>
                <a:sym typeface="Inter"/>
              </a:defRPr>
            </a:lvl5pPr>
            <a:lvl6pPr lvl="5" rtl="0">
              <a:spcBef>
                <a:spcPts val="2000"/>
              </a:spcBef>
              <a:spcAft>
                <a:spcPts val="0"/>
              </a:spcAft>
              <a:buClr>
                <a:schemeClr val="lt1"/>
              </a:buClr>
              <a:buSzPts val="2800"/>
              <a:buNone/>
              <a:defRPr>
                <a:solidFill>
                  <a:schemeClr val="lt1"/>
                </a:solidFill>
                <a:latin typeface="Inter"/>
                <a:ea typeface="Inter"/>
                <a:cs typeface="Inter"/>
                <a:sym typeface="Inter"/>
              </a:defRPr>
            </a:lvl6pPr>
            <a:lvl7pPr lvl="6" rtl="0">
              <a:spcBef>
                <a:spcPts val="2000"/>
              </a:spcBef>
              <a:spcAft>
                <a:spcPts val="0"/>
              </a:spcAft>
              <a:buClr>
                <a:schemeClr val="lt1"/>
              </a:buClr>
              <a:buSzPts val="2800"/>
              <a:buNone/>
              <a:defRPr>
                <a:solidFill>
                  <a:schemeClr val="lt1"/>
                </a:solidFill>
                <a:latin typeface="Inter"/>
                <a:ea typeface="Inter"/>
                <a:cs typeface="Inter"/>
                <a:sym typeface="Inter"/>
              </a:defRPr>
            </a:lvl7pPr>
            <a:lvl8pPr lvl="7" rtl="0">
              <a:spcBef>
                <a:spcPts val="2000"/>
              </a:spcBef>
              <a:spcAft>
                <a:spcPts val="0"/>
              </a:spcAft>
              <a:buClr>
                <a:schemeClr val="lt1"/>
              </a:buClr>
              <a:buSzPts val="2800"/>
              <a:buNone/>
              <a:defRPr>
                <a:solidFill>
                  <a:schemeClr val="lt1"/>
                </a:solidFill>
                <a:latin typeface="Inter"/>
                <a:ea typeface="Inter"/>
                <a:cs typeface="Inter"/>
                <a:sym typeface="Inter"/>
              </a:defRPr>
            </a:lvl8pPr>
            <a:lvl9pPr lvl="8" rtl="0">
              <a:spcBef>
                <a:spcPts val="2000"/>
              </a:spcBef>
              <a:spcAft>
                <a:spcPts val="2000"/>
              </a:spcAft>
              <a:buClr>
                <a:schemeClr val="lt1"/>
              </a:buClr>
              <a:buSzPts val="2800"/>
              <a:buNone/>
              <a:defRPr>
                <a:solidFill>
                  <a:schemeClr val="lt1"/>
                </a:solidFill>
                <a:latin typeface="Inter"/>
                <a:ea typeface="Inter"/>
                <a:cs typeface="Inter"/>
                <a:sym typeface="Inter"/>
              </a:defRPr>
            </a:lvl9pPr>
          </a:lstStyle>
          <a:p>
            <a:endParaRPr/>
          </a:p>
        </p:txBody>
      </p:sp>
      <p:sp>
        <p:nvSpPr>
          <p:cNvPr id="5" name="Google Shape;23;p3">
            <a:extLst>
              <a:ext uri="{FF2B5EF4-FFF2-40B4-BE49-F238E27FC236}">
                <a16:creationId xmlns:a16="http://schemas.microsoft.com/office/drawing/2014/main" id="{ECAE3DDC-350A-2573-00DD-35105CDC05C9}"/>
              </a:ext>
            </a:extLst>
          </p:cNvPr>
          <p:cNvSpPr txBox="1">
            <a:spLocks noGrp="1"/>
          </p:cNvSpPr>
          <p:nvPr>
            <p:ph type="subTitle" idx="4"/>
          </p:nvPr>
        </p:nvSpPr>
        <p:spPr>
          <a:xfrm>
            <a:off x="411475" y="823300"/>
            <a:ext cx="8321100" cy="246221"/>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lt1"/>
              </a:buClr>
              <a:buSzPts val="1600"/>
              <a:buFont typeface="Inter Light"/>
              <a:buNone/>
              <a:defRPr sz="1600" b="0" i="0">
                <a:solidFill>
                  <a:schemeClr val="tx1"/>
                </a:solidFill>
                <a:latin typeface="Inter Light" panose="02000503000000020004" pitchFamily="2" charset="0"/>
                <a:ea typeface="Inter Light" panose="02000503000000020004" pitchFamily="2" charset="0"/>
                <a:cs typeface="Inter Light" panose="02000503000000020004" pitchFamily="2" charset="0"/>
                <a:sym typeface="Inter Light"/>
              </a:defRPr>
            </a:lvl1pPr>
            <a:lvl2pPr lvl="1" rtl="0">
              <a:spcBef>
                <a:spcPts val="200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2pPr>
            <a:lvl3pPr lvl="2"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3pPr>
            <a:lvl4pPr lvl="3"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4pPr>
            <a:lvl5pPr lvl="4"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5pPr>
            <a:lvl6pPr lvl="5"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6pPr>
            <a:lvl7pPr lvl="6"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7pPr>
            <a:lvl8pPr lvl="7"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8pPr>
            <a:lvl9pPr lvl="8"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9pPr>
          </a:lstStyle>
          <a:p>
            <a:endParaRPr/>
          </a:p>
        </p:txBody>
      </p:sp>
      <p:sp>
        <p:nvSpPr>
          <p:cNvPr id="6" name="Google Shape;8;p1">
            <a:extLst>
              <a:ext uri="{FF2B5EF4-FFF2-40B4-BE49-F238E27FC236}">
                <a16:creationId xmlns:a16="http://schemas.microsoft.com/office/drawing/2014/main" id="{3BE9CE4B-702A-508E-58A2-995192D9F29B}"/>
              </a:ext>
            </a:extLst>
          </p:cNvPr>
          <p:cNvSpPr txBox="1"/>
          <p:nvPr userDrawn="1"/>
        </p:nvSpPr>
        <p:spPr>
          <a:xfrm>
            <a:off x="411475" y="4901184"/>
            <a:ext cx="723300" cy="77100"/>
          </a:xfrm>
          <a:prstGeom prst="rect">
            <a:avLst/>
          </a:prstGeom>
          <a:noFill/>
          <a:ln>
            <a:noFill/>
          </a:ln>
        </p:spPr>
        <p:txBody>
          <a:bodyPr spcFirstLastPara="1" wrap="square" lIns="0" tIns="0" rIns="91425" bIns="0" anchor="t" anchorCtr="0">
            <a:spAutoFit/>
          </a:bodyPr>
          <a:lstStyle/>
          <a:p>
            <a:pPr marL="0" lvl="0" indent="0" algn="l" rtl="0">
              <a:spcBef>
                <a:spcPts val="0"/>
              </a:spcBef>
              <a:spcAft>
                <a:spcPts val="0"/>
              </a:spcAft>
              <a:buClr>
                <a:srgbClr val="000000"/>
              </a:buClr>
              <a:buSzPts val="1100"/>
              <a:buFont typeface="Inter"/>
              <a:buNone/>
            </a:pPr>
            <a:r>
              <a:rPr lang="en" sz="500" b="0" i="0">
                <a:solidFill>
                  <a:schemeClr val="bg1">
                    <a:lumMod val="65000"/>
                  </a:schemeClr>
                </a:solidFill>
                <a:latin typeface="Inter Light" panose="02000503000000020004" pitchFamily="2" charset="0"/>
                <a:ea typeface="Inter Light" panose="02000503000000020004" pitchFamily="2" charset="0"/>
                <a:cs typeface="Inter Light"/>
                <a:sym typeface="Inter Light"/>
              </a:rPr>
              <a:t>©2026 HASHICORP</a:t>
            </a:r>
            <a:endParaRPr sz="500" b="0" i="0">
              <a:solidFill>
                <a:schemeClr val="bg1">
                  <a:lumMod val="65000"/>
                </a:schemeClr>
              </a:solidFill>
              <a:latin typeface="Inter Light" panose="02000503000000020004" pitchFamily="2" charset="0"/>
              <a:ea typeface="Inter Light" panose="02000503000000020004" pitchFamily="2" charset="0"/>
              <a:cs typeface="Inter"/>
              <a:sym typeface="Inter"/>
            </a:endParaRPr>
          </a:p>
        </p:txBody>
      </p:sp>
      <p:sp>
        <p:nvSpPr>
          <p:cNvPr id="7" name="Google Shape;9;p1">
            <a:extLst>
              <a:ext uri="{FF2B5EF4-FFF2-40B4-BE49-F238E27FC236}">
                <a16:creationId xmlns:a16="http://schemas.microsoft.com/office/drawing/2014/main" id="{7044AA3B-7C66-CFAA-781B-5933192D44D9}"/>
              </a:ext>
            </a:extLst>
          </p:cNvPr>
          <p:cNvSpPr/>
          <p:nvPr userDrawn="1"/>
        </p:nvSpPr>
        <p:spPr>
          <a:xfrm>
            <a:off x="8769096" y="4832284"/>
            <a:ext cx="159570" cy="170964"/>
          </a:xfrm>
          <a:custGeom>
            <a:avLst/>
            <a:gdLst/>
            <a:ahLst/>
            <a:cxnLst/>
            <a:rect l="l" t="t" r="r" b="b"/>
            <a:pathLst>
              <a:path w="21600" h="21600" extrusionOk="0">
                <a:moveTo>
                  <a:pt x="8996" y="0"/>
                </a:moveTo>
                <a:lnTo>
                  <a:pt x="0" y="4902"/>
                </a:lnTo>
                <a:lnTo>
                  <a:pt x="0" y="16678"/>
                </a:lnTo>
                <a:lnTo>
                  <a:pt x="3376" y="18526"/>
                </a:lnTo>
                <a:lnTo>
                  <a:pt x="3376" y="6750"/>
                </a:lnTo>
                <a:lnTo>
                  <a:pt x="8996" y="3676"/>
                </a:lnTo>
                <a:lnTo>
                  <a:pt x="8996" y="0"/>
                </a:lnTo>
                <a:close/>
                <a:moveTo>
                  <a:pt x="12604" y="0"/>
                </a:moveTo>
                <a:lnTo>
                  <a:pt x="12604" y="9377"/>
                </a:lnTo>
                <a:lnTo>
                  <a:pt x="8996" y="9377"/>
                </a:lnTo>
                <a:lnTo>
                  <a:pt x="8996" y="5867"/>
                </a:lnTo>
                <a:lnTo>
                  <a:pt x="5620" y="7716"/>
                </a:lnTo>
                <a:lnTo>
                  <a:pt x="5620" y="19741"/>
                </a:lnTo>
                <a:lnTo>
                  <a:pt x="8996" y="21600"/>
                </a:lnTo>
                <a:lnTo>
                  <a:pt x="8996" y="12233"/>
                </a:lnTo>
                <a:lnTo>
                  <a:pt x="12604" y="12233"/>
                </a:lnTo>
                <a:lnTo>
                  <a:pt x="12604" y="15712"/>
                </a:lnTo>
                <a:lnTo>
                  <a:pt x="15980" y="13874"/>
                </a:lnTo>
                <a:lnTo>
                  <a:pt x="15980" y="1828"/>
                </a:lnTo>
                <a:lnTo>
                  <a:pt x="12604" y="0"/>
                </a:lnTo>
                <a:close/>
                <a:moveTo>
                  <a:pt x="18224" y="3063"/>
                </a:moveTo>
                <a:lnTo>
                  <a:pt x="18224" y="14840"/>
                </a:lnTo>
                <a:lnTo>
                  <a:pt x="12604" y="17913"/>
                </a:lnTo>
                <a:lnTo>
                  <a:pt x="12604" y="21600"/>
                </a:lnTo>
                <a:lnTo>
                  <a:pt x="21600" y="16698"/>
                </a:lnTo>
                <a:lnTo>
                  <a:pt x="21600" y="4902"/>
                </a:lnTo>
                <a:lnTo>
                  <a:pt x="18224" y="3063"/>
                </a:lnTo>
                <a:close/>
              </a:path>
            </a:pathLst>
          </a:custGeom>
          <a:solidFill>
            <a:schemeClr val="bg1">
              <a:lumMod val="65000"/>
            </a:schemeClr>
          </a:solidFill>
          <a:ln>
            <a:noFill/>
          </a:ln>
        </p:spPr>
        <p:txBody>
          <a:bodyPr spcFirstLastPara="1" wrap="square" lIns="0" tIns="0" rIns="0" bIns="0" anchor="ctr" anchorCtr="0">
            <a:noAutofit/>
          </a:bodyPr>
          <a:lstStyle/>
          <a:p>
            <a:pPr marL="101600" marR="0" lvl="0" indent="-101600" algn="l" rtl="0">
              <a:lnSpc>
                <a:spcPct val="120000"/>
              </a:lnSpc>
              <a:spcBef>
                <a:spcPts val="0"/>
              </a:spcBef>
              <a:spcAft>
                <a:spcPts val="0"/>
              </a:spcAft>
              <a:buClr>
                <a:srgbClr val="000000"/>
              </a:buClr>
              <a:buSzPts val="500"/>
              <a:buFont typeface="Inter"/>
              <a:buNone/>
            </a:pPr>
            <a:endParaRPr sz="500" b="0" i="0" u="none" strike="noStrike" cap="none">
              <a:solidFill>
                <a:srgbClr val="505052"/>
              </a:solidFill>
              <a:latin typeface="Inter" panose="02000503000000020004" pitchFamily="2" charset="0"/>
              <a:ea typeface="Inter" panose="02000503000000020004" pitchFamily="2" charset="0"/>
              <a:cs typeface="Inter"/>
              <a:sym typeface="Inter"/>
            </a:endParaRPr>
          </a:p>
        </p:txBody>
      </p:sp>
    </p:spTree>
    <p:extLst>
      <p:ext uri="{BB962C8B-B14F-4D97-AF65-F5344CB8AC3E}">
        <p14:creationId xmlns:p14="http://schemas.microsoft.com/office/powerpoint/2010/main" val="26648593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2_Title Subtitle Vaul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58A519-0762-E5EE-59CA-4ACD81394D57}"/>
              </a:ext>
            </a:extLst>
          </p:cNvPr>
          <p:cNvSpPr/>
          <p:nvPr userDrawn="1"/>
        </p:nvSpPr>
        <p:spPr>
          <a:xfrm>
            <a:off x="0" y="2615375"/>
            <a:ext cx="9144000" cy="2532888"/>
          </a:xfrm>
          <a:prstGeom prst="rect">
            <a:avLst/>
          </a:prstGeom>
          <a:gradFill>
            <a:gsLst>
              <a:gs pos="0">
                <a:schemeClr val="bg1">
                  <a:alpha val="0"/>
                </a:schemeClr>
              </a:gs>
              <a:gs pos="100000">
                <a:srgbClr val="FFF6D8"/>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Inter" panose="02000503000000020004" pitchFamily="2" charset="0"/>
              <a:ea typeface="Inter" panose="02000503000000020004" pitchFamily="2" charset="0"/>
            </a:endParaRPr>
          </a:p>
        </p:txBody>
      </p:sp>
      <p:sp>
        <p:nvSpPr>
          <p:cNvPr id="3" name="Google Shape;28;p5">
            <a:extLst>
              <a:ext uri="{FF2B5EF4-FFF2-40B4-BE49-F238E27FC236}">
                <a16:creationId xmlns:a16="http://schemas.microsoft.com/office/drawing/2014/main" id="{AFA02BE4-0604-C69A-EDFA-C0E5E09C2434}"/>
              </a:ext>
            </a:extLst>
          </p:cNvPr>
          <p:cNvSpPr txBox="1">
            <a:spLocks/>
          </p:cNvSpPr>
          <p:nvPr userDrawn="1"/>
        </p:nvSpPr>
        <p:spPr>
          <a:xfrm>
            <a:off x="218075" y="4905100"/>
            <a:ext cx="193500" cy="981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1pPr>
            <a:lvl2pPr marR="0" lvl="1"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2pPr>
            <a:lvl3pPr marR="0" lvl="2"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3pPr>
            <a:lvl4pPr marR="0" lvl="3"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4pPr>
            <a:lvl5pPr marR="0" lvl="4"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5pPr>
            <a:lvl6pPr marR="0" lvl="5"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6pPr>
            <a:lvl7pPr marR="0" lvl="6"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7pPr>
            <a:lvl8pPr marR="0" lvl="7"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8pPr>
            <a:lvl9pPr marR="0" lvl="8" algn="l" rtl="0">
              <a:lnSpc>
                <a:spcPct val="100000"/>
              </a:lnSpc>
              <a:spcBef>
                <a:spcPts val="0"/>
              </a:spcBef>
              <a:spcAft>
                <a:spcPts val="0"/>
              </a:spcAft>
              <a:buClr>
                <a:srgbClr val="000000"/>
              </a:buClr>
              <a:buFont typeface="Arial"/>
              <a:buNone/>
              <a:defRPr sz="500" b="0" i="0" u="none" strike="noStrike" cap="none">
                <a:solidFill>
                  <a:srgbClr val="646466"/>
                </a:solidFill>
                <a:latin typeface="Inter SemiBold"/>
                <a:ea typeface="Inter SemiBold"/>
                <a:cs typeface="Inter SemiBold"/>
                <a:sym typeface="Inter SemiBold"/>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500" b="0" i="0" u="none" strike="noStrike" kern="0" cap="none" spc="0" normalizeH="0" baseline="0" noProof="0" smtClean="0">
                <a:ln>
                  <a:noFill/>
                </a:ln>
                <a:solidFill>
                  <a:srgbClr val="646466"/>
                </a:solidFill>
                <a:effectLst/>
                <a:uLnTx/>
                <a:uFillTx/>
                <a:latin typeface="Inter SemiBold"/>
                <a:ea typeface="Inter SemiBold"/>
                <a:sym typeface="Inter SemiBold"/>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 sz="500" b="0" i="0" u="none" strike="noStrike" kern="0" cap="none" spc="0" normalizeH="0" baseline="0" noProof="0">
              <a:ln>
                <a:noFill/>
              </a:ln>
              <a:solidFill>
                <a:srgbClr val="646466"/>
              </a:solidFill>
              <a:effectLst/>
              <a:uLnTx/>
              <a:uFillTx/>
              <a:latin typeface="Inter SemiBold"/>
              <a:ea typeface="Inter SemiBold"/>
              <a:sym typeface="Inter SemiBold"/>
            </a:endParaRPr>
          </a:p>
        </p:txBody>
      </p:sp>
      <p:sp>
        <p:nvSpPr>
          <p:cNvPr id="4" name="Google Shape;22;p3">
            <a:extLst>
              <a:ext uri="{FF2B5EF4-FFF2-40B4-BE49-F238E27FC236}">
                <a16:creationId xmlns:a16="http://schemas.microsoft.com/office/drawing/2014/main" id="{55E976F2-3811-A413-B1CC-6DBDDF9488B6}"/>
              </a:ext>
            </a:extLst>
          </p:cNvPr>
          <p:cNvSpPr txBox="1">
            <a:spLocks noGrp="1"/>
          </p:cNvSpPr>
          <p:nvPr>
            <p:ph type="title"/>
          </p:nvPr>
        </p:nvSpPr>
        <p:spPr>
          <a:xfrm>
            <a:off x="411450" y="365750"/>
            <a:ext cx="8321100" cy="360099"/>
          </a:xfrm>
          <a:prstGeom prst="rect">
            <a:avLst/>
          </a:prstGeom>
        </p:spPr>
        <p:txBody>
          <a:bodyPr spcFirstLastPara="1" wrap="square" lIns="0" tIns="0" rIns="0" bIns="0" anchor="t" anchorCtr="0">
            <a:spAutoFit/>
          </a:bodyPr>
          <a:lstStyle>
            <a:lvl1pPr lvl="0" rtl="0">
              <a:spcBef>
                <a:spcPts val="0"/>
              </a:spcBef>
              <a:spcAft>
                <a:spcPts val="0"/>
              </a:spcAft>
              <a:buClr>
                <a:schemeClr val="lt1"/>
              </a:buClr>
              <a:buSzPts val="2600"/>
              <a:buNone/>
              <a:defRPr sz="2600" kern="1200" dirty="0">
                <a:solidFill>
                  <a:schemeClr val="tx1"/>
                </a:solidFill>
                <a:latin typeface="Inter SemiBold"/>
                <a:ea typeface="Inter SemiBold"/>
                <a:cs typeface="Inter SemiBold"/>
              </a:defRPr>
            </a:lvl1pPr>
            <a:lvl2pPr lvl="1" rtl="0">
              <a:spcBef>
                <a:spcPts val="700"/>
              </a:spcBef>
              <a:spcAft>
                <a:spcPts val="0"/>
              </a:spcAft>
              <a:buClr>
                <a:schemeClr val="lt1"/>
              </a:buClr>
              <a:buSzPts val="2800"/>
              <a:buNone/>
              <a:defRPr>
                <a:solidFill>
                  <a:schemeClr val="lt1"/>
                </a:solidFill>
                <a:latin typeface="Inter"/>
                <a:ea typeface="Inter"/>
                <a:cs typeface="Inter"/>
                <a:sym typeface="Inter"/>
              </a:defRPr>
            </a:lvl2pPr>
            <a:lvl3pPr lvl="2" rtl="0">
              <a:spcBef>
                <a:spcPts val="2000"/>
              </a:spcBef>
              <a:spcAft>
                <a:spcPts val="0"/>
              </a:spcAft>
              <a:buClr>
                <a:schemeClr val="lt1"/>
              </a:buClr>
              <a:buSzPts val="2800"/>
              <a:buNone/>
              <a:defRPr>
                <a:solidFill>
                  <a:schemeClr val="lt1"/>
                </a:solidFill>
                <a:latin typeface="Inter"/>
                <a:ea typeface="Inter"/>
                <a:cs typeface="Inter"/>
                <a:sym typeface="Inter"/>
              </a:defRPr>
            </a:lvl3pPr>
            <a:lvl4pPr lvl="3" rtl="0">
              <a:spcBef>
                <a:spcPts val="2000"/>
              </a:spcBef>
              <a:spcAft>
                <a:spcPts val="0"/>
              </a:spcAft>
              <a:buClr>
                <a:schemeClr val="lt1"/>
              </a:buClr>
              <a:buSzPts val="2800"/>
              <a:buNone/>
              <a:defRPr>
                <a:solidFill>
                  <a:schemeClr val="lt1"/>
                </a:solidFill>
                <a:latin typeface="Inter"/>
                <a:ea typeface="Inter"/>
                <a:cs typeface="Inter"/>
                <a:sym typeface="Inter"/>
              </a:defRPr>
            </a:lvl4pPr>
            <a:lvl5pPr lvl="4" rtl="0">
              <a:spcBef>
                <a:spcPts val="2000"/>
              </a:spcBef>
              <a:spcAft>
                <a:spcPts val="0"/>
              </a:spcAft>
              <a:buClr>
                <a:schemeClr val="lt1"/>
              </a:buClr>
              <a:buSzPts val="2800"/>
              <a:buNone/>
              <a:defRPr>
                <a:solidFill>
                  <a:schemeClr val="lt1"/>
                </a:solidFill>
                <a:latin typeface="Inter"/>
                <a:ea typeface="Inter"/>
                <a:cs typeface="Inter"/>
                <a:sym typeface="Inter"/>
              </a:defRPr>
            </a:lvl5pPr>
            <a:lvl6pPr lvl="5" rtl="0">
              <a:spcBef>
                <a:spcPts val="2000"/>
              </a:spcBef>
              <a:spcAft>
                <a:spcPts val="0"/>
              </a:spcAft>
              <a:buClr>
                <a:schemeClr val="lt1"/>
              </a:buClr>
              <a:buSzPts val="2800"/>
              <a:buNone/>
              <a:defRPr>
                <a:solidFill>
                  <a:schemeClr val="lt1"/>
                </a:solidFill>
                <a:latin typeface="Inter"/>
                <a:ea typeface="Inter"/>
                <a:cs typeface="Inter"/>
                <a:sym typeface="Inter"/>
              </a:defRPr>
            </a:lvl6pPr>
            <a:lvl7pPr lvl="6" rtl="0">
              <a:spcBef>
                <a:spcPts val="2000"/>
              </a:spcBef>
              <a:spcAft>
                <a:spcPts val="0"/>
              </a:spcAft>
              <a:buClr>
                <a:schemeClr val="lt1"/>
              </a:buClr>
              <a:buSzPts val="2800"/>
              <a:buNone/>
              <a:defRPr>
                <a:solidFill>
                  <a:schemeClr val="lt1"/>
                </a:solidFill>
                <a:latin typeface="Inter"/>
                <a:ea typeface="Inter"/>
                <a:cs typeface="Inter"/>
                <a:sym typeface="Inter"/>
              </a:defRPr>
            </a:lvl7pPr>
            <a:lvl8pPr lvl="7" rtl="0">
              <a:spcBef>
                <a:spcPts val="2000"/>
              </a:spcBef>
              <a:spcAft>
                <a:spcPts val="0"/>
              </a:spcAft>
              <a:buClr>
                <a:schemeClr val="lt1"/>
              </a:buClr>
              <a:buSzPts val="2800"/>
              <a:buNone/>
              <a:defRPr>
                <a:solidFill>
                  <a:schemeClr val="lt1"/>
                </a:solidFill>
                <a:latin typeface="Inter"/>
                <a:ea typeface="Inter"/>
                <a:cs typeface="Inter"/>
                <a:sym typeface="Inter"/>
              </a:defRPr>
            </a:lvl8pPr>
            <a:lvl9pPr lvl="8" rtl="0">
              <a:spcBef>
                <a:spcPts val="2000"/>
              </a:spcBef>
              <a:spcAft>
                <a:spcPts val="2000"/>
              </a:spcAft>
              <a:buClr>
                <a:schemeClr val="lt1"/>
              </a:buClr>
              <a:buSzPts val="2800"/>
              <a:buNone/>
              <a:defRPr>
                <a:solidFill>
                  <a:schemeClr val="lt1"/>
                </a:solidFill>
                <a:latin typeface="Inter"/>
                <a:ea typeface="Inter"/>
                <a:cs typeface="Inter"/>
                <a:sym typeface="Inter"/>
              </a:defRPr>
            </a:lvl9pPr>
          </a:lstStyle>
          <a:p>
            <a:endParaRPr/>
          </a:p>
        </p:txBody>
      </p:sp>
      <p:sp>
        <p:nvSpPr>
          <p:cNvPr id="5" name="Google Shape;23;p3">
            <a:extLst>
              <a:ext uri="{FF2B5EF4-FFF2-40B4-BE49-F238E27FC236}">
                <a16:creationId xmlns:a16="http://schemas.microsoft.com/office/drawing/2014/main" id="{ECAE3DDC-350A-2573-00DD-35105CDC05C9}"/>
              </a:ext>
            </a:extLst>
          </p:cNvPr>
          <p:cNvSpPr txBox="1">
            <a:spLocks noGrp="1"/>
          </p:cNvSpPr>
          <p:nvPr>
            <p:ph type="subTitle" idx="4"/>
          </p:nvPr>
        </p:nvSpPr>
        <p:spPr>
          <a:xfrm>
            <a:off x="411475" y="823300"/>
            <a:ext cx="8321100" cy="246221"/>
          </a:xfrm>
          <a:prstGeom prst="rect">
            <a:avLst/>
          </a:prstGeom>
        </p:spPr>
        <p:txBody>
          <a:bodyPr spcFirstLastPara="1" wrap="square" lIns="0" tIns="0" rIns="0" bIns="0" anchor="t" anchorCtr="0">
            <a:spAutoFit/>
          </a:bodyPr>
          <a:lstStyle>
            <a:lvl1pPr lvl="0" rtl="0">
              <a:lnSpc>
                <a:spcPct val="100000"/>
              </a:lnSpc>
              <a:spcBef>
                <a:spcPts val="0"/>
              </a:spcBef>
              <a:spcAft>
                <a:spcPts val="0"/>
              </a:spcAft>
              <a:buClr>
                <a:schemeClr val="lt1"/>
              </a:buClr>
              <a:buSzPts val="1600"/>
              <a:buFont typeface="Inter Light"/>
              <a:buNone/>
              <a:defRPr sz="1600" b="0" i="0">
                <a:solidFill>
                  <a:schemeClr val="tx1"/>
                </a:solidFill>
                <a:latin typeface="Inter Light" panose="02000503000000020004" pitchFamily="2" charset="0"/>
                <a:ea typeface="Inter Light" panose="02000503000000020004" pitchFamily="2" charset="0"/>
                <a:cs typeface="Inter Light" panose="02000503000000020004" pitchFamily="2" charset="0"/>
                <a:sym typeface="Inter Light"/>
              </a:defRPr>
            </a:lvl1pPr>
            <a:lvl2pPr lvl="1" rtl="0">
              <a:spcBef>
                <a:spcPts val="200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2pPr>
            <a:lvl3pPr lvl="2"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3pPr>
            <a:lvl4pPr lvl="3"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4pPr>
            <a:lvl5pPr lvl="4"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5pPr>
            <a:lvl6pPr lvl="5"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6pPr>
            <a:lvl7pPr lvl="6"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7pPr>
            <a:lvl8pPr lvl="7"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8pPr>
            <a:lvl9pPr lvl="8" rtl="0">
              <a:spcBef>
                <a:spcPts val="0"/>
              </a:spcBef>
              <a:spcAft>
                <a:spcPts val="0"/>
              </a:spcAft>
              <a:buClr>
                <a:schemeClr val="lt1"/>
              </a:buClr>
              <a:buSzPts val="1600"/>
              <a:buFont typeface="Inter Light"/>
              <a:buNone/>
              <a:defRPr sz="1600">
                <a:solidFill>
                  <a:schemeClr val="lt1"/>
                </a:solidFill>
                <a:latin typeface="Inter Light"/>
                <a:ea typeface="Inter Light"/>
                <a:cs typeface="Inter Light"/>
                <a:sym typeface="Inter Light"/>
              </a:defRPr>
            </a:lvl9pPr>
          </a:lstStyle>
          <a:p>
            <a:endParaRPr/>
          </a:p>
        </p:txBody>
      </p:sp>
      <p:sp>
        <p:nvSpPr>
          <p:cNvPr id="6" name="Google Shape;8;p1">
            <a:extLst>
              <a:ext uri="{FF2B5EF4-FFF2-40B4-BE49-F238E27FC236}">
                <a16:creationId xmlns:a16="http://schemas.microsoft.com/office/drawing/2014/main" id="{3BE9CE4B-702A-508E-58A2-995192D9F29B}"/>
              </a:ext>
            </a:extLst>
          </p:cNvPr>
          <p:cNvSpPr txBox="1"/>
          <p:nvPr userDrawn="1"/>
        </p:nvSpPr>
        <p:spPr>
          <a:xfrm>
            <a:off x="411475" y="4901184"/>
            <a:ext cx="723300" cy="77100"/>
          </a:xfrm>
          <a:prstGeom prst="rect">
            <a:avLst/>
          </a:prstGeom>
          <a:noFill/>
          <a:ln>
            <a:noFill/>
          </a:ln>
        </p:spPr>
        <p:txBody>
          <a:bodyPr spcFirstLastPara="1" wrap="square" lIns="0" tIns="0" rIns="91425" bIns="0" anchor="t" anchorCtr="0">
            <a:spAutoFit/>
          </a:bodyPr>
          <a:lstStyle/>
          <a:p>
            <a:pPr marL="0" lvl="0" indent="0" algn="l" rtl="0">
              <a:spcBef>
                <a:spcPts val="0"/>
              </a:spcBef>
              <a:spcAft>
                <a:spcPts val="0"/>
              </a:spcAft>
              <a:buClr>
                <a:srgbClr val="000000"/>
              </a:buClr>
              <a:buSzPts val="1100"/>
              <a:buFont typeface="Inter"/>
              <a:buNone/>
            </a:pPr>
            <a:r>
              <a:rPr lang="en" sz="500" b="0" i="0">
                <a:solidFill>
                  <a:schemeClr val="bg1">
                    <a:lumMod val="65000"/>
                  </a:schemeClr>
                </a:solidFill>
                <a:latin typeface="Inter Light" panose="02000503000000020004" pitchFamily="2" charset="0"/>
                <a:ea typeface="Inter Light" panose="02000503000000020004" pitchFamily="2" charset="0"/>
                <a:cs typeface="Inter Light"/>
                <a:sym typeface="Inter Light"/>
              </a:rPr>
              <a:t>©2026 HASHICORP</a:t>
            </a:r>
            <a:endParaRPr sz="500" b="0" i="0">
              <a:solidFill>
                <a:schemeClr val="bg1">
                  <a:lumMod val="65000"/>
                </a:schemeClr>
              </a:solidFill>
              <a:latin typeface="Inter Light" panose="02000503000000020004" pitchFamily="2" charset="0"/>
              <a:ea typeface="Inter Light" panose="02000503000000020004" pitchFamily="2" charset="0"/>
              <a:cs typeface="Inter"/>
              <a:sym typeface="Inter"/>
            </a:endParaRPr>
          </a:p>
        </p:txBody>
      </p:sp>
      <p:sp>
        <p:nvSpPr>
          <p:cNvPr id="7" name="Google Shape;9;p1">
            <a:extLst>
              <a:ext uri="{FF2B5EF4-FFF2-40B4-BE49-F238E27FC236}">
                <a16:creationId xmlns:a16="http://schemas.microsoft.com/office/drawing/2014/main" id="{7044AA3B-7C66-CFAA-781B-5933192D44D9}"/>
              </a:ext>
            </a:extLst>
          </p:cNvPr>
          <p:cNvSpPr/>
          <p:nvPr userDrawn="1"/>
        </p:nvSpPr>
        <p:spPr>
          <a:xfrm>
            <a:off x="8769096" y="4832284"/>
            <a:ext cx="159570" cy="170964"/>
          </a:xfrm>
          <a:custGeom>
            <a:avLst/>
            <a:gdLst/>
            <a:ahLst/>
            <a:cxnLst/>
            <a:rect l="l" t="t" r="r" b="b"/>
            <a:pathLst>
              <a:path w="21600" h="21600" extrusionOk="0">
                <a:moveTo>
                  <a:pt x="8996" y="0"/>
                </a:moveTo>
                <a:lnTo>
                  <a:pt x="0" y="4902"/>
                </a:lnTo>
                <a:lnTo>
                  <a:pt x="0" y="16678"/>
                </a:lnTo>
                <a:lnTo>
                  <a:pt x="3376" y="18526"/>
                </a:lnTo>
                <a:lnTo>
                  <a:pt x="3376" y="6750"/>
                </a:lnTo>
                <a:lnTo>
                  <a:pt x="8996" y="3676"/>
                </a:lnTo>
                <a:lnTo>
                  <a:pt x="8996" y="0"/>
                </a:lnTo>
                <a:close/>
                <a:moveTo>
                  <a:pt x="12604" y="0"/>
                </a:moveTo>
                <a:lnTo>
                  <a:pt x="12604" y="9377"/>
                </a:lnTo>
                <a:lnTo>
                  <a:pt x="8996" y="9377"/>
                </a:lnTo>
                <a:lnTo>
                  <a:pt x="8996" y="5867"/>
                </a:lnTo>
                <a:lnTo>
                  <a:pt x="5620" y="7716"/>
                </a:lnTo>
                <a:lnTo>
                  <a:pt x="5620" y="19741"/>
                </a:lnTo>
                <a:lnTo>
                  <a:pt x="8996" y="21600"/>
                </a:lnTo>
                <a:lnTo>
                  <a:pt x="8996" y="12233"/>
                </a:lnTo>
                <a:lnTo>
                  <a:pt x="12604" y="12233"/>
                </a:lnTo>
                <a:lnTo>
                  <a:pt x="12604" y="15712"/>
                </a:lnTo>
                <a:lnTo>
                  <a:pt x="15980" y="13874"/>
                </a:lnTo>
                <a:lnTo>
                  <a:pt x="15980" y="1828"/>
                </a:lnTo>
                <a:lnTo>
                  <a:pt x="12604" y="0"/>
                </a:lnTo>
                <a:close/>
                <a:moveTo>
                  <a:pt x="18224" y="3063"/>
                </a:moveTo>
                <a:lnTo>
                  <a:pt x="18224" y="14840"/>
                </a:lnTo>
                <a:lnTo>
                  <a:pt x="12604" y="17913"/>
                </a:lnTo>
                <a:lnTo>
                  <a:pt x="12604" y="21600"/>
                </a:lnTo>
                <a:lnTo>
                  <a:pt x="21600" y="16698"/>
                </a:lnTo>
                <a:lnTo>
                  <a:pt x="21600" y="4902"/>
                </a:lnTo>
                <a:lnTo>
                  <a:pt x="18224" y="3063"/>
                </a:lnTo>
                <a:close/>
              </a:path>
            </a:pathLst>
          </a:custGeom>
          <a:solidFill>
            <a:schemeClr val="bg1">
              <a:lumMod val="65000"/>
            </a:schemeClr>
          </a:solidFill>
          <a:ln>
            <a:noFill/>
          </a:ln>
        </p:spPr>
        <p:txBody>
          <a:bodyPr spcFirstLastPara="1" wrap="square" lIns="0" tIns="0" rIns="0" bIns="0" anchor="ctr" anchorCtr="0">
            <a:noAutofit/>
          </a:bodyPr>
          <a:lstStyle/>
          <a:p>
            <a:pPr marL="101600" marR="0" lvl="0" indent="-101600" algn="l" rtl="0">
              <a:lnSpc>
                <a:spcPct val="120000"/>
              </a:lnSpc>
              <a:spcBef>
                <a:spcPts val="0"/>
              </a:spcBef>
              <a:spcAft>
                <a:spcPts val="0"/>
              </a:spcAft>
              <a:buClr>
                <a:srgbClr val="000000"/>
              </a:buClr>
              <a:buSzPts val="500"/>
              <a:buFont typeface="Inter"/>
              <a:buNone/>
            </a:pPr>
            <a:endParaRPr sz="500" b="0" i="0" u="none" strike="noStrike" cap="none">
              <a:solidFill>
                <a:srgbClr val="505052"/>
              </a:solidFill>
              <a:latin typeface="Inter" panose="02000503000000020004" pitchFamily="2" charset="0"/>
              <a:ea typeface="Inter" panose="02000503000000020004" pitchFamily="2" charset="0"/>
              <a:cs typeface="Inter"/>
              <a:sym typeface="Inter"/>
            </a:endParaRPr>
          </a:p>
        </p:txBody>
      </p:sp>
    </p:spTree>
    <p:extLst>
      <p:ext uri="{BB962C8B-B14F-4D97-AF65-F5344CB8AC3E}">
        <p14:creationId xmlns:p14="http://schemas.microsoft.com/office/powerpoint/2010/main" val="2905165933"/>
      </p:ext>
    </p:extLst>
  </p:cSld>
  <p:clrMapOvr>
    <a:masterClrMapping/>
  </p:clrMapOvr>
</p:sldLayout>
</file>

<file path=ppt/slideMasters/_rels/slideMaster1.xml.rels><?xml version="1.0" encoding="UTF-8"?><Relationships xmlns="http://schemas.openxmlformats.org/package/2006/relationships"><Relationship Id="rId51" Type="http://schemas.openxmlformats.org/officeDocument/2006/relationships/slideLayout" Target="../slideLayouts/slideLayout51.xml"/><Relationship Id="rId12" Type="http://schemas.openxmlformats.org/officeDocument/2006/relationships/slideLayout" Target="../slideLayouts/slideLayout12.xml"/><Relationship Id="rId59" Type="http://schemas.openxmlformats.org/officeDocument/2006/relationships/theme" Target="../theme/theme1.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098"/>
            <a:ext cx="7886700" cy="99509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70486"/>
            <a:ext cx="7886700" cy="32665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71678"/>
            <a:ext cx="2057400" cy="274097"/>
          </a:xfrm>
          <a:prstGeom prst="rect">
            <a:avLst/>
          </a:prstGeom>
        </p:spPr>
        <p:txBody>
          <a:bodyPr vert="horz" lIns="91440" tIns="45720" rIns="91440" bIns="45720" rtlCol="0" anchor="ctr"/>
          <a:lstStyle>
            <a:lvl1pPr algn="l">
              <a:defRPr sz="900">
                <a:solidFill>
                  <a:schemeClr val="tx1">
                    <a:tint val="82000"/>
                  </a:schemeClr>
                </a:solidFill>
              </a:defRPr>
            </a:lvl1pPr>
          </a:lstStyle>
          <a:p>
            <a:fld id="{C764DE79-268F-4C1A-8933-263129D2AF90}" type="datetimeFigureOut">
              <a:rPr lang="en-US"/>
              <a:t>10/13/2026</a:t>
            </a:fld>
            <a:endParaRPr lang="en-US"/>
          </a:p>
        </p:txBody>
      </p:sp>
      <p:sp>
        <p:nvSpPr>
          <p:cNvPr id="5" name="Footer Placeholder 4"/>
          <p:cNvSpPr>
            <a:spLocks noGrp="1"/>
          </p:cNvSpPr>
          <p:nvPr>
            <p:ph type="ftr" sz="quarter" idx="3"/>
          </p:nvPr>
        </p:nvSpPr>
        <p:spPr>
          <a:xfrm>
            <a:off x="3028950" y="4771678"/>
            <a:ext cx="3086100" cy="274097"/>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71678"/>
            <a:ext cx="2057400" cy="274097"/>
          </a:xfrm>
          <a:prstGeom prst="rect">
            <a:avLst/>
          </a:prstGeom>
        </p:spPr>
        <p:txBody>
          <a:bodyPr vert="horz" lIns="91440" tIns="45720" rIns="91440" bIns="45720" rtlCol="0" anchor="ctr"/>
          <a:lstStyle>
            <a:lvl1pPr algn="r">
              <a:defRPr sz="900">
                <a:solidFill>
                  <a:schemeClr val="tx1">
                    <a:tint val="82000"/>
                  </a:schemeClr>
                </a:solidFill>
              </a:defRPr>
            </a:lvl1pPr>
          </a:lstStyle>
          <a:p>
            <a:fld id="{48F63A3B-78C7-47BE-AE5E-E10140E04643}" type="slidenum">
              <a:rPr lang="en-US"/>
              <a:t>‹#›</a:t>
            </a:fld>
            <a:endParaRPr lang="en-US"/>
          </a:p>
        </p:txBody>
      </p:sp>
      <p:sp>
        <p:nvSpPr>
          <p:cNvPr id="7" name="Google Shape;8;p1">
            <a:extLst>
              <a:ext uri="{FF2B5EF4-FFF2-40B4-BE49-F238E27FC236}">
                <a16:creationId xmlns:a16="http://schemas.microsoft.com/office/drawing/2014/main" id="{90C9DAC7-CC55-09AF-66DF-8D248E4200D1}"/>
              </a:ext>
            </a:extLst>
          </p:cNvPr>
          <p:cNvSpPr txBox="1"/>
          <p:nvPr userDrawn="1"/>
        </p:nvSpPr>
        <p:spPr>
          <a:xfrm>
            <a:off x="411475" y="4901184"/>
            <a:ext cx="723300" cy="77100"/>
          </a:xfrm>
          <a:prstGeom prst="rect">
            <a:avLst/>
          </a:prstGeom>
          <a:noFill/>
          <a:ln>
            <a:noFill/>
          </a:ln>
        </p:spPr>
        <p:txBody>
          <a:bodyPr spcFirstLastPara="1" wrap="square" lIns="0" tIns="0" rIns="91425" bIns="0" anchor="t" anchorCtr="0">
            <a:spAutoFit/>
          </a:bodyPr>
          <a:lstStyle/>
          <a:p>
            <a:pPr marL="0" lvl="0" indent="0" algn="l" rtl="0">
              <a:spcBef>
                <a:spcPts val="0"/>
              </a:spcBef>
              <a:spcAft>
                <a:spcPts val="0"/>
              </a:spcAft>
              <a:buClr>
                <a:srgbClr val="000000"/>
              </a:buClr>
              <a:buSzPts val="1100"/>
              <a:buFont typeface="Inter"/>
              <a:buNone/>
            </a:pPr>
            <a:r>
              <a:rPr lang="en" sz="500" b="0" i="0">
                <a:solidFill>
                  <a:srgbClr val="646466"/>
                </a:solidFill>
                <a:latin typeface="Inter Light" panose="02000503000000020004" pitchFamily="2" charset="0"/>
                <a:ea typeface="Inter Light" panose="02000503000000020004" pitchFamily="2" charset="0"/>
                <a:cs typeface="Inter Light"/>
                <a:sym typeface="Inter Light"/>
              </a:rPr>
              <a:t>©2026 HASHICORP</a:t>
            </a:r>
            <a:endParaRPr sz="500" b="0" i="0">
              <a:solidFill>
                <a:srgbClr val="646466"/>
              </a:solidFill>
              <a:latin typeface="Inter Light" panose="02000503000000020004" pitchFamily="2" charset="0"/>
              <a:ea typeface="Inter Light" panose="02000503000000020004" pitchFamily="2" charset="0"/>
              <a:cs typeface="Inter"/>
              <a:sym typeface="Inter"/>
            </a:endParaRPr>
          </a:p>
        </p:txBody>
      </p:sp>
      <p:sp>
        <p:nvSpPr>
          <p:cNvPr id="8" name="Google Shape;9;p1">
            <a:extLst>
              <a:ext uri="{FF2B5EF4-FFF2-40B4-BE49-F238E27FC236}">
                <a16:creationId xmlns:a16="http://schemas.microsoft.com/office/drawing/2014/main" id="{8F7EBD46-C096-D49A-5C12-46BEB2C3B0E4}"/>
              </a:ext>
            </a:extLst>
          </p:cNvPr>
          <p:cNvSpPr/>
          <p:nvPr userDrawn="1"/>
        </p:nvSpPr>
        <p:spPr>
          <a:xfrm>
            <a:off x="8769096" y="4832284"/>
            <a:ext cx="159570" cy="170964"/>
          </a:xfrm>
          <a:custGeom>
            <a:avLst/>
            <a:gdLst/>
            <a:ahLst/>
            <a:cxnLst/>
            <a:rect l="l" t="t" r="r" b="b"/>
            <a:pathLst>
              <a:path w="21600" h="21600" extrusionOk="0">
                <a:moveTo>
                  <a:pt x="8996" y="0"/>
                </a:moveTo>
                <a:lnTo>
                  <a:pt x="0" y="4902"/>
                </a:lnTo>
                <a:lnTo>
                  <a:pt x="0" y="16678"/>
                </a:lnTo>
                <a:lnTo>
                  <a:pt x="3376" y="18526"/>
                </a:lnTo>
                <a:lnTo>
                  <a:pt x="3376" y="6750"/>
                </a:lnTo>
                <a:lnTo>
                  <a:pt x="8996" y="3676"/>
                </a:lnTo>
                <a:lnTo>
                  <a:pt x="8996" y="0"/>
                </a:lnTo>
                <a:close/>
                <a:moveTo>
                  <a:pt x="12604" y="0"/>
                </a:moveTo>
                <a:lnTo>
                  <a:pt x="12604" y="9377"/>
                </a:lnTo>
                <a:lnTo>
                  <a:pt x="8996" y="9377"/>
                </a:lnTo>
                <a:lnTo>
                  <a:pt x="8996" y="5867"/>
                </a:lnTo>
                <a:lnTo>
                  <a:pt x="5620" y="7716"/>
                </a:lnTo>
                <a:lnTo>
                  <a:pt x="5620" y="19741"/>
                </a:lnTo>
                <a:lnTo>
                  <a:pt x="8996" y="21600"/>
                </a:lnTo>
                <a:lnTo>
                  <a:pt x="8996" y="12233"/>
                </a:lnTo>
                <a:lnTo>
                  <a:pt x="12604" y="12233"/>
                </a:lnTo>
                <a:lnTo>
                  <a:pt x="12604" y="15712"/>
                </a:lnTo>
                <a:lnTo>
                  <a:pt x="15980" y="13874"/>
                </a:lnTo>
                <a:lnTo>
                  <a:pt x="15980" y="1828"/>
                </a:lnTo>
                <a:lnTo>
                  <a:pt x="12604" y="0"/>
                </a:lnTo>
                <a:close/>
                <a:moveTo>
                  <a:pt x="18224" y="3063"/>
                </a:moveTo>
                <a:lnTo>
                  <a:pt x="18224" y="14840"/>
                </a:lnTo>
                <a:lnTo>
                  <a:pt x="12604" y="17913"/>
                </a:lnTo>
                <a:lnTo>
                  <a:pt x="12604" y="21600"/>
                </a:lnTo>
                <a:lnTo>
                  <a:pt x="21600" y="16698"/>
                </a:lnTo>
                <a:lnTo>
                  <a:pt x="21600" y="4902"/>
                </a:lnTo>
                <a:lnTo>
                  <a:pt x="18224" y="3063"/>
                </a:lnTo>
                <a:close/>
              </a:path>
            </a:pathLst>
          </a:custGeom>
          <a:solidFill>
            <a:schemeClr val="bg1">
              <a:lumMod val="65000"/>
            </a:schemeClr>
          </a:solidFill>
          <a:ln>
            <a:noFill/>
          </a:ln>
        </p:spPr>
        <p:txBody>
          <a:bodyPr spcFirstLastPara="1" wrap="square" lIns="0" tIns="0" rIns="0" bIns="0" anchor="ctr" anchorCtr="0">
            <a:noAutofit/>
          </a:bodyPr>
          <a:lstStyle/>
          <a:p>
            <a:pPr marL="101600" marR="0" lvl="0" indent="-101600" algn="l" rtl="0">
              <a:lnSpc>
                <a:spcPct val="120000"/>
              </a:lnSpc>
              <a:spcBef>
                <a:spcPts val="0"/>
              </a:spcBef>
              <a:spcAft>
                <a:spcPts val="0"/>
              </a:spcAft>
              <a:buClr>
                <a:srgbClr val="000000"/>
              </a:buClr>
              <a:buSzPts val="500"/>
              <a:buFont typeface="Inter"/>
              <a:buNone/>
            </a:pPr>
            <a:endParaRPr sz="500" b="0" i="0" u="none" strike="noStrike" cap="none">
              <a:solidFill>
                <a:srgbClr val="505052"/>
              </a:solidFill>
              <a:latin typeface="Inter" panose="02000503000000020004" pitchFamily="2" charset="0"/>
              <a:ea typeface="Inter" panose="02000503000000020004" pitchFamily="2" charset="0"/>
              <a:cs typeface="Inter"/>
              <a:sym typeface="Inter"/>
            </a:endParaRPr>
          </a:p>
        </p:txBody>
      </p:sp>
    </p:spTree>
    <p:extLst>
      <p:ext uri="{BB962C8B-B14F-4D97-AF65-F5344CB8AC3E}">
        <p14:creationId xmlns:p14="http://schemas.microsoft.com/office/powerpoint/2010/main" val="519358943"/>
      </p:ext>
    </p:extLst>
  </p:cSld>
  <p:clrMap bg1="lt1" tx1="dk1" bg2="lt2" tx2="dk2" accent1="accent1" accent2="accent2" accent3="accent3" accent4="accent4" accent5="accent5" accent6="accent6" hlink="hlink" folHlink="folHlink"/>
  <p:sldLayoutIdLst>
    <p:sldLayoutId id="2147483711" r:id="rId12"/>
    <p:sldLayoutId id="2147483736" r:id="rId51"/>
    <p:sldLayoutId id="2147483738" r:id="rId5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Relationships xmlns="http://schemas.openxmlformats.org/package/2006/relationships"><Relationship Id="rId3" Type="http://schemas.openxmlformats.org/officeDocument/2006/relationships/image" Target="../media/image20.png"/><Relationship Id="rId1" Type="http://schemas.openxmlformats.org/officeDocument/2006/relationships/slideLayout" Target="../slideLayouts/slideLayout12.xml"/><Relationship Id="rId4" Type="http://schemas.openxmlformats.org/officeDocument/2006/relationships/image" Target="../media/image21.svg"/></Relationships>
</file>

<file path=ppt/slides/_rels/slide7.xml.rels><?xml version="1.0" encoding="UTF-8"?><Relationships xmlns="http://schemas.openxmlformats.org/package/2006/relationships"><Relationship Id="rId8" Type="http://schemas.openxmlformats.org/officeDocument/2006/relationships/hyperlink" Target="https://github.com/hashicorp/terraform/releases/tag/v1.17.0-alpha20260827" TargetMode="External"/><Relationship Id="rId13" Type="http://schemas.openxmlformats.org/officeDocument/2006/relationships/hyperlink" Target="https://github.com/hashicorp/terraform/releases/tag/v1.16.0-alpha20260617" TargetMode="External"/><Relationship Id="rId18" Type="http://schemas.openxmlformats.org/officeDocument/2006/relationships/hyperlink" Target="https://github.com/hashicorp/terraform/releases/tag/v1.17.0-beta2" TargetMode="External"/><Relationship Id="rId3" Type="http://schemas.openxmlformats.org/officeDocument/2006/relationships/hyperlink" Target="https://github.com/hashicorp/terraform/releases/tag/v1.17.0-alpha20260729" TargetMode="External"/><Relationship Id="rId21" Type="http://schemas.openxmlformats.org/officeDocument/2006/relationships/hyperlink" Target="https://github.com/hashicorp/terraform/releases/tag/v1.17.0-beta1" TargetMode="External"/><Relationship Id="rId7" Type="http://schemas.openxmlformats.org/officeDocument/2006/relationships/hyperlink" Target="https://github.com/hashicorp/terraform/releases/tag/v1.16.0-alpha20260708" TargetMode="External"/><Relationship Id="rId12" Type="http://schemas.openxmlformats.org/officeDocument/2006/relationships/hyperlink" Target="https://github.com/hashicorp/terraform/releases/tag/v1.15.9" TargetMode="External"/><Relationship Id="rId17" Type="http://schemas.openxmlformats.org/officeDocument/2006/relationships/hyperlink" Target="https://github.com/hashicorp/terraform/releases/tag/v1.16.5" TargetMode="External"/><Relationship Id="rId2" Type="http://schemas.openxmlformats.org/officeDocument/2006/relationships/hyperlink" Target="https://github.com/hashicorp/terraform/releases" TargetMode="External"/><Relationship Id="rId16" Type="http://schemas.openxmlformats.org/officeDocument/2006/relationships/hyperlink" Target="https://github.com/hashicorp/terraform/releases/tag/v1.16.0-beta2" TargetMode="External"/><Relationship Id="rId20" Type="http://schemas.openxmlformats.org/officeDocument/2006/relationships/hyperlink" Target="https://github.com/hashicorp/terraform/releases/tag/v1.16.3" TargetMode="External"/><Relationship Id="rId1" Type="http://schemas.openxmlformats.org/officeDocument/2006/relationships/slideLayout" Target="../slideLayouts/slideLayout51.xml"/><Relationship Id="rId6" Type="http://schemas.openxmlformats.org/officeDocument/2006/relationships/hyperlink" Target="https://github.com/hashicorp/terraform/releases/tag/v1.15.8" TargetMode="External"/><Relationship Id="rId11" Type="http://schemas.openxmlformats.org/officeDocument/2006/relationships/hyperlink" Target="https://github.com/hashicorp/terraform/releases/tag/v1.16.0-rc2" TargetMode="External"/><Relationship Id="rId24" Type="http://schemas.openxmlformats.org/officeDocument/2006/relationships/image" Target="../media/image27.png"/><Relationship Id="rId5" Type="http://schemas.openxmlformats.org/officeDocument/2006/relationships/hyperlink" Target="https://github.com/hashicorp/terraform/releases/tag/v1.16.0-alpha20260715" TargetMode="External"/><Relationship Id="rId15" Type="http://schemas.openxmlformats.org/officeDocument/2006/relationships/hyperlink" Target="https://github.com/hashicorp/terraform/releases/tag/v1.16.0-rc1" TargetMode="External"/><Relationship Id="rId23" Type="http://schemas.openxmlformats.org/officeDocument/2006/relationships/hyperlink" Target="https://github.com/hashicorp/terraform/releases/tag/v1.16.1" TargetMode="External"/><Relationship Id="rId10" Type="http://schemas.openxmlformats.org/officeDocument/2006/relationships/hyperlink" Target="https://github.com/hashicorp/terraform/releases/tag/v1.16.0" TargetMode="External"/><Relationship Id="rId19" Type="http://schemas.openxmlformats.org/officeDocument/2006/relationships/hyperlink" Target="https://github.com/hashicorp/terraform/releases/tag/v1.16.4" TargetMode="External"/><Relationship Id="rId4" Type="http://schemas.openxmlformats.org/officeDocument/2006/relationships/hyperlink" Target="https://github.com/hashicorp/terraform/releases/tag/v1.16.0-beta1" TargetMode="External"/><Relationship Id="rId9" Type="http://schemas.openxmlformats.org/officeDocument/2006/relationships/hyperlink" Target="https://github.com/hashicorp/terraform/releases/tag/v1.15.5" TargetMode="External"/><Relationship Id="rId14" Type="http://schemas.openxmlformats.org/officeDocument/2006/relationships/hyperlink" Target="https://github.com/hashicorp/terraform/releases/tag/v1.17.0-alpha20260812" TargetMode="External"/><Relationship Id="rId22" Type="http://schemas.openxmlformats.org/officeDocument/2006/relationships/hyperlink" Target="https://github.com/hashicorp/terraform/releases/tag/v1.16.2" TargetMode="External"/></Relationships>
</file>

<file path=ppt/slides/_rels/slide8.xml.rels><?xml version="1.0" encoding="UTF-8"?><Relationships xmlns="http://schemas.openxmlformats.org/package/2006/relationships"><Relationship Id="rId8" Type="http://schemas.openxmlformats.org/officeDocument/2006/relationships/hyperlink" Target="https://developer.hashicorp.com/terraform/enterprise/releases/2.0.x#2-0-6" TargetMode="External"/><Relationship Id="rId3" Type="http://schemas.openxmlformats.org/officeDocument/2006/relationships/hyperlink" Target="https://developer.hashicorp.com/terraform/enterprise/releases/2.0.x#2-0-4" TargetMode="External"/><Relationship Id="rId7" Type="http://schemas.openxmlformats.org/officeDocument/2006/relationships/hyperlink" Target="https://developer.hashicorp.com/terraform/enterprise/releases/2.0.x#2-0-7" TargetMode="External"/><Relationship Id="rId2" Type="http://schemas.openxmlformats.org/officeDocument/2006/relationships/hyperlink" Target="https://developer.hashicorp.com/terraform/enterprise/releases" TargetMode="External"/><Relationship Id="rId1" Type="http://schemas.openxmlformats.org/officeDocument/2006/relationships/slideLayout" Target="../slideLayouts/slideLayout51.xml"/><Relationship Id="rId6" Type="http://schemas.openxmlformats.org/officeDocument/2006/relationships/hyperlink" Target="https://developer.hashicorp.com/terraform/enterprise/releases/2.0.x#2-0-8" TargetMode="External"/><Relationship Id="rId5" Type="http://schemas.openxmlformats.org/officeDocument/2006/relationships/hyperlink" Target="https://developer.hashicorp.com/terraform/enterprise/releases/2.0.x#2-0-5" TargetMode="External"/><Relationship Id="rId4" Type="http://schemas.openxmlformats.org/officeDocument/2006/relationships/hyperlink" Target="https://developer.hashicorp.com/terraform/enterprise/releases/2.0.x#2-0-3" TargetMode="External"/><Relationship Id="rId9" Type="http://schemas.openxmlformats.org/officeDocument/2006/relationships/image" Target="../media/image28.png"/></Relationships>
</file>

<file path=ppt/slides/_rels/slide9.xml.rels><?xml version="1.0" encoding="UTF-8"?><Relationships xmlns="http://schemas.openxmlformats.org/package/2006/relationships"><Relationship Id="rId8" Type="http://schemas.openxmlformats.org/officeDocument/2006/relationships/hyperlink" Target="https://developer.hashicorp.com/terraform/cloud-docs/changelog#2026-08-06" TargetMode="External"/><Relationship Id="rId13" Type="http://schemas.openxmlformats.org/officeDocument/2006/relationships/hyperlink" Target="https://developer.hashicorp.com/terraform/cloud-docs/changelog#2026-09-10" TargetMode="External"/><Relationship Id="rId3" Type="http://schemas.openxmlformats.org/officeDocument/2006/relationships/hyperlink" Target="https://developer.hashicorp.com/terraform/cloud-docs/changelog" TargetMode="External"/><Relationship Id="rId7" Type="http://schemas.openxmlformats.org/officeDocument/2006/relationships/hyperlink" Target="https://developer.hashicorp.com/terraform/cloud-docs/changelog#2026-08-13" TargetMode="External"/><Relationship Id="rId12" Type="http://schemas.openxmlformats.org/officeDocument/2006/relationships/hyperlink" Target="https://developer.hashicorp.com/terraform/cloud-docs/changelog#2026-09-16" TargetMode="External"/><Relationship Id="rId2" Type="http://schemas.openxmlformats.org/officeDocument/2006/relationships/image" Target="../media/image29.png"/><Relationship Id="rId1" Type="http://schemas.openxmlformats.org/officeDocument/2006/relationships/slideLayout" Target="../slideLayouts/slideLayout51.xml"/><Relationship Id="rId6" Type="http://schemas.openxmlformats.org/officeDocument/2006/relationships/hyperlink" Target="https://developer.hashicorp.com/terraform/cloud-docs/changelog#2026-08-20" TargetMode="External"/><Relationship Id="rId11" Type="http://schemas.openxmlformats.org/officeDocument/2006/relationships/hyperlink" Target="https://developer.hashicorp.com/terraform/cloud-docs/changelog#2026-09-17" TargetMode="External"/><Relationship Id="rId5" Type="http://schemas.openxmlformats.org/officeDocument/2006/relationships/hyperlink" Target="https://developer.hashicorp.com/terraform/cloud-docs/changelog#2026-08-25" TargetMode="External"/><Relationship Id="rId10" Type="http://schemas.openxmlformats.org/officeDocument/2006/relationships/hyperlink" Target="https://developer.hashicorp.com/terraform/cloud-docs/changelog#2026-10-01" TargetMode="External"/><Relationship Id="rId4" Type="http://schemas.openxmlformats.org/officeDocument/2006/relationships/hyperlink" Target="https://developer.hashicorp.com/terraform/cloud-docs/changelog#2026-08-28" TargetMode="External"/><Relationship Id="rId9" Type="http://schemas.openxmlformats.org/officeDocument/2006/relationships/hyperlink" Target="https://developer.hashicorp.com/terraform/cloud-docs/changelog#2026-10-02" TargetMode="External"/><Relationship Id="rId14" Type="http://schemas.openxmlformats.org/officeDocument/2006/relationships/hyperlink" Target="https://developer.hashicorp.com/terraform/cloud-docs/changelog#2026-09-05" TargetMode="External"/></Relationships>
</file>

<file path=ppt/slides/_rels/slide12.xml.rels><?xml version="1.0" encoding="UTF-8"?><Relationships xmlns="http://schemas.openxmlformats.org/package/2006/relationships"><Relationship Id="rId8" Type="http://schemas.openxmlformats.org/officeDocument/2006/relationships/hyperlink" Target="https://www.hashicorp.com/en/blog/tags/risk-compliance" TargetMode="External"/><Relationship Id="rId13" Type="http://schemas.openxmlformats.org/officeDocument/2006/relationships/hyperlink" Target="https://www.hashicorp.com/en/blog/tags/culture-collaboration" TargetMode="External"/><Relationship Id="rId18" Type="http://schemas.openxmlformats.org/officeDocument/2006/relationships/hyperlink" Target="https://www.hashicorp.com/en/blog/simplify-compliance-with-a-native-pre-written-policy-experience-in-terraform" TargetMode="External"/><Relationship Id="rId3" Type="http://schemas.openxmlformats.org/officeDocument/2006/relationships/image" Target="../media/image30.png"/><Relationship Id="rId21" Type="http://schemas.openxmlformats.org/officeDocument/2006/relationships/hyperlink" Target="https://www.hashicorp.com/en/blog/terraform-provider-for-google-cloud-80-now-generally-available" TargetMode="External"/><Relationship Id="rId7" Type="http://schemas.openxmlformats.org/officeDocument/2006/relationships/hyperlink" Target="https://www.hashicorp.com/en/blog/tags/speed-agility" TargetMode="External"/><Relationship Id="rId12" Type="http://schemas.openxmlformats.org/officeDocument/2006/relationships/hyperlink" Target="https://www.hashicorp.com/en/blog/tags/platform" TargetMode="External"/><Relationship Id="rId17" Type="http://schemas.openxmlformats.org/officeDocument/2006/relationships/hyperlink" Target="https://www.hashicorp.com/en/blog/hcp-terraform-is-the-control-plane-for-ai-driven-infrastructure" TargetMode="External"/><Relationship Id="rId16" Type="http://schemas.openxmlformats.org/officeDocument/2006/relationships/hyperlink" Target="https://www.hashicorp.com/en/blog/terraform-azurerm-provider-50-now-generally-available" TargetMode="External"/><Relationship Id="rId20" Type="http://schemas.openxmlformats.org/officeDocument/2006/relationships/hyperlink" Target="https://www.hashicorp.com/en/blog/introducing-hcp-terraform-metrics-operational-visibility-at-scale" TargetMode="External"/><Relationship Id="rId1" Type="http://schemas.openxmlformats.org/officeDocument/2006/relationships/slideLayout" Target="../slideLayouts/slideLayout51.xml"/><Relationship Id="rId6" Type="http://schemas.openxmlformats.org/officeDocument/2006/relationships/hyperlink" Target="https://www.hashicorp.com/en/blog/terraform-116-completes-actions-lifecycles-and-brings-imports-into-child-modules" TargetMode="External"/><Relationship Id="rId11" Type="http://schemas.openxmlformats.org/officeDocument/2006/relationships/hyperlink" Target="https://www.hashicorp.com/en/blog/tags/secrets-identity-management" TargetMode="External"/><Relationship Id="rId5" Type="http://schemas.openxmlformats.org/officeDocument/2006/relationships/hyperlink" Target="https://www.hashicorp.com/en/blog/terraform-stacks-explained" TargetMode="External"/><Relationship Id="rId15" Type="http://schemas.openxmlformats.org/officeDocument/2006/relationships/hyperlink" Target="https://www.hashicorp.com/en/blog/introducing-tfctl-the-cli-for-hcp-terraform-and-tfe" TargetMode="External"/><Relationship Id="rId10" Type="http://schemas.openxmlformats.org/officeDocument/2006/relationships/hyperlink" Target="https://www.hashicorp.com/en/blog/tags/infrastructure-automation" TargetMode="External"/><Relationship Id="rId19" Type="http://schemas.openxmlformats.org/officeDocument/2006/relationships/hyperlink" Target="https://www.hashicorp.com/en/blog/simplifying-terraform-for-ibm-z-with-intent-driven-workflows" TargetMode="External"/><Relationship Id="rId4" Type="http://schemas.openxmlformats.org/officeDocument/2006/relationships/hyperlink" Target="https://www.hashicorp.com/en/blog/products/terraform" TargetMode="External"/><Relationship Id="rId9" Type="http://schemas.openxmlformats.org/officeDocument/2006/relationships/hyperlink" Target="https://www.hashicorp.com/en/blog/tags/optimize-operations" TargetMode="External"/><Relationship Id="rId14" Type="http://schemas.openxmlformats.org/officeDocument/2006/relationships/hyperlink" Target="https://www.hashicorp.com/en/blog/tags/artificial-intelligence" TargetMode="External"/></Relationships>
</file>

<file path=ppt/slides/_rels/slide13.xml.rels><?xml version="1.0" encoding="UTF-8"?><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events.hashicorp.com/AgenticRuntimeSecurity" TargetMode="External"/><Relationship Id="rId7" Type="http://schemas.openxmlformats.org/officeDocument/2006/relationships/image" Target="../media/image32.png"/><Relationship Id="rId1" Type="http://schemas.openxmlformats.org/officeDocument/2006/relationships/slideLayout" Target="../slideLayouts/slideLayout51.xml"/><Relationship Id="rId6" Type="http://schemas.openxmlformats.org/officeDocument/2006/relationships/image" Target="../media/image30.png"/><Relationship Id="rId5" Type="http://schemas.openxmlformats.org/officeDocument/2006/relationships/hyperlink" Target="https://www.hashicorp.com/en/events" TargetMode="External"/><Relationship Id="rId10" Type="http://schemas.openxmlformats.org/officeDocument/2006/relationships/hyperlink" Target="https://events.hashicorp.com/TerraformDec" TargetMode="External"/><Relationship Id="rId4" Type="http://schemas.openxmlformats.org/officeDocument/2006/relationships/hyperlink" Target="https://www.hashicorp.com/en/events/webinars/provision-secure-scalable-aws-landing-zones-with-the-hashicorp-cloud-platform" TargetMode="External"/><Relationship Id="rId9" Type="http://schemas.openxmlformats.org/officeDocument/2006/relationships/hyperlink" Target="https://www.hashicorp.com/en/events/webinars/build-deploy-and-manage-everything-as-code" TargetMode="External"/></Relationships>
</file>

<file path=ppt/slides/_rels/slide14.xml.rels><?xml version="1.0" encoding="UTF-8"?><Relationships xmlns="http://schemas.openxmlformats.org/package/2006/relationships"><Relationship Id="rId8" Type="http://schemas.openxmlformats.org/officeDocument/2006/relationships/hyperlink" Target="https://developer.hashicorp.com/vault/docs/updates/release-notes#vault-2-1-0" TargetMode="External"/><Relationship Id="rId13" Type="http://schemas.openxmlformats.org/officeDocument/2006/relationships/hyperlink" Target="https://discuss.hashicorp.com/t/vault-2-1-1-1-21-11-1-20-16-and-1-19-22-released/77759/1" TargetMode="External"/><Relationship Id="rId3" Type="http://schemas.openxmlformats.org/officeDocument/2006/relationships/hyperlink" Target="https://developer.hashicorp.com/vault/docs/updates/release-notes" TargetMode="External"/><Relationship Id="rId7" Type="http://schemas.openxmlformats.org/officeDocument/2006/relationships/hyperlink" Target="https://developer.hashicorp.com/vault/docs/v1.19.x/updates/release-notes#vault-1-19-22" TargetMode="External"/><Relationship Id="rId12" Type="http://schemas.openxmlformats.org/officeDocument/2006/relationships/hyperlink" Target="https://developer.hashicorp.com/vault/docs/v1.21.x/updates/release-notes#vault-1-21-8" TargetMode="External"/><Relationship Id="rId16" Type="http://schemas.openxmlformats.org/officeDocument/2006/relationships/hyperlink" Target="https://developer.hashicorp.com/vault/docs/updates/release-notes#vault-2-0-4" TargetMode="External"/><Relationship Id="rId1" Type="http://schemas.openxmlformats.org/officeDocument/2006/relationships/slideLayout" Target="../slideLayouts/slideLayout52.xml"/><Relationship Id="rId6" Type="http://schemas.openxmlformats.org/officeDocument/2006/relationships/hyperlink" Target="https://developer.hashicorp.com/vault/docs/v1.20.x/updates/release-notes#vault-1-20-16" TargetMode="External"/><Relationship Id="rId11" Type="http://schemas.openxmlformats.org/officeDocument/2006/relationships/hyperlink" Target="https://github.com/hashicorp/vault/releases/tag/v2.0.1" TargetMode="External"/><Relationship Id="rId5" Type="http://schemas.openxmlformats.org/officeDocument/2006/relationships/hyperlink" Target="https://developer.hashicorp.com/vault/docs/v1.21.x/updates/release-notes#vault-1-21-11" TargetMode="External"/><Relationship Id="rId15" Type="http://schemas.openxmlformats.org/officeDocument/2006/relationships/hyperlink" Target="https://discuss.hashicorp.com/t/vault-2-0-4-1-21-9-1-20-14-and-1-19-20-released/77623" TargetMode="External"/><Relationship Id="rId10" Type="http://schemas.openxmlformats.org/officeDocument/2006/relationships/hyperlink" Target="https://developer.hashicorp.com/vault/docs/updates/release-notes#vault-2-0-3" TargetMode="External"/><Relationship Id="rId4" Type="http://schemas.openxmlformats.org/officeDocument/2006/relationships/hyperlink" Target="https://developer.hashicorp.com/vault/docs/updates/release-notes#vault-2-1-1" TargetMode="External"/><Relationship Id="rId9" Type="http://schemas.openxmlformats.org/officeDocument/2006/relationships/image" Target="../media/image34.png"/><Relationship Id="rId14" Type="http://schemas.openxmlformats.org/officeDocument/2006/relationships/hyperlink" Target="https://discuss.hashicorp.com/t/vault-2-1-0-1-21-10-1-20-15-and-1-19-21-released/77709" TargetMode="External"/></Relationships>
</file>

<file path=ppt/slides/_rels/slide15.xml.rels><?xml version="1.0" encoding="UTF-8"?><Relationships xmlns="http://schemas.openxmlformats.org/package/2006/relationships"><Relationship Id="rId8" Type="http://schemas.openxmlformats.org/officeDocument/2006/relationships/hyperlink" Target="https://developer.hashicorp.com/hcp/docs/vault/changelog#2026-09-11" TargetMode="External"/><Relationship Id="rId3" Type="http://schemas.openxmlformats.org/officeDocument/2006/relationships/hyperlink" Target="https://developer.hashicorp.com/hcp/docs/vault/changelog" TargetMode="External"/><Relationship Id="rId7" Type="http://schemas.openxmlformats.org/officeDocument/2006/relationships/hyperlink" Target="https://developer.hashicorp.com/hcp/docs/vault/changelog#2026-09-23" TargetMode="External"/><Relationship Id="rId1" Type="http://schemas.openxmlformats.org/officeDocument/2006/relationships/slideLayout" Target="../slideLayouts/slideLayout52.xml"/><Relationship Id="rId6" Type="http://schemas.openxmlformats.org/officeDocument/2006/relationships/hyperlink" Target="https://developer.hashicorp.com/hcp/docs/vault/changelog#2026-08-24" TargetMode="External"/><Relationship Id="rId5" Type="http://schemas.openxmlformats.org/officeDocument/2006/relationships/hyperlink" Target="https://developer.hashicorp.com/vault/docs/updates/release-notes#vault-2-0-3" TargetMode="External"/><Relationship Id="rId10" Type="http://schemas.openxmlformats.org/officeDocument/2006/relationships/image" Target="../media/image35.png"/><Relationship Id="rId4" Type="http://schemas.openxmlformats.org/officeDocument/2006/relationships/hyperlink" Target="https://developer.hashicorp.com/hcp/docs/vault/changelog#2026-07-07:~:text=Vault%20Dedicated%20updates.-,2026%2D07%2D07,-Vault%202.0.3" TargetMode="External"/><Relationship Id="rId9" Type="http://schemas.openxmlformats.org/officeDocument/2006/relationships/hyperlink" Target="https://developer.hashicorp.com/vault/docs/updates/release-notes#vault-2-0-4" TargetMode="External"/></Relationships>
</file>

<file path=ppt/slides/_rels/slide16.xml.rels><?xml version="1.0" encoding="UTF-8"?><Relationships xmlns="http://schemas.openxmlformats.org/package/2006/relationships"><Relationship Id="rId8" Type="http://schemas.openxmlformats.org/officeDocument/2006/relationships/hyperlink" Target="https://www.hashicorp.com/en/blog/tags/infrastructure-automation" TargetMode="External"/><Relationship Id="rId13" Type="http://schemas.openxmlformats.org/officeDocument/2006/relationships/hyperlink" Target="https://www.hashicorp.com/en/blog/hashicorp-vault-agentic-iam-is-now-generally-available" TargetMode="External"/><Relationship Id="rId18" Type="http://schemas.openxmlformats.org/officeDocument/2006/relationships/hyperlink" Target="https://www.hashicorp.com/en/blog/understanding-vault-performance-benchmarks-from-real-world-workloads" TargetMode="External"/><Relationship Id="rId3" Type="http://schemas.openxmlformats.org/officeDocument/2006/relationships/hyperlink" Target="https://www.hashicorp.com/en/blog/the-common-security-controls-behind-indias-regulatory-wave" TargetMode="External"/><Relationship Id="rId7" Type="http://schemas.openxmlformats.org/officeDocument/2006/relationships/hyperlink" Target="https://www.hashicorp.com/en/blog/tags/optimize-operations" TargetMode="External"/><Relationship Id="rId12" Type="http://schemas.openxmlformats.org/officeDocument/2006/relationships/hyperlink" Target="https://www.hashicorp.com/en/blog/tags/artificial-intelligence" TargetMode="External"/><Relationship Id="rId17" Type="http://schemas.openxmlformats.org/officeDocument/2006/relationships/hyperlink" Target="https://www.hashicorp.com/en/blog/announcing-the-public-beta-of-vault-kubernetes-key-management" TargetMode="External"/><Relationship Id="rId2" Type="http://schemas.openxmlformats.org/officeDocument/2006/relationships/hyperlink" Target="https://www.hashicorp.com/en/blog/products/vault" TargetMode="External"/><Relationship Id="rId16" Type="http://schemas.openxmlformats.org/officeDocument/2006/relationships/hyperlink" Target="https://www.hashicorp.com/en/blog/hcp-vault-dedicated-introduces-cluster-disaster-recovery-public-preview" TargetMode="External"/><Relationship Id="rId1" Type="http://schemas.openxmlformats.org/officeDocument/2006/relationships/slideLayout" Target="../slideLayouts/slideLayout52.xml"/><Relationship Id="rId6" Type="http://schemas.openxmlformats.org/officeDocument/2006/relationships/hyperlink" Target="https://www.hashicorp.com/en/blog/tags/risk-compliance" TargetMode="External"/><Relationship Id="rId11" Type="http://schemas.openxmlformats.org/officeDocument/2006/relationships/hyperlink" Target="https://www.hashicorp.com/en/blog/tags/culture-collaboration" TargetMode="External"/><Relationship Id="rId5" Type="http://schemas.openxmlformats.org/officeDocument/2006/relationships/hyperlink" Target="https://www.hashicorp.com/en/blog/tags/speed-agility" TargetMode="External"/><Relationship Id="rId15" Type="http://schemas.openxmlformats.org/officeDocument/2006/relationships/hyperlink" Target="https://www.hashicorp.com/en/blog/advancing-ai-agent-security-in-vault" TargetMode="External"/><Relationship Id="rId10" Type="http://schemas.openxmlformats.org/officeDocument/2006/relationships/hyperlink" Target="https://www.hashicorp.com/en/blog/tags/platform" TargetMode="External"/><Relationship Id="rId19" Type="http://schemas.openxmlformats.org/officeDocument/2006/relationships/hyperlink" Target="https://www.hashicorp.com/en/blog/hcp-vault-dedicated-audit-logs-microsoft-sentinel" TargetMode="External"/><Relationship Id="rId4" Type="http://schemas.openxmlformats.org/officeDocument/2006/relationships/hyperlink" Target="https://www.hashicorp.com/en/blog/ai-speeds-software-development-is-your-secret-security-keeping-up" TargetMode="External"/><Relationship Id="rId9" Type="http://schemas.openxmlformats.org/officeDocument/2006/relationships/hyperlink" Target="https://www.hashicorp.com/en/blog/tags/secrets-identity-management" TargetMode="External"/><Relationship Id="rId14" Type="http://schemas.openxmlformats.org/officeDocument/2006/relationships/hyperlink" Target="https://www.hashicorp.com/en/blog/with-great-ai-power-comes-the-need-for-zero-trust-responsibility" TargetMode="External"/></Relationships>
</file>

<file path=ppt/slides/_rels/slide17.xml.rels><?xml version="1.0" encoding="UTF-8"?><Relationships xmlns="http://schemas.openxmlformats.org/package/2006/relationships"><Relationship Id="rId8" Type="http://schemas.openxmlformats.org/officeDocument/2006/relationships/hyperlink" Target="https://events.hashicorp.com/AgenticRuntimeSecurity" TargetMode="External"/><Relationship Id="rId3" Type="http://schemas.openxmlformats.org/officeDocument/2006/relationships/image" Target="../media/image32.png"/><Relationship Id="rId7" Type="http://schemas.openxmlformats.org/officeDocument/2006/relationships/hyperlink" Target="https://events.hashicorp.com/VaultQuickstartDec" TargetMode="External"/><Relationship Id="rId2" Type="http://schemas.openxmlformats.org/officeDocument/2006/relationships/hyperlink" Target="https://www.hashicorp.com/en/events" TargetMode="External"/><Relationship Id="rId1" Type="http://schemas.openxmlformats.org/officeDocument/2006/relationships/slideLayout" Target="../slideLayouts/slideLayout52.xml"/><Relationship Id="rId6" Type="http://schemas.openxmlformats.org/officeDocument/2006/relationships/image" Target="../media/image33.png"/><Relationship Id="rId5" Type="http://schemas.openxmlformats.org/officeDocument/2006/relationships/hyperlink" Target="https://www.hashicorp.com/en/events/webinars/dynamic-provider-credentials-with-hcp-terraform-and-vault-on-aws-aug19" TargetMode="External"/><Relationship Id="rId4" Type="http://schemas.openxmlformats.org/officeDocument/2006/relationships/hyperlink" Target="https://ibm.webcasts.com/starthere.jsp?ei=1774310&amp;tp_key=c4a79edc06" TargetMode="External"/><Relationship Id="rId9" Type="http://schemas.openxmlformats.org/officeDocument/2006/relationships/hyperlink" Target="https://www.hashicorp.com/en/events/webinars/provision-secure-scalable-aws-landing-zones-with-the-hashicorp-cloud-platform" TargetMode="External"/></Relationships>
</file>

<file path=ppt/slides/_rels/slide20.xml.rels><?xml version="1.0" encoding="UTF-8"?><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20.png"/><Relationship Id="rId7" Type="http://schemas.openxmlformats.org/officeDocument/2006/relationships/image" Target="../media/image42.jpeg"/><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hyperlink" Target="http://events.hashicorp.com/agentic-runtime-sec-exch-fra/hashi-sales" TargetMode="External"/><Relationship Id="rId4" Type="http://schemas.openxmlformats.org/officeDocument/2006/relationships/hyperlink" Target="https://www.ibm.com/events/reg/flow/ibm/xn301hmb/landing/page/landing" TargetMode="External"/></Relationships>
</file>

<file path=ppt/slides/slide2.xml><?xml version="1.0" encoding="utf-8"?>
<p:sld xmlns:a="http://schemas.openxmlformats.org/drawingml/2006/main" xmlns:r="http://schemas.openxmlformats.org/officeDocument/2006/relationships" xmlns:p="http://schemas.openxmlformats.org/presentationml/2006/main">
  <p:cSld name="auto-pptx:cover">
    <p:spTree>
      <p:nvGrpSpPr>
        <p:cNvPr id="1" name="">
          <a:extLst>
            <a:ext uri="{FF2B5EF4-FFF2-40B4-BE49-F238E27FC236}">
              <a16:creationId xmlns:a16="http://schemas.microsoft.com/office/drawing/2014/main" id="{61C30D22-1517-A0EC-32B1-BCD368F3D21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4576575-A6D1-ADA3-CA14-9F0319E6FA51}"/>
              </a:ext>
            </a:extLst>
          </p:cNvPr>
          <p:cNvPicPr>
            <a:picLocks noChangeAspect="1"/>
          </p:cNvPicPr>
          <p:nvPr/>
        </p:nvPicPr>
        <p:blipFill>
          <a:blip r:embed="rId3"/>
          <a:stretch>
            <a:fillRect/>
          </a:stretch>
        </p:blipFill>
        <p:spPr>
          <a:xfrm>
            <a:off x="0" y="106028"/>
            <a:ext cx="7450681" cy="5148263"/>
          </a:xfrm>
          <a:prstGeom prst="rect">
            <a:avLst/>
          </a:prstGeom>
        </p:spPr>
      </p:pic>
      <p:sp>
        <p:nvSpPr>
          <p:cNvPr id="2" name="Google Shape;698;p111">
            <a:extLst>
              <a:ext uri="{FF2B5EF4-FFF2-40B4-BE49-F238E27FC236}">
                <a16:creationId xmlns:a16="http://schemas.microsoft.com/office/drawing/2014/main" id="{2BD151A8-2290-8327-09DF-E05A142262EA}"/>
              </a:ext>
            </a:extLst>
          </p:cNvPr>
          <p:cNvSpPr txBox="1"/>
          <p:nvPr/>
        </p:nvSpPr>
        <p:spPr>
          <a:xfrm>
            <a:off x="411475" y="2339231"/>
            <a:ext cx="6470400" cy="1214764"/>
          </a:xfrm>
          <a:prstGeom prst="rect">
            <a:avLst/>
          </a:prstGeom>
          <a:noFill/>
          <a:ln>
            <a:noFill/>
          </a:ln>
        </p:spPr>
        <p:txBody>
          <a:bodyPr spcFirstLastPara="1" wrap="square" lIns="0" tIns="0" rIns="0" bIns="0" anchor="ctr" anchorCtr="0">
            <a:noAutofit/>
          </a:bodyPr>
          <a:lstStyle/>
          <a:p>
            <a:pPr>
              <a:lnSpc>
                <a:spcPct val="95000"/>
              </a:lnSpc>
            </a:pPr>
            <a:r>
              <a:rPr lang="en-US" sz="4000" b="1">
                <a:gradFill>
                  <a:gsLst>
                    <a:gs pos="0">
                      <a:srgbClr val="000000"/>
                    </a:gs>
                    <a:gs pos="99000">
                      <a:srgbClr val="595C61"/>
                    </a:gs>
                  </a:gsLst>
                  <a:lin ang="17400000" scaled="0"/>
                </a:gradFill>
                <a:latin typeface="Inter SemiBold"/>
                <a:ea typeface="Inter SemiBold"/>
                <a:sym typeface="Inter SemiBold"/>
              </a:rPr>
              <a:t>October 2026</a:t>
            </a:r>
            <a:endParaRPr lang="en-US"/>
          </a:p>
        </p:txBody>
      </p:sp>
      <p:sp>
        <p:nvSpPr>
          <p:cNvPr id="4" name="TextBox 3">
            <a:extLst>
              <a:ext uri="{FF2B5EF4-FFF2-40B4-BE49-F238E27FC236}">
                <a16:creationId xmlns:a16="http://schemas.microsoft.com/office/drawing/2014/main" id="{22CED447-A1CE-AF06-2810-8D152D448BAB}"/>
              </a:ext>
            </a:extLst>
          </p:cNvPr>
          <p:cNvSpPr txBox="1"/>
          <p:nvPr/>
        </p:nvSpPr>
        <p:spPr>
          <a:xfrm>
            <a:off x="352567" y="3921770"/>
            <a:ext cx="4572000" cy="307777"/>
          </a:xfrm>
          <a:prstGeom prst="rect">
            <a:avLst/>
          </a:prstGeom>
          <a:noFill/>
        </p:spPr>
        <p:txBody>
          <a:bodyPr wrap="square" lIns="91440" tIns="45720" rIns="91440" bIns="45720" anchor="t">
            <a:spAutoFit/>
          </a:bodyPr>
          <a:lstStyle/>
          <a:p>
            <a:r>
              <a:rPr lang="en-US" sz="1400">
                <a:solidFill>
                  <a:schemeClr val="tx1">
                    <a:lumMod val="50000"/>
                    <a:lumOff val="50000"/>
                  </a:schemeClr>
                </a:solidFill>
                <a:latin typeface="Inter"/>
                <a:ea typeface="Inter"/>
                <a:cs typeface="Inter SemiBold"/>
                <a:sym typeface="Inter SemiBold"/>
              </a:rPr>
              <a:t>FY26 | VERSION 1</a:t>
            </a:r>
            <a:endParaRPr lang="en-US">
              <a:solidFill>
                <a:schemeClr val="tx1">
                  <a:lumMod val="50000"/>
                  <a:lumOff val="50000"/>
                </a:schemeClr>
              </a:solidFill>
              <a:latin typeface="Inter" panose="02000503000000020004" pitchFamily="2" charset="0"/>
              <a:ea typeface="Inter" panose="02000503000000020004" pitchFamily="2" charset="0"/>
            </a:endParaRPr>
          </a:p>
        </p:txBody>
      </p:sp>
      <p:pic>
        <p:nvPicPr>
          <p:cNvPr id="6" name="Graphic 5">
            <a:extLst>
              <a:ext uri="{FF2B5EF4-FFF2-40B4-BE49-F238E27FC236}">
                <a16:creationId xmlns:a16="http://schemas.microsoft.com/office/drawing/2014/main" id="{9E7BB127-1DD8-E4C0-FB8B-518AE6C1C9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1475" y="439711"/>
            <a:ext cx="372414" cy="393530"/>
          </a:xfrm>
          <a:prstGeom prst="rect">
            <a:avLst/>
          </a:prstGeom>
        </p:spPr>
      </p:pic>
      <p:sp>
        <p:nvSpPr>
          <p:cNvPr id="3" name="Rectangle 2">
            <a:extLst>
              <a:ext uri="{FF2B5EF4-FFF2-40B4-BE49-F238E27FC236}">
                <a16:creationId xmlns:a16="http://schemas.microsoft.com/office/drawing/2014/main" id="{058BF3B7-D90A-0B72-A454-A95DCB41763E}"/>
              </a:ext>
            </a:extLst>
          </p:cNvPr>
          <p:cNvSpPr/>
          <p:nvPr/>
        </p:nvSpPr>
        <p:spPr>
          <a:xfrm>
            <a:off x="7291137" y="106028"/>
            <a:ext cx="1742556" cy="727213"/>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a:t>CURRENT STATUS: READY TO PUBLISH</a:t>
            </a:r>
          </a:p>
          <a:p>
            <a:pPr algn="ctr"/>
            <a:r>
              <a:rPr lang="en-US" sz="1000"/>
              <a:t>Updated – 6 October 2026</a:t>
            </a:r>
          </a:p>
        </p:txBody>
      </p:sp>
    </p:spTree>
    <p:extLst>
      <p:ext uri="{BB962C8B-B14F-4D97-AF65-F5344CB8AC3E}">
        <p14:creationId xmlns:p14="http://schemas.microsoft.com/office/powerpoint/2010/main" val="356686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auto-pptx:terraform-core-releases">
    <p:spTree>
      <p:nvGrpSpPr>
        <p:cNvPr id="1" name="">
          <a:extLst>
            <a:ext uri="{FF2B5EF4-FFF2-40B4-BE49-F238E27FC236}">
              <a16:creationId xmlns:a16="http://schemas.microsoft.com/office/drawing/2014/main" id="{1F166072-EF30-99F4-953F-F3A6ADC26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CD87B-B673-EA01-6563-CA9BC68463D1}"/>
              </a:ext>
            </a:extLst>
          </p:cNvPr>
          <p:cNvSpPr>
            <a:spLocks noGrp="1"/>
          </p:cNvSpPr>
          <p:nvPr>
            <p:ph type="title"/>
          </p:nvPr>
        </p:nvSpPr>
        <p:spPr/>
        <p:txBody>
          <a:bodyPr/>
          <a:lstStyle/>
          <a:p>
            <a:r>
              <a:rPr lang="en-US">
                <a:gradFill>
                  <a:gsLst>
                    <a:gs pos="0">
                      <a:srgbClr val="6C81FF"/>
                    </a:gs>
                    <a:gs pos="35000">
                      <a:srgbClr val="C08DFF"/>
                    </a:gs>
                    <a:gs pos="75000">
                      <a:srgbClr val="FF8791"/>
                    </a:gs>
                    <a:gs pos="100000">
                      <a:srgbClr val="F9B571"/>
                    </a:gs>
                  </a:gsLst>
                  <a:lin ang="2700000" scaled="0"/>
                </a:gradFill>
              </a:rPr>
              <a:t>Terraform Core/CLI – GitHub Releases</a:t>
            </a:r>
          </a:p>
        </p:txBody>
      </p:sp>
      <p:sp>
        <p:nvSpPr>
          <p:cNvPr id="3" name="Subtitle 2">
            <a:extLst>
              <a:ext uri="{FF2B5EF4-FFF2-40B4-BE49-F238E27FC236}">
                <a16:creationId xmlns:a16="http://schemas.microsoft.com/office/drawing/2014/main" id="{9D47A61D-2468-84C2-E61B-920B9071D2DF}"/>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2"/>
              </a:rPr>
              <a:t>Terraform Releases</a:t>
            </a:r>
            <a:r>
              <a:rPr lang="en-US">
                <a:latin typeface="Inter Light"/>
                <a:cs typeface="Inter Light"/>
              </a:rPr>
              <a:t xml:space="preserve"> </a:t>
            </a:r>
            <a:endParaRPr lang="en-US"/>
          </a:p>
        </p:txBody>
      </p:sp>
      <p:sp>
        <p:nvSpPr>
          <p:cNvPr id="7" name="Google Shape;1260;p168">
            <a:extLst>
              <a:ext uri="{FF2B5EF4-FFF2-40B4-BE49-F238E27FC236}">
                <a16:creationId xmlns:a16="http://schemas.microsoft.com/office/drawing/2014/main" id="{0DCEAA95-4637-72BF-6897-BB82F0AE6A03}"/>
              </a:ext>
            </a:extLst>
          </p:cNvPr>
          <p:cNvSpPr/>
          <p:nvPr/>
        </p:nvSpPr>
        <p:spPr>
          <a:xfrm>
            <a:off x="5984637" y="1233166"/>
            <a:ext cx="2626322" cy="201000"/>
          </a:xfrm>
          <a:prstGeom prst="chevron">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September</a:t>
            </a:r>
            <a:endParaRPr sz="800">
              <a:latin typeface="Inter" panose="02000503000000020004" pitchFamily="2" charset="0"/>
              <a:sym typeface="Poppins"/>
            </a:endParaRPr>
          </a:p>
        </p:txBody>
      </p:sp>
      <p:sp>
        <p:nvSpPr>
          <p:cNvPr id="8" name="Google Shape;1261;p168">
            <a:extLst>
              <a:ext uri="{FF2B5EF4-FFF2-40B4-BE49-F238E27FC236}">
                <a16:creationId xmlns:a16="http://schemas.microsoft.com/office/drawing/2014/main" id="{941EEE02-8E3F-68FA-D1A7-4EC421C61357}"/>
              </a:ext>
            </a:extLst>
          </p:cNvPr>
          <p:cNvSpPr/>
          <p:nvPr/>
        </p:nvSpPr>
        <p:spPr>
          <a:xfrm>
            <a:off x="617776" y="1222884"/>
            <a:ext cx="2626340" cy="201000"/>
          </a:xfrm>
          <a:prstGeom prst="homePlate">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a:latin typeface="Inter" panose="02000503000000020004" pitchFamily="2" charset="0"/>
                <a:sym typeface="Poppins"/>
              </a:rPr>
              <a:t>July</a:t>
            </a:r>
            <a:endParaRPr sz="800">
              <a:latin typeface="Inter" panose="02000503000000020004" pitchFamily="2" charset="0"/>
              <a:sym typeface="Poppins"/>
            </a:endParaRPr>
          </a:p>
        </p:txBody>
      </p:sp>
      <p:sp>
        <p:nvSpPr>
          <p:cNvPr id="10" name="Google Shape;1262;p168">
            <a:extLst>
              <a:ext uri="{FF2B5EF4-FFF2-40B4-BE49-F238E27FC236}">
                <a16:creationId xmlns:a16="http://schemas.microsoft.com/office/drawing/2014/main" id="{325F53FB-2BB3-725E-6C95-21B0AE1E7C0D}"/>
              </a:ext>
            </a:extLst>
          </p:cNvPr>
          <p:cNvSpPr/>
          <p:nvPr/>
        </p:nvSpPr>
        <p:spPr>
          <a:xfrm>
            <a:off x="3301212" y="1227738"/>
            <a:ext cx="2626329" cy="201000"/>
          </a:xfrm>
          <a:prstGeom prst="chevron">
            <a:avLst>
              <a:gd name="adj" fmla="val 50000"/>
            </a:avLst>
          </a:prstGeom>
          <a:noFill/>
          <a:ln w="9525" cap="flat" cmpd="sng">
            <a:solidFill>
              <a:srgbClr val="C08DFF"/>
            </a:solidFill>
            <a:prstDash val="solid"/>
            <a:round/>
            <a:headEnd type="none" w="med" len="med"/>
            <a:tailEnd type="none" w="med" len="med"/>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August</a:t>
            </a:r>
            <a:endParaRPr sz="800">
              <a:latin typeface="Inter" panose="02000503000000020004" pitchFamily="2" charset="0"/>
              <a:sym typeface="Poppins"/>
            </a:endParaRPr>
          </a:p>
        </p:txBody>
      </p:sp>
      <p:sp>
        <p:nvSpPr>
          <p:cNvPr id="17" name="Google Shape;397;p78">
            <a:extLst>
              <a:ext uri="{FF2B5EF4-FFF2-40B4-BE49-F238E27FC236}">
                <a16:creationId xmlns:a16="http://schemas.microsoft.com/office/drawing/2014/main" id="{F160AF20-11D6-9FFA-C7B2-4554DE60AEB6}"/>
              </a:ext>
            </a:extLst>
          </p:cNvPr>
          <p:cNvSpPr/>
          <p:nvPr/>
        </p:nvSpPr>
        <p:spPr>
          <a:xfrm>
            <a:off x="617776" y="1504954"/>
            <a:ext cx="2533387" cy="3214280"/>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lnSpc>
                <a:spcPct val="150000"/>
              </a:lnSpc>
              <a:spcAft>
                <a:spcPts val="600"/>
              </a:spcAft>
              <a:defRPr/>
            </a:pPr>
            <a:r>
              <a:rPr lang="en-US" sz="800" b="1">
                <a:solidFill>
                  <a:srgbClr val="8B85FF"/>
                </a:solidFill>
                <a:latin typeface="Inter"/>
                <a:ea typeface="Inter"/>
                <a:cs typeface="Poppins"/>
                <a:hlinkClick r:id="rId3">
                  <a:extLst>
                    <a:ext uri="{A12FA001-AC4F-418D-AE19-62706E023703}">
                      <ahyp:hlinkClr xmlns:ahyp="http://schemas.microsoft.com/office/drawing/2018/hyperlinkcolor" val="tx"/>
                    </a:ext>
                  </a:extLst>
                </a:hlinkClick>
              </a:rPr>
              <a:t>v1.17.0-alpha20260729</a:t>
            </a:r>
            <a:endParaRPr lang="en-US" sz="800" b="1">
              <a:solidFill>
                <a:srgbClr val="8B85FF"/>
              </a:solidFill>
              <a:latin typeface="Inter"/>
              <a:ea typeface="Inter"/>
              <a:cs typeface="Poppins"/>
            </a:endParaRPr>
          </a:p>
          <a:p>
            <a:pPr marL="171450" indent="-171450">
              <a:lnSpc>
                <a:spcPct val="150000"/>
              </a:lnSpc>
              <a:spcAft>
                <a:spcPts val="600"/>
              </a:spcAft>
              <a:buClr>
                <a:srgbClr val="C08DFF"/>
              </a:buClr>
              <a:buSzPct val="150000"/>
              <a:buFont typeface="Arial,Sans-Serif"/>
              <a:buChar char="•"/>
              <a:defRPr/>
            </a:pPr>
            <a:r>
              <a:rPr lang="en-US" sz="650">
                <a:solidFill>
                  <a:srgbClr val="000000"/>
                </a:solidFill>
                <a:latin typeface="Inter"/>
                <a:ea typeface="Inter"/>
                <a:cs typeface="Poppins"/>
              </a:rPr>
              <a:t>Pre-release, bug fixes</a:t>
            </a:r>
            <a:endParaRPr lang="en-US" sz="650"/>
          </a:p>
          <a:p>
            <a:pPr>
              <a:lnSpc>
                <a:spcPct val="150000"/>
              </a:lnSpc>
              <a:spcAft>
                <a:spcPts val="600"/>
              </a:spcAft>
              <a:defRPr/>
            </a:pPr>
            <a:r>
              <a:rPr lang="en-US" sz="800" b="1">
                <a:solidFill>
                  <a:srgbClr val="8B85FF"/>
                </a:solidFill>
                <a:latin typeface="Inter"/>
                <a:ea typeface="Inter"/>
                <a:cs typeface="Poppins"/>
                <a:hlinkClick r:id="rId4">
                  <a:extLst>
                    <a:ext uri="{A12FA001-AC4F-418D-AE19-62706E023703}">
                      <ahyp:hlinkClr xmlns:ahyp="http://schemas.microsoft.com/office/drawing/2018/hyperlinkcolor" val="tx"/>
                    </a:ext>
                  </a:extLst>
                </a:hlinkClick>
              </a:rPr>
              <a:t>v1.16.0-beta1 (2026-07-23)</a:t>
            </a:r>
            <a:endParaRPr lang="en-US" sz="800" b="1">
              <a:solidFill>
                <a:srgbClr val="8B85FF"/>
              </a:solidFill>
              <a:latin typeface="Inter"/>
              <a:ea typeface="Inter"/>
              <a:cs typeface="Poppins"/>
            </a:endParaRPr>
          </a:p>
          <a:p>
            <a:pPr marL="171450" indent="-171450">
              <a:lnSpc>
                <a:spcPct val="150000"/>
              </a:lnSpc>
              <a:spcAft>
                <a:spcPts val="600"/>
              </a:spcAft>
              <a:buClr>
                <a:srgbClr val="C08D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Terraform adds improved state handling, import flexibility, enhanced provider and action trigger capabilities.</a:t>
            </a:r>
          </a:p>
          <a:p>
            <a:pPr lvl="0">
              <a:lnSpc>
                <a:spcPct val="150000"/>
              </a:lnSpc>
              <a:spcAft>
                <a:spcPts val="600"/>
              </a:spcAft>
              <a:defRPr/>
            </a:pPr>
            <a:r>
              <a:rPr lang="en-US" sz="800" b="1">
                <a:solidFill>
                  <a:srgbClr val="8B85FF"/>
                </a:solidFill>
                <a:latin typeface="Inter"/>
                <a:ea typeface="Inter"/>
                <a:cs typeface="Poppins"/>
                <a:hlinkClick r:id="rId5">
                  <a:extLst>
                    <a:ext uri="{A12FA001-AC4F-418D-AE19-62706E023703}">
                      <ahyp:hlinkClr xmlns:ahyp="http://schemas.microsoft.com/office/drawing/2018/hyperlinkcolor" val="tx"/>
                    </a:ext>
                  </a:extLst>
                </a:hlinkClick>
              </a:rPr>
              <a:t>v1.16.0 - alpha (2026-07-15)</a:t>
            </a:r>
            <a:endParaRPr lang="en-US" sz="800" b="1">
              <a:solidFill>
                <a:srgbClr val="8B85FF"/>
              </a:solidFill>
              <a:latin typeface="Inter"/>
              <a:ea typeface="Inter"/>
              <a:cs typeface="Poppins"/>
              <a:hlinkClick r:id="" action="ppaction://noaction">
                <a:extLst>
                  <a:ext uri="{A12FA001-AC4F-418D-AE19-62706E023703}">
                    <ahyp:hlinkClr xmlns:ahyp="http://schemas.microsoft.com/office/drawing/2018/hyperlinkcolor" val="tx"/>
                  </a:ext>
                </a:extLst>
              </a:hlinkClick>
            </a:endParaRPr>
          </a:p>
          <a:p>
            <a:pPr marL="17145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a:p>
            <a:pPr>
              <a:spcAft>
                <a:spcPts val="600"/>
              </a:spcAft>
              <a:buClr>
                <a:srgbClr val="8B85FF"/>
              </a:buClr>
              <a:buSzPct val="150000"/>
            </a:pPr>
            <a:r>
              <a:rPr lang="en-US" sz="800" b="1">
                <a:solidFill>
                  <a:srgbClr val="8B85FF"/>
                </a:solidFill>
                <a:latin typeface="Inter"/>
                <a:ea typeface="Inter"/>
                <a:cs typeface="Poppins"/>
                <a:hlinkClick r:id="rId6">
                  <a:extLst>
                    <a:ext uri="{A12FA001-AC4F-418D-AE19-62706E023703}">
                      <ahyp:hlinkClr xmlns:ahyp="http://schemas.microsoft.com/office/drawing/2018/hyperlinkcolor" val="tx"/>
                    </a:ext>
                  </a:extLst>
                </a:hlinkClick>
              </a:rPr>
              <a:t>v1.15.8 (2026-07-08)</a:t>
            </a: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Bug fixes</a:t>
            </a:r>
            <a:endParaRPr lang="en-US" sz="800" b="1">
              <a:solidFill>
                <a:srgbClr val="8B85FF"/>
              </a:solidFill>
              <a:latin typeface="Inter" panose="02000503000000020004" pitchFamily="2" charset="0"/>
              <a:ea typeface="Inter" panose="02000503000000020004" pitchFamily="2" charset="0"/>
              <a:cs typeface="Poppins"/>
              <a:hlinkClick r:id="rId7">
                <a:extLst>
                  <a:ext uri="{A12FA001-AC4F-418D-AE19-62706E023703}">
                    <ahyp:hlinkClr xmlns:ahyp="http://schemas.microsoft.com/office/drawing/2018/hyperlinkcolor" val="tx"/>
                  </a:ext>
                </a:extLst>
              </a:hlinkClick>
            </a:endParaRPr>
          </a:p>
          <a:p>
            <a:pPr>
              <a:lnSpc>
                <a:spcPct val="150000"/>
              </a:lnSpc>
              <a:spcAft>
                <a:spcPts val="600"/>
              </a:spcAft>
              <a:defRPr/>
            </a:pPr>
            <a:r>
              <a:rPr lang="en-US" sz="800" b="1">
                <a:solidFill>
                  <a:srgbClr val="8B85FF"/>
                </a:solidFill>
                <a:latin typeface="Inter"/>
                <a:ea typeface="Inter"/>
                <a:cs typeface="Poppins"/>
                <a:hlinkClick r:id="rId7">
                  <a:extLst>
                    <a:ext uri="{A12FA001-AC4F-418D-AE19-62706E023703}">
                      <ahyp:hlinkClr xmlns:ahyp="http://schemas.microsoft.com/office/drawing/2018/hyperlinkcolor" val="tx"/>
                    </a:ext>
                  </a:extLst>
                </a:hlinkClick>
              </a:rPr>
              <a:t>v1.16.0 - alpha (2026-07-08) &amp; v1.16.0 - alpha (2026-07-06)</a:t>
            </a:r>
            <a:endParaRPr lang="en-US" sz="800" b="1">
              <a:solidFill>
                <a:srgbClr val="8B85FF"/>
              </a:solidFill>
              <a:latin typeface="Inter" panose="02000503000000020004" pitchFamily="2" charset="0"/>
              <a:ea typeface="Inter" panose="02000503000000020004" pitchFamily="2" charset="0"/>
              <a:cs typeface="Poppins"/>
              <a:hlinkClick r:id="rId7">
                <a:extLst>
                  <a:ext uri="{A12FA001-AC4F-418D-AE19-62706E023703}">
                    <ahyp:hlinkClr xmlns:ahyp="http://schemas.microsoft.com/office/drawing/2018/hyperlinkcolor" val="tx"/>
                  </a:ext>
                </a:extLst>
              </a:hlinkClick>
            </a:endParaRPr>
          </a:p>
        </p:txBody>
      </p:sp>
      <p:sp>
        <p:nvSpPr>
          <p:cNvPr id="18" name="Google Shape;397;p78">
            <a:extLst>
              <a:ext uri="{FF2B5EF4-FFF2-40B4-BE49-F238E27FC236}">
                <a16:creationId xmlns:a16="http://schemas.microsoft.com/office/drawing/2014/main" id="{C0BB26C7-B858-5D4E-881D-541928EE89A6}"/>
              </a:ext>
            </a:extLst>
          </p:cNvPr>
          <p:cNvSpPr/>
          <p:nvPr/>
        </p:nvSpPr>
        <p:spPr>
          <a:xfrm>
            <a:off x="3305306" y="1504954"/>
            <a:ext cx="2533387" cy="3214280"/>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lvl="0">
              <a:lnSpc>
                <a:spcPct val="150000"/>
              </a:lnSpc>
              <a:spcAft>
                <a:spcPts val="600"/>
              </a:spcAft>
              <a:defRPr/>
            </a:pPr>
            <a:r>
              <a:rPr lang="en-US" sz="800" b="1">
                <a:solidFill>
                  <a:srgbClr val="7D83FF"/>
                </a:solidFill>
                <a:latin typeface="Inter" panose="02000503000000020004" pitchFamily="2" charset="0"/>
                <a:ea typeface="Inter" panose="02000503000000020004" pitchFamily="2" charset="0"/>
                <a:cs typeface="Poppins"/>
                <a:hlinkClick r:id="rId8">
                  <a:extLst>
                    <a:ext uri="{A12FA001-AC4F-418D-AE19-62706E023703}">
                      <ahyp:hlinkClr xmlns:ahyp="http://schemas.microsoft.com/office/drawing/2018/hyperlinkcolor" val="tx"/>
                    </a:ext>
                  </a:extLst>
                </a:hlinkClick>
              </a:rPr>
              <a:t>v1.17.0 - alpha (2026-08-27)</a:t>
            </a:r>
            <a:endParaRPr lang="en-US" sz="800" b="1">
              <a:solidFill>
                <a:srgbClr val="7D83FF"/>
              </a:solidFill>
              <a:latin typeface="Inter" panose="02000503000000020004" pitchFamily="2" charset="0"/>
              <a:ea typeface="Inter" panose="02000503000000020004" pitchFamily="2" charset="0"/>
              <a:cs typeface="Poppins"/>
              <a:hlinkClick r:id="rId9">
                <a:extLst>
                  <a:ext uri="{A12FA001-AC4F-418D-AE19-62706E023703}">
                    <ahyp:hlinkClr xmlns:ahyp="http://schemas.microsoft.com/office/drawing/2018/hyperlinkcolor" val="tx"/>
                  </a:ext>
                </a:extLst>
              </a:hlinkClick>
            </a:endParaRPr>
          </a:p>
          <a:p>
            <a:pPr marL="171450" lvl="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a:p>
            <a:pPr lvl="0">
              <a:lnSpc>
                <a:spcPct val="150000"/>
              </a:lnSpc>
              <a:spcAft>
                <a:spcPts val="600"/>
              </a:spcAft>
              <a:defRPr/>
            </a:pPr>
            <a:r>
              <a:rPr lang="en-US" sz="800" b="1">
                <a:solidFill>
                  <a:srgbClr val="7D83FF"/>
                </a:solidFill>
                <a:latin typeface="Inter" panose="02000503000000020004" pitchFamily="2" charset="0"/>
                <a:ea typeface="Inter" panose="02000503000000020004" pitchFamily="2" charset="0"/>
                <a:cs typeface="Poppins"/>
                <a:hlinkClick r:id="rId10">
                  <a:extLst>
                    <a:ext uri="{A12FA001-AC4F-418D-AE19-62706E023703}">
                      <ahyp:hlinkClr xmlns:ahyp="http://schemas.microsoft.com/office/drawing/2018/hyperlinkcolor" val="tx"/>
                    </a:ext>
                  </a:extLst>
                </a:hlinkClick>
              </a:rPr>
              <a:t>v1.16.0 (2026-08-26)</a:t>
            </a:r>
            <a:endParaRPr lang="en-US" sz="800" b="1">
              <a:solidFill>
                <a:srgbClr val="7D83FF"/>
              </a:solidFill>
              <a:latin typeface="Inter" panose="02000503000000020004" pitchFamily="2" charset="0"/>
              <a:ea typeface="Inter" panose="02000503000000020004" pitchFamily="2" charset="0"/>
              <a:cs typeface="Poppins"/>
              <a:hlinkClick r:id="rId9">
                <a:extLst>
                  <a:ext uri="{A12FA001-AC4F-418D-AE19-62706E023703}">
                    <ahyp:hlinkClr xmlns:ahyp="http://schemas.microsoft.com/office/drawing/2018/hyperlinkcolor" val="tx"/>
                  </a:ext>
                </a:extLst>
              </a:hlinkClick>
            </a:endParaRPr>
          </a:p>
          <a:p>
            <a:pPr marL="17145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New features + enhancements + bug fixes</a:t>
            </a:r>
          </a:p>
          <a:p>
            <a:pPr lvl="0">
              <a:lnSpc>
                <a:spcPct val="150000"/>
              </a:lnSpc>
              <a:spcAft>
                <a:spcPts val="600"/>
              </a:spcAft>
              <a:defRPr/>
            </a:pPr>
            <a:r>
              <a:rPr lang="en-US" sz="800" b="1">
                <a:solidFill>
                  <a:srgbClr val="8B85FF"/>
                </a:solidFill>
                <a:latin typeface="Inter" panose="02000503000000020004" pitchFamily="2" charset="0"/>
                <a:ea typeface="Inter" panose="02000503000000020004" pitchFamily="2" charset="0"/>
                <a:cs typeface="Poppins"/>
                <a:hlinkClick r:id="rId11">
                  <a:extLst>
                    <a:ext uri="{A12FA001-AC4F-418D-AE19-62706E023703}">
                      <ahyp:hlinkClr xmlns:ahyp="http://schemas.microsoft.com/office/drawing/2018/hyperlinkcolor" val="tx"/>
                    </a:ext>
                  </a:extLst>
                </a:hlinkClick>
              </a:rPr>
              <a:t>v1.16.0 – rc2 (2026-08-19)</a:t>
            </a:r>
            <a:endParaRPr lang="en-US" sz="800" b="1">
              <a:solidFill>
                <a:srgbClr val="8B85FF"/>
              </a:solidFill>
              <a:latin typeface="Inter" panose="02000503000000020004" pitchFamily="2" charset="0"/>
              <a:ea typeface="Inter" panose="02000503000000020004" pitchFamily="2" charset="0"/>
              <a:cs typeface="Poppins"/>
              <a:hlinkClick r:id="rId9">
                <a:extLst>
                  <a:ext uri="{A12FA001-AC4F-418D-AE19-62706E023703}">
                    <ahyp:hlinkClr xmlns:ahyp="http://schemas.microsoft.com/office/drawing/2018/hyperlinkcolor" val="tx"/>
                  </a:ext>
                </a:extLst>
              </a:hlinkClick>
            </a:endParaRPr>
          </a:p>
          <a:p>
            <a:pPr marL="171450" lvl="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12">
                  <a:extLst>
                    <a:ext uri="{A12FA001-AC4F-418D-AE19-62706E023703}">
                      <ahyp:hlinkClr xmlns:ahyp="http://schemas.microsoft.com/office/drawing/2018/hyperlinkcolor" val="tx"/>
                    </a:ext>
                  </a:extLst>
                </a:hlinkClick>
              </a:rPr>
              <a:t>v1.15.9 (2026-08-19)</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Bug fixes</a:t>
            </a:r>
            <a:endParaRPr lang="en-US" sz="800" b="1">
              <a:solidFill>
                <a:srgbClr val="8B85FF"/>
              </a:solidFill>
              <a:latin typeface="Inter" panose="02000503000000020004" pitchFamily="2" charset="0"/>
              <a:ea typeface="Inter" panose="02000503000000020004" pitchFamily="2" charset="0"/>
              <a:cs typeface="Poppins"/>
              <a:hlinkClick r:id="rId13">
                <a:extLst>
                  <a:ext uri="{A12FA001-AC4F-418D-AE19-62706E023703}">
                    <ahyp:hlinkClr xmlns:ahyp="http://schemas.microsoft.com/office/drawing/2018/hyperlinkcolor" val="tx"/>
                  </a:ext>
                </a:extLst>
              </a:hlinkClick>
            </a:endParaRPr>
          </a:p>
          <a:p>
            <a:pPr lvl="0">
              <a:lnSpc>
                <a:spcPct val="150000"/>
              </a:lnSpc>
              <a:spcAft>
                <a:spcPts val="600"/>
              </a:spcAft>
              <a:defRPr/>
            </a:pPr>
            <a:r>
              <a:rPr lang="en-US" sz="800" b="1">
                <a:solidFill>
                  <a:srgbClr val="8B85FF"/>
                </a:solidFill>
                <a:latin typeface="Inter" panose="02000503000000020004" pitchFamily="2" charset="0"/>
                <a:ea typeface="Inter" panose="02000503000000020004" pitchFamily="2" charset="0"/>
                <a:cs typeface="Poppins"/>
                <a:hlinkClick r:id="rId14">
                  <a:extLst>
                    <a:ext uri="{A12FA001-AC4F-418D-AE19-62706E023703}">
                      <ahyp:hlinkClr xmlns:ahyp="http://schemas.microsoft.com/office/drawing/2018/hyperlinkcolor" val="tx"/>
                    </a:ext>
                  </a:extLst>
                </a:hlinkClick>
              </a:rPr>
              <a:t>v1.17.0 - alpha (2026-08-12)</a:t>
            </a:r>
            <a:endParaRPr lang="en-US" sz="800" b="1">
              <a:solidFill>
                <a:srgbClr val="8B85FF"/>
              </a:solidFill>
              <a:latin typeface="Inter" panose="02000503000000020004" pitchFamily="2" charset="0"/>
              <a:ea typeface="Inter" panose="02000503000000020004" pitchFamily="2" charset="0"/>
              <a:cs typeface="Poppins"/>
              <a:hlinkClick r:id="rId9">
                <a:extLst>
                  <a:ext uri="{A12FA001-AC4F-418D-AE19-62706E023703}">
                    <ahyp:hlinkClr xmlns:ahyp="http://schemas.microsoft.com/office/drawing/2018/hyperlinkcolor" val="tx"/>
                  </a:ext>
                </a:extLst>
              </a:hlinkClick>
            </a:endParaRPr>
          </a:p>
          <a:p>
            <a:pPr marL="171450" lvl="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15">
                  <a:extLst>
                    <a:ext uri="{A12FA001-AC4F-418D-AE19-62706E023703}">
                      <ahyp:hlinkClr xmlns:ahyp="http://schemas.microsoft.com/office/drawing/2018/hyperlinkcolor" val="tx"/>
                    </a:ext>
                  </a:extLst>
                </a:hlinkClick>
              </a:rPr>
              <a:t>v1.16.0-rc1 (2026-08-12)</a:t>
            </a:r>
            <a:endParaRPr lang="en-US" sz="800" b="1">
              <a:solidFill>
                <a:srgbClr val="8B85FF"/>
              </a:solidFill>
              <a:latin typeface="Inter" panose="02000503000000020004" pitchFamily="2" charset="0"/>
              <a:ea typeface="Inter" panose="02000503000000020004" pitchFamily="2" charset="0"/>
              <a:cs typeface="Poppins"/>
            </a:endParaRPr>
          </a:p>
          <a:p>
            <a:pPr marL="171450" lvl="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a:p>
            <a:pPr lvl="0">
              <a:lnSpc>
                <a:spcPct val="150000"/>
              </a:lnSpc>
              <a:spcAft>
                <a:spcPts val="600"/>
              </a:spcAft>
              <a:defRPr/>
            </a:pPr>
            <a:r>
              <a:rPr lang="en-US" sz="800" b="1">
                <a:solidFill>
                  <a:srgbClr val="7D83FF"/>
                </a:solidFill>
                <a:latin typeface="Inter" panose="02000503000000020004" pitchFamily="2" charset="0"/>
                <a:ea typeface="Inter" panose="02000503000000020004" pitchFamily="2" charset="0"/>
                <a:cs typeface="Poppins"/>
                <a:hlinkClick r:id="rId16">
                  <a:extLst>
                    <a:ext uri="{A12FA001-AC4F-418D-AE19-62706E023703}">
                      <ahyp:hlinkClr xmlns:ahyp="http://schemas.microsoft.com/office/drawing/2018/hyperlinkcolor" val="tx"/>
                    </a:ext>
                  </a:extLst>
                </a:hlinkClick>
              </a:rPr>
              <a:t>v1.16.0 – beta2 (2026-08-05)</a:t>
            </a:r>
            <a:endParaRPr lang="en-US" sz="800" b="1">
              <a:solidFill>
                <a:srgbClr val="7D83FF"/>
              </a:solidFill>
              <a:latin typeface="Inter" panose="02000503000000020004" pitchFamily="2" charset="0"/>
              <a:ea typeface="Inter" panose="02000503000000020004" pitchFamily="2" charset="0"/>
              <a:cs typeface="Poppins"/>
              <a:hlinkClick r:id="rId9">
                <a:extLst>
                  <a:ext uri="{A12FA001-AC4F-418D-AE19-62706E023703}">
                    <ahyp:hlinkClr xmlns:ahyp="http://schemas.microsoft.com/office/drawing/2018/hyperlinkcolor" val="tx"/>
                  </a:ext>
                </a:extLst>
              </a:hlinkClick>
            </a:endParaRPr>
          </a:p>
          <a:p>
            <a:pPr marL="171450" lvl="0" indent="-171450">
              <a:spcAft>
                <a:spcPts val="600"/>
              </a:spcAft>
              <a:buClr>
                <a:srgbClr val="8B85FF"/>
              </a:buClr>
              <a:buSzPct val="150000"/>
              <a:buFont typeface="Arial" panose="020B0604020202020204" pitchFamily="34" charset="0"/>
              <a:buChar char="•"/>
              <a:defRPr/>
            </a:pPr>
            <a:r>
              <a:rPr lang="en-US" sz="650">
                <a:latin typeface="Inter" panose="02000503000000020004" pitchFamily="2" charset="0"/>
                <a:ea typeface="Inter" panose="02000503000000020004" pitchFamily="2" charset="0"/>
                <a:cs typeface="Poppins"/>
              </a:rPr>
              <a:t>Pre-release</a:t>
            </a:r>
          </a:p>
        </p:txBody>
      </p:sp>
      <p:sp>
        <p:nvSpPr>
          <p:cNvPr id="19" name="Google Shape;397;p78">
            <a:extLst>
              <a:ext uri="{FF2B5EF4-FFF2-40B4-BE49-F238E27FC236}">
                <a16:creationId xmlns:a16="http://schemas.microsoft.com/office/drawing/2014/main" id="{AD4C6CBA-AE0D-10D1-0071-161EC108FF10}"/>
              </a:ext>
            </a:extLst>
          </p:cNvPr>
          <p:cNvSpPr/>
          <p:nvPr/>
        </p:nvSpPr>
        <p:spPr>
          <a:xfrm>
            <a:off x="5992837" y="1504954"/>
            <a:ext cx="2533387" cy="3214280"/>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lnSpc>
                <a:spcPct val="150000"/>
              </a:lnSpc>
              <a:spcAft>
                <a:spcPts val="600"/>
              </a:spcAft>
              <a:defRPr/>
            </a:pPr>
            <a:r>
              <a:rPr lang="en-US" sz="800" b="1">
                <a:solidFill>
                  <a:srgbClr val="8B85FF"/>
                </a:solidFill>
                <a:latin typeface="Inter"/>
                <a:ea typeface="Inter"/>
                <a:cs typeface="Poppins"/>
                <a:hlinkClick r:id="rId17">
                  <a:extLst>
                    <a:ext uri="{A12FA001-AC4F-418D-AE19-62706E023703}">
                      <ahyp:hlinkClr xmlns:ahyp="http://schemas.microsoft.com/office/drawing/2018/hyperlinkcolor" val="tx"/>
                    </a:ext>
                  </a:extLst>
                </a:hlinkClick>
              </a:rPr>
              <a:t>v1.16.5 (2026-09-30)</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Bug Fixes</a:t>
            </a:r>
          </a:p>
          <a:p>
            <a:pPr>
              <a:lnSpc>
                <a:spcPct val="150000"/>
              </a:lnSpc>
              <a:spcAft>
                <a:spcPts val="600"/>
              </a:spcAft>
              <a:defRPr/>
            </a:pPr>
            <a:r>
              <a:rPr lang="en-US" sz="800" b="1">
                <a:solidFill>
                  <a:srgbClr val="8B85FF"/>
                </a:solidFill>
                <a:latin typeface="Inter"/>
                <a:ea typeface="Inter"/>
                <a:cs typeface="Poppins"/>
                <a:hlinkClick r:id="rId18">
                  <a:extLst>
                    <a:ext uri="{A12FA001-AC4F-418D-AE19-62706E023703}">
                      <ahyp:hlinkClr xmlns:ahyp="http://schemas.microsoft.com/office/drawing/2018/hyperlinkcolor" val="tx"/>
                    </a:ext>
                  </a:extLst>
                </a:hlinkClick>
              </a:rPr>
              <a:t>v1.17.0-beta2 (2026-09-23)</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Pre-release</a:t>
            </a:r>
          </a:p>
          <a:p>
            <a:pPr>
              <a:lnSpc>
                <a:spcPct val="150000"/>
              </a:lnSpc>
              <a:spcAft>
                <a:spcPts val="600"/>
              </a:spcAft>
              <a:defRPr/>
            </a:pPr>
            <a:r>
              <a:rPr lang="en-US" sz="800" b="1">
                <a:solidFill>
                  <a:srgbClr val="8B85FF"/>
                </a:solidFill>
                <a:latin typeface="Inter"/>
                <a:ea typeface="Inter"/>
                <a:cs typeface="Poppins"/>
                <a:hlinkClick r:id="rId19">
                  <a:extLst>
                    <a:ext uri="{A12FA001-AC4F-418D-AE19-62706E023703}">
                      <ahyp:hlinkClr xmlns:ahyp="http://schemas.microsoft.com/office/drawing/2018/hyperlinkcolor" val="tx"/>
                    </a:ext>
                  </a:extLst>
                </a:hlinkClick>
              </a:rPr>
              <a:t>v1.16.4 (2026-09-23)</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Bug Fixes</a:t>
            </a:r>
          </a:p>
          <a:p>
            <a:pPr>
              <a:lnSpc>
                <a:spcPct val="150000"/>
              </a:lnSpc>
              <a:spcAft>
                <a:spcPts val="600"/>
              </a:spcAft>
              <a:defRPr/>
            </a:pPr>
            <a:r>
              <a:rPr lang="en-US" sz="800" b="1">
                <a:solidFill>
                  <a:srgbClr val="8B85FF"/>
                </a:solidFill>
                <a:latin typeface="Inter"/>
                <a:ea typeface="Inter"/>
                <a:cs typeface="Poppins"/>
                <a:hlinkClick r:id="rId20">
                  <a:extLst>
                    <a:ext uri="{A12FA001-AC4F-418D-AE19-62706E023703}">
                      <ahyp:hlinkClr xmlns:ahyp="http://schemas.microsoft.com/office/drawing/2018/hyperlinkcolor" val="tx"/>
                    </a:ext>
                  </a:extLst>
                </a:hlinkClick>
              </a:rPr>
              <a:t>v1.16.3 (2026-09-16)</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Bug Fixes</a:t>
            </a:r>
          </a:p>
          <a:p>
            <a:pPr>
              <a:lnSpc>
                <a:spcPct val="150000"/>
              </a:lnSpc>
              <a:spcAft>
                <a:spcPts val="600"/>
              </a:spcAft>
              <a:defRPr/>
            </a:pPr>
            <a:r>
              <a:rPr lang="en-US" sz="800" b="1">
                <a:solidFill>
                  <a:srgbClr val="8B85FF"/>
                </a:solidFill>
                <a:latin typeface="Inter"/>
                <a:ea typeface="Inter"/>
                <a:cs typeface="Poppins"/>
                <a:hlinkClick r:id="rId21">
                  <a:extLst>
                    <a:ext uri="{A12FA001-AC4F-418D-AE19-62706E023703}">
                      <ahyp:hlinkClr xmlns:ahyp="http://schemas.microsoft.com/office/drawing/2018/hyperlinkcolor" val="tx"/>
                    </a:ext>
                  </a:extLst>
                </a:hlinkClick>
              </a:rPr>
              <a:t>v1.17.0-beta1 (2026-09-09)</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Pre-release</a:t>
            </a:r>
          </a:p>
          <a:p>
            <a:pPr>
              <a:lnSpc>
                <a:spcPct val="150000"/>
              </a:lnSpc>
              <a:spcAft>
                <a:spcPts val="600"/>
              </a:spcAft>
              <a:defRPr/>
            </a:pPr>
            <a:r>
              <a:rPr lang="en-US" sz="800" b="1">
                <a:solidFill>
                  <a:srgbClr val="8B85FF"/>
                </a:solidFill>
                <a:latin typeface="Inter"/>
                <a:ea typeface="Inter"/>
                <a:cs typeface="Poppins"/>
                <a:hlinkClick r:id="rId22">
                  <a:extLst>
                    <a:ext uri="{A12FA001-AC4F-418D-AE19-62706E023703}">
                      <ahyp:hlinkClr xmlns:ahyp="http://schemas.microsoft.com/office/drawing/2018/hyperlinkcolor" val="tx"/>
                    </a:ext>
                  </a:extLst>
                </a:hlinkClick>
              </a:rPr>
              <a:t>v1.16.2(2026-09-09)</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Bug Fixes</a:t>
            </a:r>
          </a:p>
          <a:p>
            <a:pPr>
              <a:lnSpc>
                <a:spcPct val="150000"/>
              </a:lnSpc>
              <a:spcAft>
                <a:spcPts val="600"/>
              </a:spcAft>
              <a:defRPr/>
            </a:pPr>
            <a:r>
              <a:rPr lang="en-US" sz="800" b="1">
                <a:solidFill>
                  <a:srgbClr val="8B85FF"/>
                </a:solidFill>
                <a:latin typeface="Inter"/>
                <a:ea typeface="Inter"/>
                <a:cs typeface="Poppins"/>
                <a:hlinkClick r:id="rId23">
                  <a:extLst>
                    <a:ext uri="{A12FA001-AC4F-418D-AE19-62706E023703}">
                      <ahyp:hlinkClr xmlns:ahyp="http://schemas.microsoft.com/office/drawing/2018/hyperlinkcolor" val="tx"/>
                    </a:ext>
                  </a:extLst>
                </a:hlinkClick>
              </a:rPr>
              <a:t>v1.16.1 (2026-09-02)</a:t>
            </a:r>
            <a:endParaRPr lang="en-US" sz="800" b="1">
              <a:solidFill>
                <a:srgbClr val="8B85FF"/>
              </a:solidFill>
              <a:latin typeface="Inter"/>
              <a:ea typeface="Inter"/>
              <a:cs typeface="Poppins"/>
            </a:endParaRPr>
          </a:p>
          <a:p>
            <a:pPr marL="171450" indent="-171450">
              <a:lnSpc>
                <a:spcPct val="150000"/>
              </a:lnSpc>
              <a:spcAft>
                <a:spcPts val="600"/>
              </a:spcAft>
              <a:buClr>
                <a:srgbClr val="7D83FF"/>
              </a:buClr>
              <a:buSzPct val="150000"/>
              <a:buFont typeface="Arial"/>
              <a:buChar char="•"/>
              <a:defRPr/>
            </a:pPr>
            <a:r>
              <a:rPr lang="en-US" sz="650">
                <a:solidFill>
                  <a:prstClr val="black"/>
                </a:solidFill>
                <a:latin typeface="Inter" panose="02000503000000020004" pitchFamily="2" charset="0"/>
                <a:ea typeface="Inter" panose="02000503000000020004" pitchFamily="2" charset="0"/>
                <a:cs typeface="Poppins"/>
              </a:rPr>
              <a:t>Bug Fixes</a:t>
            </a:r>
          </a:p>
          <a:p>
            <a:pPr>
              <a:lnSpc>
                <a:spcPct val="150000"/>
              </a:lnSpc>
              <a:spcAft>
                <a:spcPts val="600"/>
              </a:spcAft>
              <a:buClr>
                <a:srgbClr val="7D83FF"/>
              </a:buClr>
              <a:buSzPct val="150000"/>
              <a:defRPr/>
            </a:pPr>
            <a:endParaRPr lang="en-US" sz="650">
              <a:solidFill>
                <a:prstClr val="black"/>
              </a:solidFill>
              <a:latin typeface="Inter" panose="02000503000000020004" pitchFamily="2" charset="0"/>
              <a:ea typeface="Inter" panose="02000503000000020004" pitchFamily="2" charset="0"/>
              <a:cs typeface="Poppins"/>
            </a:endParaRPr>
          </a:p>
        </p:txBody>
      </p:sp>
      <p:pic>
        <p:nvPicPr>
          <p:cNvPr id="4" name="Picture 3">
            <a:extLst>
              <a:ext uri="{FF2B5EF4-FFF2-40B4-BE49-F238E27FC236}">
                <a16:creationId xmlns:a16="http://schemas.microsoft.com/office/drawing/2014/main" id="{3A7DD9AE-1342-FDEC-DB69-0811DFF046BD}"/>
              </a:ext>
            </a:extLst>
          </p:cNvPr>
          <p:cNvPicPr>
            <a:picLocks noChangeAspect="1"/>
          </p:cNvPicPr>
          <p:nvPr/>
        </p:nvPicPr>
        <p:blipFill>
          <a:blip r:embed="rId24"/>
          <a:stretch>
            <a:fillRect/>
          </a:stretch>
        </p:blipFill>
        <p:spPr>
          <a:xfrm>
            <a:off x="6796155" y="360457"/>
            <a:ext cx="1814804" cy="370683"/>
          </a:xfrm>
          <a:prstGeom prst="rect">
            <a:avLst/>
          </a:prstGeom>
        </p:spPr>
      </p:pic>
    </p:spTree>
    <p:extLst>
      <p:ext uri="{BB962C8B-B14F-4D97-AF65-F5344CB8AC3E}">
        <p14:creationId xmlns:p14="http://schemas.microsoft.com/office/powerpoint/2010/main" val="3558375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uto-pptx:terraform-enterprise-releases">
    <p:spTree>
      <p:nvGrpSpPr>
        <p:cNvPr id="1" name="">
          <a:extLst>
            <a:ext uri="{FF2B5EF4-FFF2-40B4-BE49-F238E27FC236}">
              <a16:creationId xmlns:a16="http://schemas.microsoft.com/office/drawing/2014/main" id="{7C72AFB4-8D77-BDE4-8F57-48B5E566F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97254-91AC-EB2B-8C95-FD4A2F00987F}"/>
              </a:ext>
            </a:extLst>
          </p:cNvPr>
          <p:cNvSpPr>
            <a:spLocks noGrp="1"/>
          </p:cNvSpPr>
          <p:nvPr>
            <p:ph type="title"/>
          </p:nvPr>
        </p:nvSpPr>
        <p:spPr/>
        <p:txBody>
          <a:bodyPr/>
          <a:lstStyle/>
          <a:p>
            <a:r>
              <a:rPr lang="en-US">
                <a:gradFill>
                  <a:gsLst>
                    <a:gs pos="0">
                      <a:srgbClr val="6C81FF"/>
                    </a:gs>
                    <a:gs pos="35000">
                      <a:srgbClr val="C08DFF"/>
                    </a:gs>
                    <a:gs pos="75000">
                      <a:srgbClr val="FF8791"/>
                    </a:gs>
                    <a:gs pos="100000">
                      <a:srgbClr val="F9B571"/>
                    </a:gs>
                  </a:gsLst>
                  <a:lin ang="2700000" scaled="0"/>
                </a:gradFill>
              </a:rPr>
              <a:t>Terraform Enterprise Upgrades</a:t>
            </a:r>
          </a:p>
        </p:txBody>
      </p:sp>
      <p:sp>
        <p:nvSpPr>
          <p:cNvPr id="3" name="Subtitle 2">
            <a:extLst>
              <a:ext uri="{FF2B5EF4-FFF2-40B4-BE49-F238E27FC236}">
                <a16:creationId xmlns:a16="http://schemas.microsoft.com/office/drawing/2014/main" id="{751FA415-352B-2F51-B328-1058C8347D81}"/>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2"/>
              </a:rPr>
              <a:t>Terraform Releases</a:t>
            </a:r>
            <a:r>
              <a:rPr lang="en-US">
                <a:latin typeface="Inter Light"/>
                <a:cs typeface="Inter Light"/>
              </a:rPr>
              <a:t xml:space="preserve"> </a:t>
            </a:r>
            <a:endParaRPr lang="en-US"/>
          </a:p>
        </p:txBody>
      </p:sp>
      <p:sp>
        <p:nvSpPr>
          <p:cNvPr id="7" name="Google Shape;1260;p168">
            <a:extLst>
              <a:ext uri="{FF2B5EF4-FFF2-40B4-BE49-F238E27FC236}">
                <a16:creationId xmlns:a16="http://schemas.microsoft.com/office/drawing/2014/main" id="{9777CFFB-BCAA-1E35-85A2-FCFFB07A7E13}"/>
              </a:ext>
            </a:extLst>
          </p:cNvPr>
          <p:cNvSpPr/>
          <p:nvPr/>
        </p:nvSpPr>
        <p:spPr>
          <a:xfrm>
            <a:off x="5984637" y="1233166"/>
            <a:ext cx="2626322" cy="201000"/>
          </a:xfrm>
          <a:prstGeom prst="chevron">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algn="ctr"/>
            <a:r>
              <a:rPr lang="en" sz="800">
                <a:latin typeface="Inter"/>
                <a:ea typeface="Inter"/>
                <a:sym typeface="Poppins"/>
              </a:rPr>
              <a:t>September</a:t>
            </a:r>
            <a:endParaRPr sz="800">
              <a:latin typeface="Inter" panose="02000503000000020004" pitchFamily="2" charset="0"/>
              <a:sym typeface="Poppins"/>
            </a:endParaRPr>
          </a:p>
        </p:txBody>
      </p:sp>
      <p:sp>
        <p:nvSpPr>
          <p:cNvPr id="8" name="Google Shape;1261;p168">
            <a:extLst>
              <a:ext uri="{FF2B5EF4-FFF2-40B4-BE49-F238E27FC236}">
                <a16:creationId xmlns:a16="http://schemas.microsoft.com/office/drawing/2014/main" id="{2F14BEC4-BE4C-6750-C830-E19A0E9F1F41}"/>
              </a:ext>
            </a:extLst>
          </p:cNvPr>
          <p:cNvSpPr/>
          <p:nvPr/>
        </p:nvSpPr>
        <p:spPr>
          <a:xfrm>
            <a:off x="617776" y="1222884"/>
            <a:ext cx="2626340" cy="201000"/>
          </a:xfrm>
          <a:prstGeom prst="homePlate">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a:latin typeface="Inter" panose="02000503000000020004" pitchFamily="2" charset="0"/>
                <a:sym typeface="Poppins"/>
              </a:rPr>
              <a:t>July</a:t>
            </a:r>
            <a:endParaRPr sz="800">
              <a:latin typeface="Inter" panose="02000503000000020004" pitchFamily="2" charset="0"/>
              <a:sym typeface="Poppins"/>
            </a:endParaRPr>
          </a:p>
        </p:txBody>
      </p:sp>
      <p:sp>
        <p:nvSpPr>
          <p:cNvPr id="10" name="Google Shape;1262;p168">
            <a:extLst>
              <a:ext uri="{FF2B5EF4-FFF2-40B4-BE49-F238E27FC236}">
                <a16:creationId xmlns:a16="http://schemas.microsoft.com/office/drawing/2014/main" id="{3FAE9286-1FB2-4C64-5D52-1D43B5CD9F4A}"/>
              </a:ext>
            </a:extLst>
          </p:cNvPr>
          <p:cNvSpPr/>
          <p:nvPr/>
        </p:nvSpPr>
        <p:spPr>
          <a:xfrm>
            <a:off x="3301212" y="1227738"/>
            <a:ext cx="2626329" cy="201000"/>
          </a:xfrm>
          <a:prstGeom prst="chevron">
            <a:avLst>
              <a:gd name="adj" fmla="val 50000"/>
            </a:avLst>
          </a:prstGeom>
          <a:noFill/>
          <a:ln w="9525" cap="flat" cmpd="sng">
            <a:solidFill>
              <a:srgbClr val="C08DFF"/>
            </a:solidFill>
            <a:prstDash val="solid"/>
            <a:round/>
            <a:headEnd type="none" w="med" len="med"/>
            <a:tailEnd type="none" w="med" len="med"/>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August</a:t>
            </a:r>
            <a:endParaRPr sz="800">
              <a:latin typeface="Inter" panose="02000503000000020004" pitchFamily="2" charset="0"/>
              <a:sym typeface="Poppins"/>
            </a:endParaRPr>
          </a:p>
        </p:txBody>
      </p:sp>
      <p:sp>
        <p:nvSpPr>
          <p:cNvPr id="17" name="Google Shape;397;p78">
            <a:extLst>
              <a:ext uri="{FF2B5EF4-FFF2-40B4-BE49-F238E27FC236}">
                <a16:creationId xmlns:a16="http://schemas.microsoft.com/office/drawing/2014/main" id="{1F0D7654-FF63-389B-4EF5-5799770315EB}"/>
              </a:ext>
            </a:extLst>
          </p:cNvPr>
          <p:cNvSpPr/>
          <p:nvPr/>
        </p:nvSpPr>
        <p:spPr>
          <a:xfrm>
            <a:off x="61777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3">
                  <a:extLst>
                    <a:ext uri="{A12FA001-AC4F-418D-AE19-62706E023703}">
                      <ahyp:hlinkClr xmlns:ahyp="http://schemas.microsoft.com/office/drawing/2018/hyperlinkcolor" val="tx"/>
                    </a:ext>
                  </a:extLst>
                </a:hlinkClick>
              </a:rPr>
              <a:t>Terraform Enterprise v1.2.4 (2026-07-06)</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Focuses on security hardening, addressing vulnerabilities and strengthening content boundary enforcement for VCS-based module ingestion, including remediation for CVE-2026-14468</a:t>
            </a:r>
            <a:endParaRPr lang="en-US" sz="800" b="1">
              <a:solidFill>
                <a:srgbClr val="8B85FF"/>
              </a:solidFill>
              <a:latin typeface="Inter" panose="02000503000000020004" pitchFamily="2" charset="0"/>
              <a:ea typeface="Inter" panose="02000503000000020004" pitchFamily="2" charset="0"/>
              <a:cs typeface="Poppins"/>
              <a:hlinkClick r:id="rId4">
                <a:extLst>
                  <a:ext uri="{A12FA001-AC4F-418D-AE19-62706E023703}">
                    <ahyp:hlinkClr xmlns:ahyp="http://schemas.microsoft.com/office/drawing/2018/hyperlinkcolor" val="tx"/>
                  </a:ext>
                </a:extLst>
              </a:hlinkClick>
            </a:endParaRPr>
          </a:p>
        </p:txBody>
      </p:sp>
      <p:sp>
        <p:nvSpPr>
          <p:cNvPr id="18" name="Google Shape;397;p78">
            <a:extLst>
              <a:ext uri="{FF2B5EF4-FFF2-40B4-BE49-F238E27FC236}">
                <a16:creationId xmlns:a16="http://schemas.microsoft.com/office/drawing/2014/main" id="{E133CE45-61F6-79B4-B83D-F8252C39FCC2}"/>
              </a:ext>
            </a:extLst>
          </p:cNvPr>
          <p:cNvSpPr/>
          <p:nvPr/>
        </p:nvSpPr>
        <p:spPr>
          <a:xfrm>
            <a:off x="330530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5">
                  <a:extLst>
                    <a:ext uri="{A12FA001-AC4F-418D-AE19-62706E023703}">
                      <ahyp:hlinkClr xmlns:ahyp="http://schemas.microsoft.com/office/drawing/2018/hyperlinkcolor" val="tx"/>
                    </a:ext>
                  </a:extLst>
                </a:hlinkClick>
              </a:rPr>
              <a:t>Terraform Enterprise v2.0.5 (2026-08-06)</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Delivers targeted reliability, identity and integration improvements, addressing SCIM synchronization with Microsoft Entra ID, GitHub Enterprise Cloud workflows, private registry processing, and security vulnerabilities.</a:t>
            </a:r>
            <a:endParaRPr lang="en-US" sz="650">
              <a:latin typeface="Inter" panose="02000503000000020004" pitchFamily="2" charset="0"/>
              <a:ea typeface="Inter" panose="02000503000000020004" pitchFamily="2" charset="0"/>
              <a:cs typeface="Poppins"/>
              <a:sym typeface="Arial"/>
            </a:endParaRPr>
          </a:p>
        </p:txBody>
      </p:sp>
      <p:sp>
        <p:nvSpPr>
          <p:cNvPr id="19" name="Google Shape;397;p78">
            <a:extLst>
              <a:ext uri="{FF2B5EF4-FFF2-40B4-BE49-F238E27FC236}">
                <a16:creationId xmlns:a16="http://schemas.microsoft.com/office/drawing/2014/main" id="{3CE55B9C-0D5A-EACE-D867-52D2FB44297C}"/>
              </a:ext>
            </a:extLst>
          </p:cNvPr>
          <p:cNvSpPr/>
          <p:nvPr/>
        </p:nvSpPr>
        <p:spPr>
          <a:xfrm>
            <a:off x="5992837"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6">
                  <a:extLst>
                    <a:ext uri="{A12FA001-AC4F-418D-AE19-62706E023703}">
                      <ahyp:hlinkClr xmlns:ahyp="http://schemas.microsoft.com/office/drawing/2018/hyperlinkcolor" val="tx"/>
                    </a:ext>
                  </a:extLst>
                </a:hlinkClick>
              </a:rPr>
              <a:t>Terraform Enterprise v2.0.8 (2026-09-23)</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 xml:space="preserve">Improves deployment reliability by fixing </a:t>
            </a:r>
            <a:r>
              <a:rPr lang="en-US" sz="650" err="1">
                <a:latin typeface="Inter" panose="02000503000000020004" pitchFamily="2" charset="0"/>
                <a:ea typeface="Inter" panose="02000503000000020004" pitchFamily="2" charset="0"/>
                <a:cs typeface="Poppins"/>
              </a:rPr>
              <a:t>Sidekiq</a:t>
            </a:r>
            <a:r>
              <a:rPr lang="en-US" sz="650">
                <a:latin typeface="Inter" panose="02000503000000020004" pitchFamily="2" charset="0"/>
                <a:ea typeface="Inter" panose="02000503000000020004" pitchFamily="2" charset="0"/>
                <a:cs typeface="Poppins"/>
              </a:rPr>
              <a:t xml:space="preserve"> startup failures when using a separate Redis instance with </a:t>
            </a:r>
            <a:r>
              <a:rPr lang="en-US" sz="650" err="1">
                <a:latin typeface="Inter" panose="02000503000000020004" pitchFamily="2" charset="0"/>
                <a:ea typeface="Inter" panose="02000503000000020004" pitchFamily="2" charset="0"/>
                <a:cs typeface="Poppins"/>
              </a:rPr>
              <a:t>mTLS</a:t>
            </a:r>
            <a:r>
              <a:rPr lang="en-US" sz="650">
                <a:latin typeface="Inter" panose="02000503000000020004" pitchFamily="2" charset="0"/>
                <a:ea typeface="Inter" panose="02000503000000020004" pitchFamily="2" charset="0"/>
                <a:cs typeface="Poppins"/>
              </a:rPr>
              <a:t xml:space="preserve"> and password authentication. </a:t>
            </a:r>
            <a:endParaRPr lang="en-US" sz="800" b="1">
              <a:solidFill>
                <a:srgbClr val="8B85FF"/>
              </a:solidFill>
              <a:latin typeface="Inter" panose="02000503000000020004" pitchFamily="2" charset="0"/>
              <a:ea typeface="Inter" panose="02000503000000020004" pitchFamily="2" charset="0"/>
              <a:cs typeface="Poppins"/>
              <a:hlinkClick r:id="rId7">
                <a:extLst>
                  <a:ext uri="{A12FA001-AC4F-418D-AE19-62706E023703}">
                    <ahyp:hlinkClr xmlns:ahyp="http://schemas.microsoft.com/office/drawing/2018/hyperlinkcolor" val="tx"/>
                  </a:ext>
                </a:extLst>
              </a:hlinkClick>
            </a:endParaRPr>
          </a:p>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7">
                  <a:extLst>
                    <a:ext uri="{A12FA001-AC4F-418D-AE19-62706E023703}">
                      <ahyp:hlinkClr xmlns:ahyp="http://schemas.microsoft.com/office/drawing/2018/hyperlinkcolor" val="tx"/>
                    </a:ext>
                  </a:extLst>
                </a:hlinkClick>
              </a:rPr>
              <a:t>Terraform Enterprise v2.0.7 (2026-09-18)</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 xml:space="preserve">Strengthens VCS integrations and Terraform 1.15 compatibility while improving drift detection, connectivity, and overall platform security. </a:t>
            </a:r>
            <a:endParaRPr lang="en-US" sz="800" b="1">
              <a:solidFill>
                <a:srgbClr val="8B85FF"/>
              </a:solidFill>
              <a:latin typeface="Inter" panose="02000503000000020004" pitchFamily="2" charset="0"/>
              <a:ea typeface="Inter" panose="02000503000000020004" pitchFamily="2" charset="0"/>
              <a:cs typeface="Poppins"/>
              <a:hlinkClick r:id="rId8">
                <a:extLst>
                  <a:ext uri="{A12FA001-AC4F-418D-AE19-62706E023703}">
                    <ahyp:hlinkClr xmlns:ahyp="http://schemas.microsoft.com/office/drawing/2018/hyperlinkcolor" val="tx"/>
                  </a:ext>
                </a:extLst>
              </a:hlinkClick>
            </a:endParaRPr>
          </a:p>
          <a:p>
            <a:pPr>
              <a:spcAft>
                <a:spcPts val="600"/>
              </a:spcAft>
              <a:buClr>
                <a:srgbClr val="8B85FF"/>
              </a:buClr>
              <a:buSzPct val="150000"/>
            </a:pPr>
            <a:r>
              <a:rPr lang="en-US" sz="800" b="1">
                <a:solidFill>
                  <a:srgbClr val="8B85FF"/>
                </a:solidFill>
                <a:latin typeface="Inter" panose="02000503000000020004" pitchFamily="2" charset="0"/>
                <a:ea typeface="Inter" panose="02000503000000020004" pitchFamily="2" charset="0"/>
                <a:cs typeface="Poppins"/>
                <a:hlinkClick r:id="rId8">
                  <a:extLst>
                    <a:ext uri="{A12FA001-AC4F-418D-AE19-62706E023703}">
                      <ahyp:hlinkClr xmlns:ahyp="http://schemas.microsoft.com/office/drawing/2018/hyperlinkcolor" val="tx"/>
                    </a:ext>
                  </a:extLst>
                </a:hlinkClick>
              </a:rPr>
              <a:t>Terraform Enterprise v2.0.6 (2026-09-01)</a:t>
            </a:r>
            <a:endParaRPr lang="en-US" sz="800" b="1">
              <a:solidFill>
                <a:srgbClr val="8B85FF"/>
              </a:solidFill>
              <a:latin typeface="Inter" panose="02000503000000020004" pitchFamily="2" charset="0"/>
              <a:ea typeface="Inter" panose="02000503000000020004" pitchFamily="2" charset="0"/>
              <a:cs typeface="Poppins"/>
            </a:endParaRPr>
          </a:p>
          <a:p>
            <a:pPr marL="171450" lvl="1" indent="-171450">
              <a:spcAft>
                <a:spcPts val="600"/>
              </a:spcAft>
              <a:buClr>
                <a:srgbClr val="8B85FF"/>
              </a:buClr>
              <a:buSzPct val="150000"/>
              <a:buFont typeface="Arial" panose="020B0604020202020204" pitchFamily="34" charset="0"/>
              <a:buChar char="•"/>
            </a:pPr>
            <a:r>
              <a:rPr lang="en-US" sz="650">
                <a:latin typeface="Inter" panose="02000503000000020004" pitchFamily="2" charset="0"/>
                <a:ea typeface="Inter" panose="02000503000000020004" pitchFamily="2" charset="0"/>
                <a:cs typeface="Poppins"/>
              </a:rPr>
              <a:t xml:space="preserve">Focused maintenance release that improves operational flexibility and platform reliability, while strengthening security and addressing issues across VCS operations, Terraform Stacks, Explorer, and multi-architecture deployments. </a:t>
            </a:r>
            <a:endParaRPr lang="en-US" sz="800" b="1">
              <a:solidFill>
                <a:srgbClr val="8B85FF"/>
              </a:solidFill>
              <a:latin typeface="Inter" panose="02000503000000020004" pitchFamily="2" charset="0"/>
              <a:ea typeface="Inter" panose="02000503000000020004" pitchFamily="2" charset="0"/>
              <a:cs typeface="Poppins"/>
              <a:hlinkClick r:id="rId4">
                <a:extLst>
                  <a:ext uri="{A12FA001-AC4F-418D-AE19-62706E023703}">
                    <ahyp:hlinkClr xmlns:ahyp="http://schemas.microsoft.com/office/drawing/2018/hyperlinkcolor" val="tx"/>
                  </a:ext>
                </a:extLst>
              </a:hlinkClick>
            </a:endParaRPr>
          </a:p>
          <a:p>
            <a:pPr lvl="0">
              <a:spcAft>
                <a:spcPts val="600"/>
              </a:spcAft>
              <a:buClr>
                <a:srgbClr val="8B85FF"/>
              </a:buClr>
              <a:buSzPct val="150000"/>
              <a:defRPr/>
            </a:pPr>
            <a:endParaRPr lang="en-US" sz="650">
              <a:latin typeface="Inter" panose="02000503000000020004" pitchFamily="2" charset="0"/>
              <a:ea typeface="Inter" panose="02000503000000020004" pitchFamily="2" charset="0"/>
              <a:cs typeface="Poppins"/>
            </a:endParaRPr>
          </a:p>
        </p:txBody>
      </p:sp>
      <p:pic>
        <p:nvPicPr>
          <p:cNvPr id="4" name="Google Shape;1019;p131">
            <a:extLst>
              <a:ext uri="{FF2B5EF4-FFF2-40B4-BE49-F238E27FC236}">
                <a16:creationId xmlns:a16="http://schemas.microsoft.com/office/drawing/2014/main" id="{70702414-BFDF-4F82-E956-C9030EF85AA9}"/>
              </a:ext>
            </a:extLst>
          </p:cNvPr>
          <p:cNvPicPr preferRelativeResize="0"/>
          <p:nvPr/>
        </p:nvPicPr>
        <p:blipFill>
          <a:blip r:embed="rId9"/>
          <a:srcRect/>
          <a:stretch/>
        </p:blipFill>
        <p:spPr>
          <a:xfrm>
            <a:off x="6526188" y="366870"/>
            <a:ext cx="2189168" cy="347308"/>
          </a:xfrm>
          <a:prstGeom prst="rect">
            <a:avLst/>
          </a:prstGeom>
          <a:noFill/>
          <a:ln>
            <a:noFill/>
          </a:ln>
        </p:spPr>
      </p:pic>
    </p:spTree>
    <p:extLst>
      <p:ext uri="{BB962C8B-B14F-4D97-AF65-F5344CB8AC3E}">
        <p14:creationId xmlns:p14="http://schemas.microsoft.com/office/powerpoint/2010/main" val="327774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uto-pptx:hcp-terraform-changelog">
    <p:spTree>
      <p:nvGrpSpPr>
        <p:cNvPr id="1" name="">
          <a:extLst>
            <a:ext uri="{FF2B5EF4-FFF2-40B4-BE49-F238E27FC236}">
              <a16:creationId xmlns:a16="http://schemas.microsoft.com/office/drawing/2014/main" id="{738A0251-5235-BF18-1B1A-85EB2EA71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D89B0-0B00-43CE-4B31-5DDF6F20D2FB}"/>
              </a:ext>
            </a:extLst>
          </p:cNvPr>
          <p:cNvSpPr>
            <a:spLocks noGrp="1"/>
          </p:cNvSpPr>
          <p:nvPr>
            <p:ph type="title"/>
          </p:nvPr>
        </p:nvSpPr>
        <p:spPr/>
        <p:txBody>
          <a:bodyPr/>
          <a:lstStyle/>
          <a:p>
            <a:r>
              <a:rPr lang="en-US">
                <a:gradFill>
                  <a:gsLst>
                    <a:gs pos="0">
                      <a:srgbClr val="6C81FF"/>
                    </a:gs>
                    <a:gs pos="35000">
                      <a:srgbClr val="C08DFF"/>
                    </a:gs>
                    <a:gs pos="75000">
                      <a:srgbClr val="FF8791"/>
                    </a:gs>
                    <a:gs pos="100000">
                      <a:srgbClr val="F9B571"/>
                    </a:gs>
                  </a:gsLst>
                  <a:lin ang="2700000" scaled="0"/>
                </a:gradFill>
              </a:rPr>
              <a:t>HCP Terraform Upgrades</a:t>
            </a:r>
          </a:p>
        </p:txBody>
      </p:sp>
      <p:pic>
        <p:nvPicPr>
          <p:cNvPr id="9" name="Picture 8" descr="A black background with white text&#10;&#10;AI-generated content may be incorrect.">
            <a:extLst>
              <a:ext uri="{FF2B5EF4-FFF2-40B4-BE49-F238E27FC236}">
                <a16:creationId xmlns:a16="http://schemas.microsoft.com/office/drawing/2014/main" id="{EB9E33A7-3803-81E5-62AD-672CC7310CDC}"/>
              </a:ext>
            </a:extLst>
          </p:cNvPr>
          <p:cNvPicPr>
            <a:picLocks noChangeAspect="1"/>
          </p:cNvPicPr>
          <p:nvPr/>
        </p:nvPicPr>
        <p:blipFill>
          <a:blip r:embed="rId2"/>
          <a:stretch>
            <a:fillRect/>
          </a:stretch>
        </p:blipFill>
        <p:spPr>
          <a:xfrm>
            <a:off x="6919794" y="356847"/>
            <a:ext cx="1801773" cy="368544"/>
          </a:xfrm>
          <a:prstGeom prst="rect">
            <a:avLst/>
          </a:prstGeom>
        </p:spPr>
      </p:pic>
      <p:sp>
        <p:nvSpPr>
          <p:cNvPr id="3" name="Subtitle 2">
            <a:extLst>
              <a:ext uri="{FF2B5EF4-FFF2-40B4-BE49-F238E27FC236}">
                <a16:creationId xmlns:a16="http://schemas.microsoft.com/office/drawing/2014/main" id="{B54490A6-B247-3C9B-CA3D-F9E3AE655B81}"/>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3"/>
              </a:rPr>
              <a:t>Terraform Releases</a:t>
            </a:r>
            <a:r>
              <a:rPr lang="en-US">
                <a:latin typeface="Inter Light"/>
                <a:cs typeface="Inter Light"/>
              </a:rPr>
              <a:t xml:space="preserve"> </a:t>
            </a:r>
            <a:endParaRPr lang="en-US"/>
          </a:p>
        </p:txBody>
      </p:sp>
      <p:sp>
        <p:nvSpPr>
          <p:cNvPr id="7" name="Google Shape;1260;p168">
            <a:extLst>
              <a:ext uri="{FF2B5EF4-FFF2-40B4-BE49-F238E27FC236}">
                <a16:creationId xmlns:a16="http://schemas.microsoft.com/office/drawing/2014/main" id="{40653DFA-5CD7-7047-FBC2-DE348E1D0527}"/>
              </a:ext>
            </a:extLst>
          </p:cNvPr>
          <p:cNvSpPr/>
          <p:nvPr/>
        </p:nvSpPr>
        <p:spPr>
          <a:xfrm>
            <a:off x="5984637" y="1233166"/>
            <a:ext cx="2626322" cy="201000"/>
          </a:xfrm>
          <a:prstGeom prst="chevron">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October</a:t>
            </a:r>
            <a:endParaRPr sz="800">
              <a:latin typeface="Inter" panose="02000503000000020004" pitchFamily="2" charset="0"/>
              <a:sym typeface="Poppins"/>
            </a:endParaRPr>
          </a:p>
        </p:txBody>
      </p:sp>
      <p:sp>
        <p:nvSpPr>
          <p:cNvPr id="8" name="Google Shape;1261;p168">
            <a:extLst>
              <a:ext uri="{FF2B5EF4-FFF2-40B4-BE49-F238E27FC236}">
                <a16:creationId xmlns:a16="http://schemas.microsoft.com/office/drawing/2014/main" id="{38A63786-5129-8530-5354-E977A9DB1D59}"/>
              </a:ext>
            </a:extLst>
          </p:cNvPr>
          <p:cNvSpPr/>
          <p:nvPr/>
        </p:nvSpPr>
        <p:spPr>
          <a:xfrm>
            <a:off x="617776" y="1222884"/>
            <a:ext cx="2626340" cy="201000"/>
          </a:xfrm>
          <a:prstGeom prst="homePlate">
            <a:avLst>
              <a:gd name="adj" fmla="val 50000"/>
            </a:avLst>
          </a:prstGeom>
          <a:noFill/>
          <a:ln w="9525" cap="flat" cmpd="sng">
            <a:solidFill>
              <a:srgbClr val="7D83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a:latin typeface="Inter" panose="02000503000000020004" pitchFamily="2" charset="0"/>
                <a:sym typeface="Poppins"/>
              </a:rPr>
              <a:t>August</a:t>
            </a:r>
            <a:endParaRPr sz="800">
              <a:latin typeface="Inter" panose="02000503000000020004" pitchFamily="2" charset="0"/>
              <a:sym typeface="Poppins"/>
            </a:endParaRPr>
          </a:p>
        </p:txBody>
      </p:sp>
      <p:sp>
        <p:nvSpPr>
          <p:cNvPr id="10" name="Google Shape;1262;p168">
            <a:extLst>
              <a:ext uri="{FF2B5EF4-FFF2-40B4-BE49-F238E27FC236}">
                <a16:creationId xmlns:a16="http://schemas.microsoft.com/office/drawing/2014/main" id="{4B500C74-A48F-44E7-066B-BA3DF4BEA812}"/>
              </a:ext>
            </a:extLst>
          </p:cNvPr>
          <p:cNvSpPr/>
          <p:nvPr/>
        </p:nvSpPr>
        <p:spPr>
          <a:xfrm>
            <a:off x="3301212" y="1227738"/>
            <a:ext cx="2626329" cy="201000"/>
          </a:xfrm>
          <a:prstGeom prst="chevron">
            <a:avLst>
              <a:gd name="adj" fmla="val 50000"/>
            </a:avLst>
          </a:prstGeom>
          <a:noFill/>
          <a:ln w="9525" cap="flat" cmpd="sng">
            <a:solidFill>
              <a:srgbClr val="C08DFF"/>
            </a:solidFill>
            <a:prstDash val="solid"/>
            <a:round/>
            <a:headEnd type="none" w="med" len="med"/>
            <a:tailEnd type="none" w="med" len="med"/>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September</a:t>
            </a:r>
            <a:endParaRPr sz="800">
              <a:latin typeface="Inter" panose="02000503000000020004" pitchFamily="2" charset="0"/>
              <a:sym typeface="Poppins"/>
            </a:endParaRPr>
          </a:p>
        </p:txBody>
      </p:sp>
      <p:sp>
        <p:nvSpPr>
          <p:cNvPr id="18" name="Google Shape;397;p78">
            <a:extLst>
              <a:ext uri="{FF2B5EF4-FFF2-40B4-BE49-F238E27FC236}">
                <a16:creationId xmlns:a16="http://schemas.microsoft.com/office/drawing/2014/main" id="{4DC98E0C-8D67-1376-F1D0-C2146A902467}"/>
              </a:ext>
            </a:extLst>
          </p:cNvPr>
          <p:cNvSpPr/>
          <p:nvPr/>
        </p:nvSpPr>
        <p:spPr>
          <a:xfrm>
            <a:off x="61777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800" b="1" i="0" u="sng" strike="noStrike" kern="1200" cap="none" spc="0" normalizeH="0" baseline="0" noProof="0">
                <a:ln>
                  <a:noFill/>
                </a:ln>
                <a:solidFill>
                  <a:srgbClr val="8B85FF"/>
                </a:solidFill>
                <a:effectLst/>
                <a:uLnTx/>
                <a:uFillTx/>
                <a:latin typeface="Inter"/>
                <a:ea typeface="Inter"/>
                <a:cs typeface="Poppins"/>
                <a:hlinkClick r:id="rId4">
                  <a:extLst>
                    <a:ext uri="{A12FA001-AC4F-418D-AE19-62706E023703}">
                      <ahyp:hlinkClr xmlns:ahyp="http://schemas.microsoft.com/office/drawing/2018/hyperlinkcolor" val="tx"/>
                    </a:ext>
                  </a:extLst>
                </a:hlinkClick>
              </a:rPr>
              <a:t>2026-08-28</a:t>
            </a:r>
            <a:endParaRPr kumimoji="0" lang="en-US" sz="800" b="1" i="0" u="sng" strike="noStrike" kern="1200" cap="none" spc="0" normalizeH="0" baseline="0" noProof="0">
              <a:ln>
                <a:noFill/>
              </a:ln>
              <a:solidFill>
                <a:srgbClr val="8B85FF"/>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Manage team tokens with bulk deletion and filters for active, expired, expiring in 7 or 30 days, and no expiration.</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800" b="1" i="0" u="sng" strike="noStrike" kern="1200" cap="none" spc="0" normalizeH="0" baseline="0" noProof="0">
                <a:ln>
                  <a:noFill/>
                </a:ln>
                <a:solidFill>
                  <a:srgbClr val="8B85FF"/>
                </a:solidFill>
                <a:effectLst/>
                <a:uLnTx/>
                <a:uFillTx/>
                <a:latin typeface="Inter"/>
                <a:ea typeface="Inter"/>
                <a:cs typeface="Poppins"/>
                <a:hlinkClick r:id="rId5">
                  <a:extLst>
                    <a:ext uri="{A12FA001-AC4F-418D-AE19-62706E023703}">
                      <ahyp:hlinkClr xmlns:ahyp="http://schemas.microsoft.com/office/drawing/2018/hyperlinkcolor" val="tx"/>
                    </a:ext>
                  </a:extLst>
                </a:hlinkClick>
              </a:rPr>
              <a:t>2026-08-25</a:t>
            </a:r>
            <a:endParaRPr kumimoji="0" lang="en-US" sz="800" b="1" i="0" u="sng" strike="noStrike" kern="1200" cap="none" spc="0" normalizeH="0" baseline="0" noProof="0">
              <a:ln>
                <a:noFill/>
              </a:ln>
              <a:solidFill>
                <a:srgbClr val="8B85FF"/>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An Actions dropdown is now available, providing options for Select All, Reset Selection, and Bulk Delete. A warning message and delete confirmation modal have been added to prevent accidental deletions.</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800" b="1" i="0" u="sng" strike="noStrike" kern="1200" cap="none" spc="0" normalizeH="0" baseline="0" noProof="0">
                <a:ln>
                  <a:noFill/>
                </a:ln>
                <a:solidFill>
                  <a:srgbClr val="8B85FF"/>
                </a:solidFill>
                <a:effectLst/>
                <a:uLnTx/>
                <a:uFillTx/>
                <a:latin typeface="Inter"/>
                <a:ea typeface="Inter"/>
                <a:cs typeface="Poppins"/>
                <a:hlinkClick r:id="rId6">
                  <a:extLst>
                    <a:ext uri="{A12FA001-AC4F-418D-AE19-62706E023703}">
                      <ahyp:hlinkClr xmlns:ahyp="http://schemas.microsoft.com/office/drawing/2018/hyperlinkcolor" val="tx"/>
                    </a:ext>
                  </a:extLst>
                </a:hlinkClick>
              </a:rPr>
              <a:t>2026-08-20</a:t>
            </a:r>
            <a:endParaRPr kumimoji="0" lang="en-US" sz="800" b="1" i="0" u="sng" strike="noStrike" kern="1200" cap="none" spc="0" normalizeH="0" baseline="0" noProof="0">
              <a:ln>
                <a:noFill/>
              </a:ln>
              <a:solidFill>
                <a:srgbClr val="8B85FF"/>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The </a:t>
            </a:r>
            <a:r>
              <a:rPr kumimoji="0" lang="en-US" sz="650" b="0" i="0" u="none" strike="noStrike" kern="1200" cap="none" spc="0" normalizeH="0" baseline="0" noProof="0" err="1">
                <a:ln>
                  <a:noFill/>
                </a:ln>
                <a:solidFill>
                  <a:prstClr val="black"/>
                </a:solidFill>
                <a:effectLst/>
                <a:uLnTx/>
                <a:uFillTx/>
                <a:latin typeface="Inter" panose="02000503000000020004" pitchFamily="2" charset="0"/>
                <a:ea typeface="Inter" panose="02000503000000020004" pitchFamily="2" charset="0"/>
                <a:cs typeface="Poppins"/>
              </a:rPr>
              <a:t>add_team</a:t>
            </a: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 and </a:t>
            </a:r>
            <a:r>
              <a:rPr kumimoji="0" lang="en-US" sz="650" b="0" i="0" u="none" strike="noStrike" kern="1200" cap="none" spc="0" normalizeH="0" baseline="0" noProof="0" err="1">
                <a:ln>
                  <a:noFill/>
                </a:ln>
                <a:solidFill>
                  <a:prstClr val="black"/>
                </a:solidFill>
                <a:effectLst/>
                <a:uLnTx/>
                <a:uFillTx/>
                <a:latin typeface="Inter" panose="02000503000000020004" pitchFamily="2" charset="0"/>
                <a:ea typeface="Inter" panose="02000503000000020004" pitchFamily="2" charset="0"/>
                <a:cs typeface="Poppins"/>
              </a:rPr>
              <a:t>remove_team</a:t>
            </a: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 project audit events now include </a:t>
            </a:r>
            <a:r>
              <a:rPr kumimoji="0" lang="en-US" sz="650" b="0" i="0" u="none" strike="noStrike" kern="1200" cap="none" spc="0" normalizeH="0" baseline="0" noProof="0" err="1">
                <a:ln>
                  <a:noFill/>
                </a:ln>
                <a:solidFill>
                  <a:prstClr val="black"/>
                </a:solidFill>
                <a:effectLst/>
                <a:uLnTx/>
                <a:uFillTx/>
                <a:latin typeface="Inter" panose="02000503000000020004" pitchFamily="2" charset="0"/>
                <a:ea typeface="Inter" panose="02000503000000020004" pitchFamily="2" charset="0"/>
                <a:cs typeface="Poppins"/>
              </a:rPr>
              <a:t>team_id</a:t>
            </a: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 </a:t>
            </a:r>
            <a:r>
              <a:rPr kumimoji="0" lang="en-US" sz="650" b="0" i="0" u="none" strike="noStrike" kern="1200" cap="none" spc="0" normalizeH="0" baseline="0" noProof="0" err="1">
                <a:ln>
                  <a:noFill/>
                </a:ln>
                <a:solidFill>
                  <a:prstClr val="black"/>
                </a:solidFill>
                <a:effectLst/>
                <a:uLnTx/>
                <a:uFillTx/>
                <a:latin typeface="Inter" panose="02000503000000020004" pitchFamily="2" charset="0"/>
                <a:ea typeface="Inter" panose="02000503000000020004" pitchFamily="2" charset="0"/>
                <a:cs typeface="Poppins"/>
              </a:rPr>
              <a:t>team_name</a:t>
            </a: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 permissions, and </a:t>
            </a:r>
            <a:r>
              <a:rPr kumimoji="0" lang="en-US" sz="650" b="0" i="0" u="none" strike="noStrike" kern="1200" cap="none" spc="0" normalizeH="0" baseline="0" noProof="0" err="1">
                <a:ln>
                  <a:noFill/>
                </a:ln>
                <a:solidFill>
                  <a:prstClr val="black"/>
                </a:solidFill>
                <a:effectLst/>
                <a:uLnTx/>
                <a:uFillTx/>
                <a:latin typeface="Inter" panose="02000503000000020004" pitchFamily="2" charset="0"/>
                <a:ea typeface="Inter" panose="02000503000000020004" pitchFamily="2" charset="0"/>
                <a:cs typeface="Poppins"/>
              </a:rPr>
              <a:t>project_name</a:t>
            </a: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 ensuring historical records remain reliable even if team names change.</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800" b="1" i="0" u="sng" strike="noStrike" kern="1200" cap="none" spc="0" normalizeH="0" baseline="0" noProof="0">
                <a:ln>
                  <a:noFill/>
                </a:ln>
                <a:solidFill>
                  <a:srgbClr val="8B85FF"/>
                </a:solidFill>
                <a:effectLst/>
                <a:uLnTx/>
                <a:uFillTx/>
                <a:latin typeface="Inter"/>
                <a:ea typeface="Inter"/>
                <a:cs typeface="Poppins"/>
                <a:hlinkClick r:id="rId7">
                  <a:extLst>
                    <a:ext uri="{A12FA001-AC4F-418D-AE19-62706E023703}">
                      <ahyp:hlinkClr xmlns:ahyp="http://schemas.microsoft.com/office/drawing/2018/hyperlinkcolor" val="tx"/>
                    </a:ext>
                  </a:extLst>
                </a:hlinkClick>
              </a:rPr>
              <a:t>2026-08-13</a:t>
            </a:r>
            <a:endParaRPr kumimoji="0" lang="en-US" sz="800" b="1" i="0" u="sng" strike="noStrike" kern="1200" cap="none" spc="0" normalizeH="0" baseline="0" noProof="0">
              <a:ln>
                <a:noFill/>
              </a:ln>
              <a:solidFill>
                <a:srgbClr val="8B85FF"/>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Fixed the display of workspace and project counts in policy set summaries and indexes when the policy set is not a Terraform Policy VCS policy set.</a:t>
            </a: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800" b="1" i="0" u="sng" strike="noStrike" kern="1200" cap="none" spc="0" normalizeH="0" baseline="0" noProof="0">
                <a:ln>
                  <a:noFill/>
                </a:ln>
                <a:solidFill>
                  <a:srgbClr val="8B85FF"/>
                </a:solidFill>
                <a:effectLst/>
                <a:uLnTx/>
                <a:uFillTx/>
                <a:latin typeface="Inter"/>
                <a:ea typeface="Inter"/>
                <a:cs typeface="Poppins"/>
                <a:hlinkClick r:id="rId8">
                  <a:extLst>
                    <a:ext uri="{A12FA001-AC4F-418D-AE19-62706E023703}">
                      <ahyp:hlinkClr xmlns:ahyp="http://schemas.microsoft.com/office/drawing/2018/hyperlinkcolor" val="tx"/>
                    </a:ext>
                  </a:extLst>
                </a:hlinkClick>
              </a:rPr>
              <a:t>2026-08-06</a:t>
            </a:r>
            <a:endParaRPr kumimoji="0" lang="en-US" sz="800" b="1" i="0" u="sng" strike="noStrike" kern="1200" cap="none" spc="0" normalizeH="0" baseline="0" noProof="0">
              <a:ln>
                <a:noFill/>
              </a:ln>
              <a:solidFill>
                <a:srgbClr val="8B85FF"/>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HCP Terraform now sends notification emails when API tokens are nearing expiration (30 days and 7 days.</a:t>
            </a:r>
          </a:p>
          <a:p>
            <a:pPr marL="171450" indent="-171450">
              <a:lnSpc>
                <a:spcPct val="100000"/>
              </a:lnSpc>
              <a:spcAft>
                <a:spcPts val="600"/>
              </a:spcAft>
              <a:buClr>
                <a:srgbClr val="8B85FF"/>
              </a:buClr>
              <a:buSzPct val="150000"/>
              <a:buFont typeface="Arial" panose="020B0604020202020204" pitchFamily="34" charset="0"/>
              <a:buChar char="•"/>
            </a:pPr>
            <a:endParaRPr lang="en-US" sz="650">
              <a:latin typeface="Inter" panose="02000503000000020004" pitchFamily="2" charset="0"/>
              <a:ea typeface="Inter" panose="02000503000000020004" pitchFamily="2" charset="0"/>
              <a:cs typeface="Poppins"/>
              <a:sym typeface="Arial"/>
            </a:endParaRPr>
          </a:p>
        </p:txBody>
      </p:sp>
      <p:sp>
        <p:nvSpPr>
          <p:cNvPr id="19" name="Google Shape;397;p78">
            <a:extLst>
              <a:ext uri="{FF2B5EF4-FFF2-40B4-BE49-F238E27FC236}">
                <a16:creationId xmlns:a16="http://schemas.microsoft.com/office/drawing/2014/main" id="{0B844E2A-AEB1-F1AA-BF29-178E7FBFDB73}"/>
              </a:ext>
            </a:extLst>
          </p:cNvPr>
          <p:cNvSpPr/>
          <p:nvPr/>
        </p:nvSpPr>
        <p:spPr>
          <a:xfrm>
            <a:off x="5992837"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pPr>
            <a:r>
              <a:rPr lang="en-US" sz="800" b="1" u="sng">
                <a:solidFill>
                  <a:srgbClr val="8B85FF"/>
                </a:solidFill>
                <a:latin typeface="Inter"/>
                <a:ea typeface="Inter"/>
                <a:cs typeface="Poppins"/>
                <a:hlinkClick r:id="rId9">
                  <a:extLst>
                    <a:ext uri="{A12FA001-AC4F-418D-AE19-62706E023703}">
                      <ahyp:hlinkClr xmlns:ahyp="http://schemas.microsoft.com/office/drawing/2018/hyperlinkcolor" val="tx"/>
                    </a:ext>
                  </a:extLst>
                </a:hlinkClick>
              </a:rPr>
              <a:t>2026-10-02</a:t>
            </a:r>
            <a:endParaRPr lang="en-US" sz="800" b="1" u="sng">
              <a:solidFill>
                <a:srgbClr val="8B85FF"/>
              </a:solidFill>
              <a:latin typeface="Inter"/>
              <a:ea typeface="Inter"/>
              <a:cs typeface="Poppins"/>
            </a:endParaRPr>
          </a:p>
          <a:p>
            <a:pPr>
              <a:spcAft>
                <a:spcPts val="600"/>
              </a:spcAft>
            </a:pPr>
            <a:r>
              <a:rPr lang="en-US" sz="650">
                <a:solidFill>
                  <a:prstClr val="black"/>
                </a:solidFill>
                <a:latin typeface="Inter" panose="02000503000000020004" pitchFamily="2" charset="0"/>
                <a:ea typeface="Inter" panose="02000503000000020004" pitchFamily="2" charset="0"/>
                <a:cs typeface="Poppins"/>
              </a:rPr>
              <a:t>HCP Terraform now supports Azure DevOps Org scoped Personal Access Tokens, allowing users to connect using tokens scoped to a specific organization, rather than globally. This change enables users to migrate their VCS connections before Microsoft retires global PATs on December 1, 2026.</a:t>
            </a:r>
          </a:p>
          <a:p>
            <a:pPr>
              <a:spcAft>
                <a:spcPts val="600"/>
              </a:spcAft>
            </a:pPr>
            <a:r>
              <a:rPr lang="en-US" sz="800" b="1" u="sng">
                <a:solidFill>
                  <a:srgbClr val="8B85FF"/>
                </a:solidFill>
                <a:latin typeface="Inter"/>
                <a:ea typeface="Inter"/>
                <a:cs typeface="Poppins"/>
                <a:hlinkClick r:id="rId10">
                  <a:extLst>
                    <a:ext uri="{A12FA001-AC4F-418D-AE19-62706E023703}">
                      <ahyp:hlinkClr xmlns:ahyp="http://schemas.microsoft.com/office/drawing/2018/hyperlinkcolor" val="tx"/>
                    </a:ext>
                  </a:extLst>
                </a:hlinkClick>
              </a:rPr>
              <a:t>2026-10-01</a:t>
            </a:r>
            <a:endParaRPr lang="en-US" sz="800" b="1" u="sng">
              <a:solidFill>
                <a:srgbClr val="8B85FF"/>
              </a:solidFill>
              <a:latin typeface="Inter"/>
              <a:ea typeface="Inter"/>
              <a:cs typeface="Poppins"/>
            </a:endParaRPr>
          </a:p>
          <a:p>
            <a:pPr>
              <a:spcAft>
                <a:spcPts val="600"/>
              </a:spcAft>
            </a:pPr>
            <a:r>
              <a:rPr lang="en-US" sz="650">
                <a:solidFill>
                  <a:prstClr val="black"/>
                </a:solidFill>
                <a:latin typeface="Inter" panose="02000503000000020004" pitchFamily="2" charset="0"/>
                <a:ea typeface="Inter" panose="02000503000000020004" pitchFamily="2" charset="0"/>
                <a:cs typeface="Poppins"/>
              </a:rPr>
              <a:t>HCP Terraform expands identity lifecycle management and auditability with SCIM provisioning and richer audit metadata for authentication tokens and SAML configuration changes.</a:t>
            </a:r>
          </a:p>
        </p:txBody>
      </p:sp>
      <p:sp>
        <p:nvSpPr>
          <p:cNvPr id="4" name="Google Shape;397;p78">
            <a:extLst>
              <a:ext uri="{FF2B5EF4-FFF2-40B4-BE49-F238E27FC236}">
                <a16:creationId xmlns:a16="http://schemas.microsoft.com/office/drawing/2014/main" id="{3E9A6903-9F4C-8D2D-1C91-81836B918DB5}"/>
              </a:ext>
            </a:extLst>
          </p:cNvPr>
          <p:cNvSpPr/>
          <p:nvPr/>
        </p:nvSpPr>
        <p:spPr>
          <a:xfrm>
            <a:off x="330530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lang="en-US" sz="800" b="1" u="sng">
                <a:solidFill>
                  <a:srgbClr val="8B85FF"/>
                </a:solidFill>
                <a:latin typeface="Inter"/>
                <a:ea typeface="Inter"/>
                <a:cs typeface="Poppins"/>
                <a:hlinkClick r:id="rId11">
                  <a:extLst>
                    <a:ext uri="{A12FA001-AC4F-418D-AE19-62706E023703}">
                      <ahyp:hlinkClr xmlns:ahyp="http://schemas.microsoft.com/office/drawing/2018/hyperlinkcolor" val="tx"/>
                    </a:ext>
                  </a:extLst>
                </a:hlinkClick>
              </a:rPr>
              <a:t>2026-09-17</a:t>
            </a:r>
            <a:endParaRPr lang="en-US" sz="800" b="1" u="sng">
              <a:solidFill>
                <a:srgbClr val="8B85FF"/>
              </a:solidFill>
              <a:latin typeface="Inter"/>
              <a:ea typeface="Inter"/>
              <a:cs typeface="Poppins"/>
            </a:endParaRPr>
          </a:p>
          <a:p>
            <a:pPr>
              <a:spcAft>
                <a:spcPts val="600"/>
              </a:spcAf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Enhanced team management and auditability with team descriptions and richer, persistent audit metadata across organizations, memberships, permissions, teams, projects, and variable sets..</a:t>
            </a:r>
            <a:endParaRPr lang="en-US" sz="800" b="1" u="sng">
              <a:solidFill>
                <a:srgbClr val="8B85FF"/>
              </a:solidFill>
              <a:latin typeface="Inter"/>
              <a:ea typeface="Inter"/>
              <a:cs typeface="Poppins"/>
              <a:hlinkClick r:id="rId12">
                <a:extLst>
                  <a:ext uri="{A12FA001-AC4F-418D-AE19-62706E023703}">
                    <ahyp:hlinkClr xmlns:ahyp="http://schemas.microsoft.com/office/drawing/2018/hyperlinkcolor" val="tx"/>
                  </a:ext>
                </a:extLst>
              </a:hlinkClick>
            </a:endParaRPr>
          </a:p>
          <a:p>
            <a:pPr>
              <a:spcAft>
                <a:spcPts val="600"/>
              </a:spcAft>
            </a:pPr>
            <a:r>
              <a:rPr lang="en-US" sz="800" b="1" u="sng">
                <a:solidFill>
                  <a:srgbClr val="8B85FF"/>
                </a:solidFill>
                <a:latin typeface="Inter"/>
                <a:ea typeface="Inter"/>
                <a:cs typeface="Poppins"/>
                <a:hlinkClick r:id="rId12">
                  <a:extLst>
                    <a:ext uri="{A12FA001-AC4F-418D-AE19-62706E023703}">
                      <ahyp:hlinkClr xmlns:ahyp="http://schemas.microsoft.com/office/drawing/2018/hyperlinkcolor" val="tx"/>
                    </a:ext>
                  </a:extLst>
                </a:hlinkClick>
              </a:rPr>
              <a:t>2026-09-16</a:t>
            </a:r>
            <a:endParaRPr lang="en-US" sz="800" b="1" u="sng">
              <a:solidFill>
                <a:srgbClr val="8B85FF"/>
              </a:solidFill>
              <a:latin typeface="Inter"/>
              <a:ea typeface="Inter"/>
              <a:cs typeface="Poppins"/>
            </a:endParaRPr>
          </a:p>
          <a:p>
            <a:pPr>
              <a:spcAft>
                <a:spcPts val="600"/>
              </a:spcAft>
            </a:pPr>
            <a:r>
              <a:rPr lang="en-US" sz="650">
                <a:solidFill>
                  <a:prstClr val="black"/>
                </a:solidFill>
                <a:latin typeface="Inter" panose="02000503000000020004" pitchFamily="2" charset="0"/>
                <a:ea typeface="Inter" panose="02000503000000020004" pitchFamily="2" charset="0"/>
                <a:cs typeface="Poppins"/>
              </a:rPr>
              <a:t>The Teams page now includes an "ID" copy link, allowing you to easily copy the team ID for use in other workflows. This addition enhances the usability of the Teams page by providing a quick and convenient way to access the team ID.</a:t>
            </a:r>
          </a:p>
          <a:p>
            <a:pPr>
              <a:spcAft>
                <a:spcPts val="600"/>
              </a:spcAft>
            </a:pPr>
            <a:r>
              <a:rPr lang="en-US" sz="800" b="1" u="sng">
                <a:solidFill>
                  <a:srgbClr val="8B85FF"/>
                </a:solidFill>
                <a:latin typeface="Inter"/>
                <a:ea typeface="Inter"/>
                <a:cs typeface="Poppins"/>
                <a:hlinkClick r:id="rId13">
                  <a:extLst>
                    <a:ext uri="{A12FA001-AC4F-418D-AE19-62706E023703}">
                      <ahyp:hlinkClr xmlns:ahyp="http://schemas.microsoft.com/office/drawing/2018/hyperlinkcolor" val="tx"/>
                    </a:ext>
                  </a:extLst>
                </a:hlinkClick>
              </a:rPr>
              <a:t>2026-09-10</a:t>
            </a:r>
            <a:endParaRPr lang="en-US" sz="800" b="1" u="sng">
              <a:solidFill>
                <a:srgbClr val="8B85FF"/>
              </a:solidFill>
              <a:latin typeface="Inter"/>
              <a:ea typeface="Inter"/>
              <a:cs typeface="Poppins"/>
            </a:endParaRPr>
          </a:p>
          <a:p>
            <a:pPr>
              <a:spcAft>
                <a:spcPts val="600"/>
              </a:spcAft>
            </a:pPr>
            <a:r>
              <a:rPr lang="en-US" sz="650">
                <a:solidFill>
                  <a:prstClr val="black"/>
                </a:solidFill>
                <a:latin typeface="Inter" panose="02000503000000020004" pitchFamily="2" charset="0"/>
                <a:ea typeface="Inter" panose="02000503000000020004" pitchFamily="2" charset="0"/>
                <a:cs typeface="Poppins"/>
              </a:rPr>
              <a:t>Terraform policy can now evaluate policies against Stacks. Evaluations are triggered during a deployment run, and occur post-plan.</a:t>
            </a:r>
          </a:p>
          <a:p>
            <a:pPr>
              <a:spcAft>
                <a:spcPts val="600"/>
              </a:spcAft>
            </a:pPr>
            <a:r>
              <a:rPr lang="en-US" sz="800" b="1" u="sng">
                <a:solidFill>
                  <a:srgbClr val="8B85FF"/>
                </a:solidFill>
                <a:latin typeface="Inter"/>
                <a:ea typeface="Inter"/>
                <a:cs typeface="Poppins"/>
                <a:hlinkClick r:id="rId14">
                  <a:extLst>
                    <a:ext uri="{A12FA001-AC4F-418D-AE19-62706E023703}">
                      <ahyp:hlinkClr xmlns:ahyp="http://schemas.microsoft.com/office/drawing/2018/hyperlinkcolor" val="tx"/>
                    </a:ext>
                  </a:extLst>
                </a:hlinkClick>
              </a:rPr>
              <a:t>2026-09-05</a:t>
            </a:r>
            <a:endParaRPr lang="en-US" sz="800" b="1" u="sng">
              <a:solidFill>
                <a:srgbClr val="8B85FF"/>
              </a:solidFill>
              <a:latin typeface="Inter"/>
              <a:ea typeface="Inter"/>
              <a:cs typeface="Poppins"/>
            </a:endParaRPr>
          </a:p>
          <a:p>
            <a:pPr>
              <a:spcAft>
                <a:spcPts val="600"/>
              </a:spcAft>
            </a:pPr>
            <a:r>
              <a:rPr lang="en-US" sz="650">
                <a:solidFill>
                  <a:prstClr val="black"/>
                </a:solidFill>
                <a:latin typeface="Inter" panose="02000503000000020004" pitchFamily="2" charset="0"/>
                <a:ea typeface="Inter" panose="02000503000000020004" pitchFamily="2" charset="0"/>
                <a:cs typeface="Poppins"/>
              </a:rPr>
              <a:t>Tags are now a valid scope for a policy set. Use matching logic of 'And'/'Or' to specify whether all or just one of the specified tags should be present on a workspace for it to be targeted by a policy set.</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endParaRPr>
          </a:p>
        </p:txBody>
      </p:sp>
    </p:spTree>
    <p:extLst>
      <p:ext uri="{BB962C8B-B14F-4D97-AF65-F5344CB8AC3E}">
        <p14:creationId xmlns:p14="http://schemas.microsoft.com/office/powerpoint/2010/main" val="3664758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auto-pptx:terraform-blogs">
    <p:spTree>
      <p:nvGrpSpPr>
        <p:cNvPr id="1" name="Shape 1190">
          <a:extLst>
            <a:ext uri="{FF2B5EF4-FFF2-40B4-BE49-F238E27FC236}">
              <a16:creationId xmlns:a16="http://schemas.microsoft.com/office/drawing/2014/main" id="{9916FCC4-8F6C-3E51-0B1A-4578C2436EED}"/>
            </a:ext>
          </a:extLst>
        </p:cNvPr>
        <p:cNvGrpSpPr/>
        <p:nvPr/>
      </p:nvGrpSpPr>
      <p:grpSpPr>
        <a:xfrm>
          <a:off x="0" y="0"/>
          <a:ext cx="0" cy="0"/>
          <a:chOff x="0" y="0"/>
          <a:chExt cx="0" cy="0"/>
        </a:xfrm>
      </p:grpSpPr>
      <p:sp>
        <p:nvSpPr>
          <p:cNvPr id="1191" name="Google Shape;1191;g3722ab15d95_0_1497">
            <a:extLst>
              <a:ext uri="{FF2B5EF4-FFF2-40B4-BE49-F238E27FC236}">
                <a16:creationId xmlns:a16="http://schemas.microsoft.com/office/drawing/2014/main" id="{4A23E8DD-BF2A-0296-B647-E7A82BE02416}"/>
              </a:ext>
            </a:extLst>
          </p:cNvPr>
          <p:cNvSpPr txBox="1"/>
          <p:nvPr/>
        </p:nvSpPr>
        <p:spPr>
          <a:xfrm>
            <a:off x="411450" y="368131"/>
            <a:ext cx="8321100" cy="469872"/>
          </a:xfrm>
          <a:prstGeom prst="rect">
            <a:avLst/>
          </a:prstGeom>
          <a:noFill/>
          <a:ln>
            <a:noFill/>
          </a:ln>
        </p:spPr>
        <p:txBody>
          <a:bodyPr spcFirstLastPara="1" wrap="square" lIns="0" tIns="0" rIns="0" bIns="0" anchor="t" anchorCtr="0">
            <a:spAutoFit/>
          </a:bodyPr>
          <a:lstStyle/>
          <a:p>
            <a:pPr marL="0" lvl="0" indent="0" algn="l" rtl="0">
              <a:lnSpc>
                <a:spcPct val="95000"/>
              </a:lnSpc>
              <a:spcBef>
                <a:spcPts val="0"/>
              </a:spcBef>
              <a:spcAft>
                <a:spcPts val="700"/>
              </a:spcAft>
              <a:buNone/>
            </a:pPr>
            <a:r>
              <a:rPr lang="en" sz="2600">
                <a:gradFill>
                  <a:gsLst>
                    <a:gs pos="0">
                      <a:srgbClr val="6C81FF"/>
                    </a:gs>
                    <a:gs pos="35000">
                      <a:srgbClr val="C08DFF"/>
                    </a:gs>
                    <a:gs pos="75000">
                      <a:srgbClr val="FF8791"/>
                    </a:gs>
                    <a:gs pos="100000">
                      <a:srgbClr val="F9B571"/>
                    </a:gs>
                  </a:gsLst>
                  <a:lin ang="2700000" scaled="0"/>
                </a:gradFill>
                <a:latin typeface="Inter SemiBold"/>
                <a:ea typeface="Inter SemiBold"/>
                <a:sym typeface="Inter SemiBold"/>
              </a:rPr>
              <a:t>Terraform Recent Blogs</a:t>
            </a:r>
            <a:endParaRPr lang="en-US" sz="2600">
              <a:gradFill>
                <a:gsLst>
                  <a:gs pos="0">
                    <a:srgbClr val="6C81FF"/>
                  </a:gs>
                  <a:gs pos="35000">
                    <a:srgbClr val="C08DFF"/>
                  </a:gs>
                  <a:gs pos="75000">
                    <a:srgbClr val="FF8791"/>
                  </a:gs>
                  <a:gs pos="100000">
                    <a:srgbClr val="F9B571"/>
                  </a:gs>
                </a:gsLst>
                <a:lin ang="2700000" scaled="0"/>
              </a:gradFill>
              <a:latin typeface="Inter SemiBold"/>
              <a:ea typeface="Inter SemiBold"/>
            </a:endParaRPr>
          </a:p>
        </p:txBody>
      </p:sp>
      <p:pic>
        <p:nvPicPr>
          <p:cNvPr id="3" name="Picture 2">
            <a:extLst>
              <a:ext uri="{FF2B5EF4-FFF2-40B4-BE49-F238E27FC236}">
                <a16:creationId xmlns:a16="http://schemas.microsoft.com/office/drawing/2014/main" id="{F87D000E-FEF2-EE28-6164-F34F0CE8EB5D}"/>
              </a:ext>
            </a:extLst>
          </p:cNvPr>
          <p:cNvPicPr>
            <a:picLocks noChangeAspect="1"/>
          </p:cNvPicPr>
          <p:nvPr/>
        </p:nvPicPr>
        <p:blipFill>
          <a:blip r:embed="rId3"/>
          <a:stretch>
            <a:fillRect/>
          </a:stretch>
        </p:blipFill>
        <p:spPr>
          <a:xfrm>
            <a:off x="7397294" y="280069"/>
            <a:ext cx="1399719" cy="361950"/>
          </a:xfrm>
          <a:prstGeom prst="rect">
            <a:avLst/>
          </a:prstGeom>
        </p:spPr>
      </p:pic>
      <p:sp>
        <p:nvSpPr>
          <p:cNvPr id="6" name="Subtitle 2">
            <a:extLst>
              <a:ext uri="{FF2B5EF4-FFF2-40B4-BE49-F238E27FC236}">
                <a16:creationId xmlns:a16="http://schemas.microsoft.com/office/drawing/2014/main" id="{C07162CB-1C72-7316-FF89-A1F99999CC21}"/>
              </a:ext>
            </a:extLst>
          </p:cNvPr>
          <p:cNvSpPr>
            <a:spLocks noGrp="1"/>
          </p:cNvSpPr>
          <p:nvPr>
            <p:ph type="subTitle" idx="4"/>
          </p:nvPr>
        </p:nvSpPr>
        <p:spPr>
          <a:xfrm>
            <a:off x="411450" y="802046"/>
            <a:ext cx="8321100" cy="246221"/>
          </a:xfrm>
        </p:spPr>
        <p:txBody>
          <a:bodyPr/>
          <a:lstStyle/>
          <a:p>
            <a:r>
              <a:rPr lang="en-US">
                <a:latin typeface="Inter Light"/>
                <a:cs typeface="Inter Light"/>
              </a:rPr>
              <a:t xml:space="preserve">From </a:t>
            </a:r>
            <a:r>
              <a:rPr lang="en-US">
                <a:latin typeface="Inter Light"/>
                <a:cs typeface="Inter Light"/>
                <a:hlinkClick r:id="rId4"/>
              </a:rPr>
              <a:t>Blogs</a:t>
            </a:r>
            <a:endParaRPr lang="en-US"/>
          </a:p>
        </p:txBody>
      </p:sp>
      <p:grpSp>
        <p:nvGrpSpPr>
          <p:cNvPr id="13" name="Group 12">
            <a:extLst>
              <a:ext uri="{FF2B5EF4-FFF2-40B4-BE49-F238E27FC236}">
                <a16:creationId xmlns:a16="http://schemas.microsoft.com/office/drawing/2014/main" id="{433F6763-6799-EC91-9ED1-5C80005A6D9B}"/>
              </a:ext>
            </a:extLst>
          </p:cNvPr>
          <p:cNvGrpSpPr/>
          <p:nvPr/>
        </p:nvGrpSpPr>
        <p:grpSpPr>
          <a:xfrm>
            <a:off x="4670200" y="4116367"/>
            <a:ext cx="3923850" cy="459700"/>
            <a:chOff x="648150" y="1373736"/>
            <a:chExt cx="3923850" cy="459700"/>
          </a:xfrm>
        </p:grpSpPr>
        <p:sp>
          <p:nvSpPr>
            <p:cNvPr id="8" name="TextBox 7">
              <a:extLst>
                <a:ext uri="{FF2B5EF4-FFF2-40B4-BE49-F238E27FC236}">
                  <a16:creationId xmlns:a16="http://schemas.microsoft.com/office/drawing/2014/main" id="{6888404D-2C3E-7003-562C-4E1D33F7F825}"/>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July 23 – </a:t>
              </a:r>
              <a:r>
                <a:rPr lang="en-US" sz="800" b="1">
                  <a:solidFill>
                    <a:srgbClr val="8B85FF"/>
                  </a:solidFill>
                  <a:latin typeface="Inter"/>
                  <a:ea typeface="Inter"/>
                  <a:sym typeface="Poppins"/>
                  <a:hlinkClick r:id="rId5">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a:latin typeface="Inter"/>
                  <a:ea typeface="Inter"/>
                  <a:sym typeface="Poppins"/>
                </a:rPr>
                <a:t xml:space="preserve">Terraform </a:t>
              </a:r>
              <a:r>
                <a:rPr lang="en-US" sz="800" b="1">
                  <a:latin typeface="Inter"/>
                  <a:ea typeface="Inter"/>
                  <a:sym typeface="Poppins"/>
                </a:rPr>
                <a:t>Stacks</a:t>
              </a:r>
              <a:r>
                <a:rPr lang="en-US" sz="800">
                  <a:latin typeface="Inter"/>
                  <a:ea typeface="Inter"/>
                  <a:sym typeface="Poppins"/>
                </a:rPr>
                <a:t>, explained</a:t>
              </a:r>
              <a:endParaRPr lang="en-US" sz="800" b="1">
                <a:latin typeface="Inter"/>
                <a:ea typeface="Inter"/>
                <a:sym typeface="Poppins"/>
              </a:endParaRPr>
            </a:p>
          </p:txBody>
        </p:sp>
        <p:sp>
          <p:nvSpPr>
            <p:cNvPr id="4" name="Google Shape;1344;p135">
              <a:extLst>
                <a:ext uri="{FF2B5EF4-FFF2-40B4-BE49-F238E27FC236}">
                  <a16:creationId xmlns:a16="http://schemas.microsoft.com/office/drawing/2014/main" id="{96E03ED8-9472-D7C3-EE09-801FA733ED53}"/>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7" name="Group 16">
            <a:extLst>
              <a:ext uri="{FF2B5EF4-FFF2-40B4-BE49-F238E27FC236}">
                <a16:creationId xmlns:a16="http://schemas.microsoft.com/office/drawing/2014/main" id="{AF5E6790-B033-A495-97DF-432A353229DC}"/>
              </a:ext>
            </a:extLst>
          </p:cNvPr>
          <p:cNvGrpSpPr/>
          <p:nvPr/>
        </p:nvGrpSpPr>
        <p:grpSpPr>
          <a:xfrm>
            <a:off x="478957" y="1365777"/>
            <a:ext cx="3923850" cy="595908"/>
            <a:chOff x="648150" y="1373736"/>
            <a:chExt cx="3923850" cy="595908"/>
          </a:xfrm>
        </p:grpSpPr>
        <p:sp>
          <p:nvSpPr>
            <p:cNvPr id="18" name="TextBox 17">
              <a:extLst>
                <a:ext uri="{FF2B5EF4-FFF2-40B4-BE49-F238E27FC236}">
                  <a16:creationId xmlns:a16="http://schemas.microsoft.com/office/drawing/2014/main" id="{0B4590D5-1075-3ED5-CFBF-3477005289E6}"/>
                </a:ext>
              </a:extLst>
            </p:cNvPr>
            <p:cNvSpPr txBox="1"/>
            <p:nvPr/>
          </p:nvSpPr>
          <p:spPr>
            <a:xfrm>
              <a:off x="648150" y="1373736"/>
              <a:ext cx="3923850" cy="595908"/>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September 28 – </a:t>
              </a:r>
              <a:r>
                <a:rPr lang="en-US" sz="800" b="1">
                  <a:solidFill>
                    <a:srgbClr val="8B85FF"/>
                  </a:solidFill>
                  <a:latin typeface="Inter"/>
                  <a:ea typeface="Inter"/>
                  <a:sym typeface="Poppins"/>
                  <a:hlinkClick r:id="rId6">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b="1">
                  <a:latin typeface="Inter"/>
                  <a:ea typeface="Inter"/>
                  <a:sym typeface="Poppins"/>
                </a:rPr>
                <a:t xml:space="preserve">Terraform 1.16 </a:t>
              </a:r>
              <a:r>
                <a:rPr lang="en-US" sz="800">
                  <a:latin typeface="Inter"/>
                  <a:ea typeface="Inter"/>
                  <a:sym typeface="Poppins"/>
                </a:rPr>
                <a:t xml:space="preserve">completes </a:t>
              </a:r>
              <a:r>
                <a:rPr lang="en-US" sz="800" b="1">
                  <a:latin typeface="Inter"/>
                  <a:ea typeface="Inter"/>
                  <a:sym typeface="Poppins"/>
                </a:rPr>
                <a:t xml:space="preserve">Actions lifecycles </a:t>
              </a:r>
              <a:r>
                <a:rPr lang="en-US" sz="800">
                  <a:latin typeface="Inter"/>
                  <a:ea typeface="Inter"/>
                  <a:sym typeface="Poppins"/>
                </a:rPr>
                <a:t>and brings imports into child modules</a:t>
              </a:r>
            </a:p>
          </p:txBody>
        </p:sp>
        <p:sp>
          <p:nvSpPr>
            <p:cNvPr id="19" name="Google Shape;1344;p135">
              <a:extLst>
                <a:ext uri="{FF2B5EF4-FFF2-40B4-BE49-F238E27FC236}">
                  <a16:creationId xmlns:a16="http://schemas.microsoft.com/office/drawing/2014/main" id="{F324E6AB-2A79-10A9-A533-93372BF0393C}"/>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038" name="Group 1037">
            <a:extLst>
              <a:ext uri="{FF2B5EF4-FFF2-40B4-BE49-F238E27FC236}">
                <a16:creationId xmlns:a16="http://schemas.microsoft.com/office/drawing/2014/main" id="{539791C0-0E80-D0B4-C6AE-CEF02E393B37}"/>
              </a:ext>
            </a:extLst>
          </p:cNvPr>
          <p:cNvGrpSpPr/>
          <p:nvPr/>
        </p:nvGrpSpPr>
        <p:grpSpPr>
          <a:xfrm>
            <a:off x="4593151" y="1249239"/>
            <a:ext cx="4123112" cy="1269711"/>
            <a:chOff x="4799215" y="1373736"/>
            <a:chExt cx="4123112" cy="1269711"/>
          </a:xfrm>
        </p:grpSpPr>
        <p:sp>
          <p:nvSpPr>
            <p:cNvPr id="1037" name="Google Shape;397;p78">
              <a:extLst>
                <a:ext uri="{FF2B5EF4-FFF2-40B4-BE49-F238E27FC236}">
                  <a16:creationId xmlns:a16="http://schemas.microsoft.com/office/drawing/2014/main" id="{E044F663-5FAD-CBC6-26C6-5E9042B0F333}"/>
                </a:ext>
              </a:extLst>
            </p:cNvPr>
            <p:cNvSpPr/>
            <p:nvPr/>
          </p:nvSpPr>
          <p:spPr>
            <a:xfrm>
              <a:off x="4799215" y="1373736"/>
              <a:ext cx="4123112" cy="1269711"/>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pPr>
              <a:endParaRPr lang="en-US" sz="650">
                <a:latin typeface="Inter" panose="02000503000000020004" pitchFamily="2" charset="0"/>
                <a:ea typeface="Inter" panose="02000503000000020004" pitchFamily="2" charset="0"/>
                <a:cs typeface="Poppins"/>
              </a:endParaRPr>
            </a:p>
          </p:txBody>
        </p:sp>
        <p:grpSp>
          <p:nvGrpSpPr>
            <p:cNvPr id="1036" name="Group 1035">
              <a:extLst>
                <a:ext uri="{FF2B5EF4-FFF2-40B4-BE49-F238E27FC236}">
                  <a16:creationId xmlns:a16="http://schemas.microsoft.com/office/drawing/2014/main" id="{F2BF5357-A1D0-6144-4598-E650D6271193}"/>
                </a:ext>
              </a:extLst>
            </p:cNvPr>
            <p:cNvGrpSpPr/>
            <p:nvPr/>
          </p:nvGrpSpPr>
          <p:grpSpPr>
            <a:xfrm>
              <a:off x="4876264" y="2002362"/>
              <a:ext cx="3969015" cy="473557"/>
              <a:chOff x="4873162" y="1741897"/>
              <a:chExt cx="3969015" cy="473557"/>
            </a:xfrm>
          </p:grpSpPr>
          <p:sp>
            <p:nvSpPr>
              <p:cNvPr id="60" name="Rectangle: Rounded Corners 4">
                <a:hlinkClick r:id="rId7"/>
                <a:extLst>
                  <a:ext uri="{FF2B5EF4-FFF2-40B4-BE49-F238E27FC236}">
                    <a16:creationId xmlns:a16="http://schemas.microsoft.com/office/drawing/2014/main" id="{43B54EC2-0DC6-6408-C973-77BAA32D3F22}"/>
                  </a:ext>
                </a:extLst>
              </p:cNvPr>
              <p:cNvSpPr/>
              <p:nvPr/>
            </p:nvSpPr>
            <p:spPr>
              <a:xfrm>
                <a:off x="4873162" y="1743247"/>
                <a:ext cx="954675" cy="200984"/>
              </a:xfrm>
              <a:prstGeom prst="roundRect">
                <a:avLst/>
              </a:prstGeom>
              <a:solidFill>
                <a:srgbClr val="748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Speed &amp; agility</a:t>
                </a:r>
                <a:endParaRPr lang="en-US" sz="700"/>
              </a:p>
            </p:txBody>
          </p:sp>
          <p:sp>
            <p:nvSpPr>
              <p:cNvPr id="1024" name="Rectangle: Rounded Corners 4">
                <a:hlinkClick r:id="rId8"/>
                <a:extLst>
                  <a:ext uri="{FF2B5EF4-FFF2-40B4-BE49-F238E27FC236}">
                    <a16:creationId xmlns:a16="http://schemas.microsoft.com/office/drawing/2014/main" id="{2EAFEFDF-DAAD-C383-5FC3-807C94185256}"/>
                  </a:ext>
                </a:extLst>
              </p:cNvPr>
              <p:cNvSpPr/>
              <p:nvPr/>
            </p:nvSpPr>
            <p:spPr>
              <a:xfrm>
                <a:off x="5877942" y="1741897"/>
                <a:ext cx="954675" cy="200984"/>
              </a:xfrm>
              <a:prstGeom prst="roundRect">
                <a:avLst/>
              </a:prstGeom>
              <a:solidFill>
                <a:srgbClr val="F9B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Risk &amp; Compliance</a:t>
                </a:r>
                <a:endParaRPr lang="en-US" sz="700"/>
              </a:p>
            </p:txBody>
          </p:sp>
          <p:sp>
            <p:nvSpPr>
              <p:cNvPr id="1025" name="Rectangle: Rounded Corners 4">
                <a:hlinkClick r:id="rId9"/>
                <a:extLst>
                  <a:ext uri="{FF2B5EF4-FFF2-40B4-BE49-F238E27FC236}">
                    <a16:creationId xmlns:a16="http://schemas.microsoft.com/office/drawing/2014/main" id="{90849970-C59F-184C-03FF-A8671509816D}"/>
                  </a:ext>
                </a:extLst>
              </p:cNvPr>
              <p:cNvSpPr/>
              <p:nvPr/>
            </p:nvSpPr>
            <p:spPr>
              <a:xfrm>
                <a:off x="6882722" y="1755223"/>
                <a:ext cx="954675" cy="200984"/>
              </a:xfrm>
              <a:prstGeom prst="roundRect">
                <a:avLst/>
              </a:prstGeom>
              <a:solidFill>
                <a:srgbClr val="FE93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Optimize operations</a:t>
                </a:r>
                <a:endParaRPr lang="en-US" sz="700"/>
              </a:p>
            </p:txBody>
          </p:sp>
          <p:sp>
            <p:nvSpPr>
              <p:cNvPr id="1027" name="Rectangle: Rounded Corners 4">
                <a:hlinkClick r:id="rId10"/>
                <a:extLst>
                  <a:ext uri="{FF2B5EF4-FFF2-40B4-BE49-F238E27FC236}">
                    <a16:creationId xmlns:a16="http://schemas.microsoft.com/office/drawing/2014/main" id="{3601B7ED-BD5C-1026-1201-171DCEB14F90}"/>
                  </a:ext>
                </a:extLst>
              </p:cNvPr>
              <p:cNvSpPr/>
              <p:nvPr/>
            </p:nvSpPr>
            <p:spPr>
              <a:xfrm>
                <a:off x="7887502" y="1755223"/>
                <a:ext cx="954675" cy="200984"/>
              </a:xfrm>
              <a:prstGeom prst="roundRect">
                <a:avLst/>
              </a:prstGeom>
              <a:solidFill>
                <a:srgbClr val="E689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Infra Automation</a:t>
                </a:r>
                <a:endParaRPr lang="en-US" sz="700"/>
              </a:p>
            </p:txBody>
          </p:sp>
          <p:sp>
            <p:nvSpPr>
              <p:cNvPr id="1030" name="Rectangle: Rounded Corners 4">
                <a:hlinkClick r:id="rId11"/>
                <a:extLst>
                  <a:ext uri="{FF2B5EF4-FFF2-40B4-BE49-F238E27FC236}">
                    <a16:creationId xmlns:a16="http://schemas.microsoft.com/office/drawing/2014/main" id="{DDE6F8C8-BD64-7859-DE22-77257E422F08}"/>
                  </a:ext>
                </a:extLst>
              </p:cNvPr>
              <p:cNvSpPr/>
              <p:nvPr/>
            </p:nvSpPr>
            <p:spPr>
              <a:xfrm>
                <a:off x="4873162" y="2014470"/>
                <a:ext cx="1394634" cy="200984"/>
              </a:xfrm>
              <a:prstGeom prst="roundRect">
                <a:avLst/>
              </a:prstGeom>
              <a:solidFill>
                <a:srgbClr val="FBA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Secrets &amp; identity management</a:t>
                </a:r>
                <a:endParaRPr lang="en-US" sz="700"/>
              </a:p>
            </p:txBody>
          </p:sp>
          <p:sp>
            <p:nvSpPr>
              <p:cNvPr id="1031" name="Rectangle: Rounded Corners 4">
                <a:hlinkClick r:id="rId12"/>
                <a:extLst>
                  <a:ext uri="{FF2B5EF4-FFF2-40B4-BE49-F238E27FC236}">
                    <a16:creationId xmlns:a16="http://schemas.microsoft.com/office/drawing/2014/main" id="{590D9B40-A6B0-B8FF-9B5E-079E95DDC51A}"/>
                  </a:ext>
                </a:extLst>
              </p:cNvPr>
              <p:cNvSpPr/>
              <p:nvPr/>
            </p:nvSpPr>
            <p:spPr>
              <a:xfrm>
                <a:off x="6319054" y="2014470"/>
                <a:ext cx="1034572" cy="200984"/>
              </a:xfrm>
              <a:prstGeom prst="roundRect">
                <a:avLst/>
              </a:prstGeom>
              <a:solidFill>
                <a:srgbClr val="C0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Platform Engineering</a:t>
                </a:r>
                <a:endParaRPr lang="en-US" sz="700"/>
              </a:p>
            </p:txBody>
          </p:sp>
          <p:sp>
            <p:nvSpPr>
              <p:cNvPr id="1032" name="Rectangle: Rounded Corners 4">
                <a:hlinkClick r:id="rId13"/>
                <a:extLst>
                  <a:ext uri="{FF2B5EF4-FFF2-40B4-BE49-F238E27FC236}">
                    <a16:creationId xmlns:a16="http://schemas.microsoft.com/office/drawing/2014/main" id="{A867BE4D-DDB5-A279-C37C-4AF831C199D0}"/>
                  </a:ext>
                </a:extLst>
              </p:cNvPr>
              <p:cNvSpPr/>
              <p:nvPr/>
            </p:nvSpPr>
            <p:spPr>
              <a:xfrm>
                <a:off x="7404884" y="2014470"/>
                <a:ext cx="1070387" cy="200984"/>
              </a:xfrm>
              <a:prstGeom prst="roundRect">
                <a:avLst/>
              </a:prstGeom>
              <a:solidFill>
                <a:srgbClr val="FA88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Culture &amp; Collaboration</a:t>
                </a:r>
                <a:endParaRPr lang="en-US" sz="700"/>
              </a:p>
            </p:txBody>
          </p:sp>
          <p:sp>
            <p:nvSpPr>
              <p:cNvPr id="1033" name="Rectangle: Rounded Corners 4">
                <a:hlinkClick r:id="rId14"/>
                <a:extLst>
                  <a:ext uri="{FF2B5EF4-FFF2-40B4-BE49-F238E27FC236}">
                    <a16:creationId xmlns:a16="http://schemas.microsoft.com/office/drawing/2014/main" id="{450DD8AC-69D1-B451-605C-285D8452CB9F}"/>
                  </a:ext>
                </a:extLst>
              </p:cNvPr>
              <p:cNvSpPr/>
              <p:nvPr/>
            </p:nvSpPr>
            <p:spPr>
              <a:xfrm>
                <a:off x="8526528" y="2014470"/>
                <a:ext cx="315649" cy="200984"/>
              </a:xfrm>
              <a:prstGeom prst="roundRect">
                <a:avLst/>
              </a:prstGeom>
              <a:solidFill>
                <a:srgbClr val="758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AI</a:t>
                </a:r>
                <a:endParaRPr lang="en-US" sz="700"/>
              </a:p>
            </p:txBody>
          </p:sp>
        </p:grpSp>
        <p:sp>
          <p:nvSpPr>
            <p:cNvPr id="1034" name="TextBox 1033">
              <a:extLst>
                <a:ext uri="{FF2B5EF4-FFF2-40B4-BE49-F238E27FC236}">
                  <a16:creationId xmlns:a16="http://schemas.microsoft.com/office/drawing/2014/main" id="{763E08D4-65E7-9E50-2CD8-7DF2BE7DBB0D}"/>
                </a:ext>
              </a:extLst>
            </p:cNvPr>
            <p:cNvSpPr txBox="1"/>
            <p:nvPr/>
          </p:nvSpPr>
          <p:spPr>
            <a:xfrm>
              <a:off x="4890304" y="1586632"/>
              <a:ext cx="394093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gradFill>
                    <a:gsLst>
                      <a:gs pos="0">
                        <a:srgbClr val="6C81FF"/>
                      </a:gs>
                      <a:gs pos="25000">
                        <a:srgbClr val="C08DFF"/>
                      </a:gs>
                      <a:gs pos="75000">
                        <a:srgbClr val="FF8791"/>
                      </a:gs>
                      <a:gs pos="100000">
                        <a:srgbClr val="F9B571"/>
                      </a:gs>
                    </a:gsLst>
                    <a:lin ang="2700000" scaled="0"/>
                  </a:gradFill>
                  <a:latin typeface="Inter"/>
                  <a:ea typeface="Inter"/>
                </a:rPr>
                <a:t>Explore Topics!</a:t>
              </a:r>
            </a:p>
          </p:txBody>
        </p:sp>
        <p:sp>
          <p:nvSpPr>
            <p:cNvPr id="1035" name="Google Shape;1163;p135">
              <a:extLst>
                <a:ext uri="{FF2B5EF4-FFF2-40B4-BE49-F238E27FC236}">
                  <a16:creationId xmlns:a16="http://schemas.microsoft.com/office/drawing/2014/main" id="{9B27C947-1B06-A6A9-497B-E0211A63E86C}"/>
                </a:ext>
              </a:extLst>
            </p:cNvPr>
            <p:cNvSpPr>
              <a:spLocks noChangeAspect="1"/>
            </p:cNvSpPr>
            <p:nvPr/>
          </p:nvSpPr>
          <p:spPr>
            <a:xfrm>
              <a:off x="6774723" y="1430185"/>
              <a:ext cx="182880" cy="182962"/>
            </a:xfrm>
            <a:custGeom>
              <a:avLst/>
              <a:gdLst/>
              <a:ahLst/>
              <a:cxnLst/>
              <a:rect l="l" t="t" r="r" b="b"/>
              <a:pathLst>
                <a:path w="21600" h="21600" extrusionOk="0">
                  <a:moveTo>
                    <a:pt x="11661" y="21591"/>
                  </a:moveTo>
                  <a:cubicBezTo>
                    <a:pt x="10909" y="21591"/>
                    <a:pt x="10201" y="21303"/>
                    <a:pt x="9668" y="20770"/>
                  </a:cubicBezTo>
                  <a:lnTo>
                    <a:pt x="822" y="11927"/>
                  </a:lnTo>
                  <a:cubicBezTo>
                    <a:pt x="289" y="11385"/>
                    <a:pt x="0" y="10678"/>
                    <a:pt x="0" y="9926"/>
                  </a:cubicBezTo>
                  <a:lnTo>
                    <a:pt x="0" y="2822"/>
                  </a:lnTo>
                  <a:cubicBezTo>
                    <a:pt x="0" y="1267"/>
                    <a:pt x="1268" y="0"/>
                    <a:pt x="2823" y="0"/>
                  </a:cubicBezTo>
                  <a:lnTo>
                    <a:pt x="9930" y="0"/>
                  </a:lnTo>
                  <a:cubicBezTo>
                    <a:pt x="10682" y="0"/>
                    <a:pt x="11390" y="297"/>
                    <a:pt x="11923" y="830"/>
                  </a:cubicBezTo>
                  <a:lnTo>
                    <a:pt x="20769" y="9682"/>
                  </a:lnTo>
                  <a:cubicBezTo>
                    <a:pt x="21303" y="10215"/>
                    <a:pt x="21600" y="10922"/>
                    <a:pt x="21600" y="11674"/>
                  </a:cubicBezTo>
                  <a:cubicBezTo>
                    <a:pt x="21600" y="12425"/>
                    <a:pt x="21311" y="13133"/>
                    <a:pt x="20778" y="13666"/>
                  </a:cubicBezTo>
                  <a:lnTo>
                    <a:pt x="13671" y="20779"/>
                  </a:lnTo>
                  <a:cubicBezTo>
                    <a:pt x="13138" y="21312"/>
                    <a:pt x="12430" y="21600"/>
                    <a:pt x="11678" y="21600"/>
                  </a:cubicBezTo>
                  <a:close/>
                  <a:moveTo>
                    <a:pt x="2815" y="1214"/>
                  </a:moveTo>
                  <a:cubicBezTo>
                    <a:pt x="1932" y="1214"/>
                    <a:pt x="1206" y="1931"/>
                    <a:pt x="1206" y="2822"/>
                  </a:cubicBezTo>
                  <a:lnTo>
                    <a:pt x="1206" y="9926"/>
                  </a:lnTo>
                  <a:cubicBezTo>
                    <a:pt x="1206" y="10354"/>
                    <a:pt x="1372" y="10756"/>
                    <a:pt x="1678" y="11062"/>
                  </a:cubicBezTo>
                  <a:lnTo>
                    <a:pt x="10533" y="19914"/>
                  </a:lnTo>
                  <a:cubicBezTo>
                    <a:pt x="10839" y="20211"/>
                    <a:pt x="11241" y="20377"/>
                    <a:pt x="11670" y="20377"/>
                  </a:cubicBezTo>
                  <a:cubicBezTo>
                    <a:pt x="12098" y="20377"/>
                    <a:pt x="12500" y="20211"/>
                    <a:pt x="12806" y="19914"/>
                  </a:cubicBezTo>
                  <a:lnTo>
                    <a:pt x="19913" y="12801"/>
                  </a:lnTo>
                  <a:cubicBezTo>
                    <a:pt x="20219" y="12504"/>
                    <a:pt x="20385" y="12102"/>
                    <a:pt x="20385" y="11674"/>
                  </a:cubicBezTo>
                  <a:cubicBezTo>
                    <a:pt x="20385" y="11246"/>
                    <a:pt x="20219" y="10844"/>
                    <a:pt x="19913" y="10547"/>
                  </a:cubicBezTo>
                  <a:lnTo>
                    <a:pt x="11067" y="1704"/>
                  </a:lnTo>
                  <a:cubicBezTo>
                    <a:pt x="10769" y="1398"/>
                    <a:pt x="10367" y="1232"/>
                    <a:pt x="9930" y="1232"/>
                  </a:cubicBezTo>
                  <a:lnTo>
                    <a:pt x="2823" y="1232"/>
                  </a:lnTo>
                  <a:close/>
                  <a:moveTo>
                    <a:pt x="4196" y="5085"/>
                  </a:moveTo>
                  <a:cubicBezTo>
                    <a:pt x="3706" y="5085"/>
                    <a:pt x="3313" y="4692"/>
                    <a:pt x="3313" y="4203"/>
                  </a:cubicBezTo>
                  <a:cubicBezTo>
                    <a:pt x="3313" y="3714"/>
                    <a:pt x="3706" y="3320"/>
                    <a:pt x="4196" y="3320"/>
                  </a:cubicBezTo>
                  <a:cubicBezTo>
                    <a:pt x="4685" y="3320"/>
                    <a:pt x="5088" y="3714"/>
                    <a:pt x="5088" y="4203"/>
                  </a:cubicBezTo>
                  <a:cubicBezTo>
                    <a:pt x="5088" y="4692"/>
                    <a:pt x="4694" y="5085"/>
                    <a:pt x="4205" y="5085"/>
                  </a:cubicBezTo>
                  <a:lnTo>
                    <a:pt x="4196" y="5085"/>
                  </a:lnTo>
                  <a:close/>
                </a:path>
              </a:pathLst>
            </a:custGeom>
            <a:gradFill>
              <a:gsLst>
                <a:gs pos="0">
                  <a:srgbClr val="7582FF"/>
                </a:gs>
                <a:gs pos="27000">
                  <a:srgbClr val="C58DF8"/>
                </a:gs>
                <a:gs pos="75000">
                  <a:srgbClr val="FA889C"/>
                </a:gs>
                <a:gs pos="100000">
                  <a:srgbClr val="FBA87B"/>
                </a:gs>
              </a:gsLst>
              <a:lin ang="5400000" scaled="1"/>
            </a:gra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34" name="Group 33">
            <a:extLst>
              <a:ext uri="{FF2B5EF4-FFF2-40B4-BE49-F238E27FC236}">
                <a16:creationId xmlns:a16="http://schemas.microsoft.com/office/drawing/2014/main" id="{33706E07-1CEF-61D6-C864-C566757E9ACE}"/>
              </a:ext>
            </a:extLst>
          </p:cNvPr>
          <p:cNvGrpSpPr/>
          <p:nvPr/>
        </p:nvGrpSpPr>
        <p:grpSpPr>
          <a:xfrm>
            <a:off x="4670200" y="3435503"/>
            <a:ext cx="3923850" cy="459700"/>
            <a:chOff x="648150" y="1373736"/>
            <a:chExt cx="3923850" cy="459700"/>
          </a:xfrm>
        </p:grpSpPr>
        <p:sp>
          <p:nvSpPr>
            <p:cNvPr id="36" name="TextBox 35">
              <a:extLst>
                <a:ext uri="{FF2B5EF4-FFF2-40B4-BE49-F238E27FC236}">
                  <a16:creationId xmlns:a16="http://schemas.microsoft.com/office/drawing/2014/main" id="{12C0605E-D34A-3D9A-25C6-5D90D1F83186}"/>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July 28 – </a:t>
              </a:r>
              <a:r>
                <a:rPr lang="en-US" sz="800" b="1">
                  <a:solidFill>
                    <a:srgbClr val="8B85FF"/>
                  </a:solidFill>
                  <a:latin typeface="Inter"/>
                  <a:ea typeface="Inter"/>
                  <a:sym typeface="Poppins"/>
                  <a:hlinkClick r:id="rId15">
                    <a:extLst>
                      <a:ext uri="{A12FA001-AC4F-418D-AE19-62706E023703}">
                        <ahyp:hlinkClr xmlns:ahyp="http://schemas.microsoft.com/office/drawing/2018/hyperlinkcolor" val="tx"/>
                      </a:ext>
                    </a:extLst>
                  </a:hlinkClick>
                </a:rPr>
                <a:t xml:space="preserve">See </a:t>
              </a:r>
              <a:r>
                <a:rPr lang="en-US" sz="800" b="1">
                  <a:solidFill>
                    <a:srgbClr val="8B85FF"/>
                  </a:solidFill>
                  <a:latin typeface="Inter"/>
                  <a:ea typeface="Inter"/>
                  <a:sym typeface="Poppins"/>
                  <a:hlinkClick r:id="rId16">
                    <a:extLst>
                      <a:ext uri="{A12FA001-AC4F-418D-AE19-62706E023703}">
                        <ahyp:hlinkClr xmlns:ahyp="http://schemas.microsoft.com/office/drawing/2018/hyperlinkcolor" val="tx"/>
                      </a:ext>
                    </a:extLst>
                  </a:hlinkClick>
                </a:rPr>
                <a:t>here</a:t>
              </a:r>
              <a:endParaRPr lang="en-US" sz="800">
                <a:latin typeface="Inter"/>
                <a:ea typeface="Inter"/>
                <a:sym typeface="Poppins"/>
              </a:endParaRPr>
            </a:p>
            <a:p>
              <a:r>
                <a:rPr lang="en-US" sz="800">
                  <a:latin typeface="Inter"/>
                  <a:ea typeface="Inter"/>
                </a:rPr>
                <a:t xml:space="preserve">Terraform </a:t>
              </a:r>
              <a:r>
                <a:rPr lang="en-US" sz="800" b="1" err="1">
                  <a:latin typeface="Inter"/>
                  <a:ea typeface="Inter"/>
                </a:rPr>
                <a:t>AzureRM</a:t>
              </a:r>
              <a:r>
                <a:rPr lang="en-US" sz="800" b="1">
                  <a:latin typeface="Inter"/>
                  <a:ea typeface="Inter"/>
                </a:rPr>
                <a:t xml:space="preserve"> provider 5.0 </a:t>
              </a:r>
              <a:r>
                <a:rPr lang="en-US" sz="800">
                  <a:latin typeface="Inter"/>
                  <a:ea typeface="Inter"/>
                </a:rPr>
                <a:t>now generally available</a:t>
              </a:r>
            </a:p>
          </p:txBody>
        </p:sp>
        <p:sp>
          <p:nvSpPr>
            <p:cNvPr id="37" name="Google Shape;1344;p135">
              <a:extLst>
                <a:ext uri="{FF2B5EF4-FFF2-40B4-BE49-F238E27FC236}">
                  <a16:creationId xmlns:a16="http://schemas.microsoft.com/office/drawing/2014/main" id="{6A838F96-8C00-CA8F-629D-845EF78D59C0}"/>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47" name="Group 46">
            <a:extLst>
              <a:ext uri="{FF2B5EF4-FFF2-40B4-BE49-F238E27FC236}">
                <a16:creationId xmlns:a16="http://schemas.microsoft.com/office/drawing/2014/main" id="{8EB37BBF-3029-530A-AE67-D6CFADDE312E}"/>
              </a:ext>
            </a:extLst>
          </p:cNvPr>
          <p:cNvGrpSpPr/>
          <p:nvPr/>
        </p:nvGrpSpPr>
        <p:grpSpPr>
          <a:xfrm>
            <a:off x="4670200" y="2763346"/>
            <a:ext cx="3923850" cy="459700"/>
            <a:chOff x="648150" y="1373736"/>
            <a:chExt cx="3923850" cy="459700"/>
          </a:xfrm>
        </p:grpSpPr>
        <p:sp>
          <p:nvSpPr>
            <p:cNvPr id="49" name="TextBox 48">
              <a:extLst>
                <a:ext uri="{FF2B5EF4-FFF2-40B4-BE49-F238E27FC236}">
                  <a16:creationId xmlns:a16="http://schemas.microsoft.com/office/drawing/2014/main" id="{8863D1B6-8456-151C-5BD3-4DDFF6BBA442}"/>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August 5 – </a:t>
              </a:r>
              <a:r>
                <a:rPr lang="en-US" sz="800" b="1">
                  <a:solidFill>
                    <a:srgbClr val="8B85FF"/>
                  </a:solidFill>
                  <a:latin typeface="Inter"/>
                  <a:ea typeface="Inter"/>
                  <a:sym typeface="Poppins"/>
                  <a:hlinkClick r:id="rId17">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a:latin typeface="Inter"/>
                  <a:ea typeface="Inter"/>
                  <a:sym typeface="Poppins"/>
                </a:rPr>
                <a:t xml:space="preserve">HCP Terraform is the </a:t>
              </a:r>
              <a:r>
                <a:rPr lang="en-US" sz="800" b="1">
                  <a:latin typeface="Inter"/>
                  <a:ea typeface="Inter"/>
                  <a:sym typeface="Poppins"/>
                </a:rPr>
                <a:t>control plane for AI-driven infrastructure</a:t>
              </a:r>
            </a:p>
          </p:txBody>
        </p:sp>
        <p:sp>
          <p:nvSpPr>
            <p:cNvPr id="50" name="Google Shape;1344;p135">
              <a:extLst>
                <a:ext uri="{FF2B5EF4-FFF2-40B4-BE49-F238E27FC236}">
                  <a16:creationId xmlns:a16="http://schemas.microsoft.com/office/drawing/2014/main" id="{649DBBC2-B4E0-4F27-3EA6-4980D447D869}"/>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1" name="Group 10">
            <a:extLst>
              <a:ext uri="{FF2B5EF4-FFF2-40B4-BE49-F238E27FC236}">
                <a16:creationId xmlns:a16="http://schemas.microsoft.com/office/drawing/2014/main" id="{1FD5B483-E5DF-3C8A-C8CC-946EF2AD42B7}"/>
              </a:ext>
            </a:extLst>
          </p:cNvPr>
          <p:cNvGrpSpPr/>
          <p:nvPr/>
        </p:nvGrpSpPr>
        <p:grpSpPr>
          <a:xfrm>
            <a:off x="478957" y="2737320"/>
            <a:ext cx="3923850" cy="459700"/>
            <a:chOff x="648150" y="1373736"/>
            <a:chExt cx="3923850" cy="459700"/>
          </a:xfrm>
        </p:grpSpPr>
        <p:sp>
          <p:nvSpPr>
            <p:cNvPr id="12" name="TextBox 11">
              <a:extLst>
                <a:ext uri="{FF2B5EF4-FFF2-40B4-BE49-F238E27FC236}">
                  <a16:creationId xmlns:a16="http://schemas.microsoft.com/office/drawing/2014/main" id="{6B5EE1E9-FBC3-17C5-B1BA-00E27E3D24BC}"/>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September 17 – </a:t>
              </a:r>
              <a:r>
                <a:rPr lang="en-US" sz="800" b="1">
                  <a:solidFill>
                    <a:srgbClr val="8B85FF"/>
                  </a:solidFill>
                  <a:latin typeface="Inter"/>
                  <a:ea typeface="Inter"/>
                  <a:sym typeface="Poppins"/>
                  <a:hlinkClick r:id="rId18">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a:latin typeface="Inter"/>
                  <a:ea typeface="Inter"/>
                  <a:sym typeface="Poppins"/>
                </a:rPr>
                <a:t xml:space="preserve">Simplify compliance with the </a:t>
              </a:r>
              <a:r>
                <a:rPr lang="en-US" sz="800" b="1">
                  <a:latin typeface="Inter"/>
                  <a:ea typeface="Inter"/>
                  <a:sym typeface="Poppins"/>
                </a:rPr>
                <a:t xml:space="preserve">native pre-written policy </a:t>
              </a:r>
              <a:r>
                <a:rPr lang="en-US" sz="800">
                  <a:latin typeface="Inter"/>
                  <a:ea typeface="Inter"/>
                  <a:sym typeface="Poppins"/>
                </a:rPr>
                <a:t>experience in HCP TF</a:t>
              </a:r>
            </a:p>
          </p:txBody>
        </p:sp>
        <p:sp>
          <p:nvSpPr>
            <p:cNvPr id="14" name="Google Shape;1344;p135">
              <a:extLst>
                <a:ext uri="{FF2B5EF4-FFF2-40B4-BE49-F238E27FC236}">
                  <a16:creationId xmlns:a16="http://schemas.microsoft.com/office/drawing/2014/main" id="{30244180-EDC0-AC8B-51C3-CF824F98B04E}"/>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2" name="Group 21">
            <a:extLst>
              <a:ext uri="{FF2B5EF4-FFF2-40B4-BE49-F238E27FC236}">
                <a16:creationId xmlns:a16="http://schemas.microsoft.com/office/drawing/2014/main" id="{2CB82DD4-0896-8A98-3A54-1F6DB8C08D97}"/>
              </a:ext>
            </a:extLst>
          </p:cNvPr>
          <p:cNvGrpSpPr/>
          <p:nvPr/>
        </p:nvGrpSpPr>
        <p:grpSpPr>
          <a:xfrm>
            <a:off x="478957" y="3435503"/>
            <a:ext cx="3923850" cy="459700"/>
            <a:chOff x="648150" y="1373736"/>
            <a:chExt cx="3923850" cy="459700"/>
          </a:xfrm>
        </p:grpSpPr>
        <p:sp>
          <p:nvSpPr>
            <p:cNvPr id="23" name="TextBox 22">
              <a:extLst>
                <a:ext uri="{FF2B5EF4-FFF2-40B4-BE49-F238E27FC236}">
                  <a16:creationId xmlns:a16="http://schemas.microsoft.com/office/drawing/2014/main" id="{B61FAFB6-3C77-B803-A3ED-3688228F477E}"/>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September 15 – </a:t>
              </a:r>
              <a:r>
                <a:rPr lang="en-US" sz="800" b="1">
                  <a:solidFill>
                    <a:srgbClr val="8B85FF"/>
                  </a:solidFill>
                  <a:latin typeface="Inter"/>
                  <a:ea typeface="Inter"/>
                  <a:sym typeface="Poppins"/>
                  <a:hlinkClick r:id="rId19">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a:latin typeface="Inter"/>
                  <a:ea typeface="Inter"/>
                  <a:sym typeface="Poppins"/>
                </a:rPr>
                <a:t xml:space="preserve">Simplify Terraform for IBM Z with </a:t>
              </a:r>
              <a:r>
                <a:rPr lang="en-US" sz="800" b="1">
                  <a:latin typeface="Inter"/>
                  <a:ea typeface="Inter"/>
                  <a:sym typeface="Poppins"/>
                </a:rPr>
                <a:t>intent-driven workflows</a:t>
              </a:r>
            </a:p>
          </p:txBody>
        </p:sp>
        <p:sp>
          <p:nvSpPr>
            <p:cNvPr id="24" name="Google Shape;1344;p135">
              <a:extLst>
                <a:ext uri="{FF2B5EF4-FFF2-40B4-BE49-F238E27FC236}">
                  <a16:creationId xmlns:a16="http://schemas.microsoft.com/office/drawing/2014/main" id="{AAEBA0F7-AD5D-01F6-DF2B-1CEA34BA4FD8}"/>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5" name="Group 24">
            <a:extLst>
              <a:ext uri="{FF2B5EF4-FFF2-40B4-BE49-F238E27FC236}">
                <a16:creationId xmlns:a16="http://schemas.microsoft.com/office/drawing/2014/main" id="{70C35A28-C5CE-4022-DFBA-12453C4258A0}"/>
              </a:ext>
            </a:extLst>
          </p:cNvPr>
          <p:cNvGrpSpPr/>
          <p:nvPr/>
        </p:nvGrpSpPr>
        <p:grpSpPr>
          <a:xfrm>
            <a:off x="478957" y="4116367"/>
            <a:ext cx="3923850" cy="459700"/>
            <a:chOff x="648150" y="1373736"/>
            <a:chExt cx="3923850" cy="459700"/>
          </a:xfrm>
        </p:grpSpPr>
        <p:sp>
          <p:nvSpPr>
            <p:cNvPr id="26" name="TextBox 25">
              <a:extLst>
                <a:ext uri="{FF2B5EF4-FFF2-40B4-BE49-F238E27FC236}">
                  <a16:creationId xmlns:a16="http://schemas.microsoft.com/office/drawing/2014/main" id="{9E392015-13F6-063F-CD45-BDF2A03DE2BD}"/>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September 3 – </a:t>
              </a:r>
              <a:r>
                <a:rPr lang="en-US" sz="800" b="1">
                  <a:solidFill>
                    <a:srgbClr val="8B85FF"/>
                  </a:solidFill>
                  <a:latin typeface="Inter"/>
                  <a:ea typeface="Inter"/>
                  <a:sym typeface="Poppins"/>
                  <a:hlinkClick r:id="rId20">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a:latin typeface="Inter"/>
                  <a:ea typeface="Inter"/>
                  <a:sym typeface="Poppins"/>
                </a:rPr>
                <a:t xml:space="preserve">Introducing </a:t>
              </a:r>
              <a:r>
                <a:rPr lang="en-US" sz="800" b="1">
                  <a:latin typeface="Inter"/>
                  <a:ea typeface="Inter"/>
                  <a:sym typeface="Poppins"/>
                </a:rPr>
                <a:t>HCP Terraform Metrics</a:t>
              </a:r>
              <a:r>
                <a:rPr lang="en-US" sz="800">
                  <a:latin typeface="Inter"/>
                  <a:ea typeface="Inter"/>
                  <a:sym typeface="Poppins"/>
                </a:rPr>
                <a:t>: operational visibility at scale</a:t>
              </a:r>
            </a:p>
          </p:txBody>
        </p:sp>
        <p:sp>
          <p:nvSpPr>
            <p:cNvPr id="27" name="Google Shape;1344;p135">
              <a:extLst>
                <a:ext uri="{FF2B5EF4-FFF2-40B4-BE49-F238E27FC236}">
                  <a16:creationId xmlns:a16="http://schemas.microsoft.com/office/drawing/2014/main" id="{A0ED07AC-BDDB-6FAE-E448-7264C9EE68DC}"/>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 name="Group 1">
            <a:extLst>
              <a:ext uri="{FF2B5EF4-FFF2-40B4-BE49-F238E27FC236}">
                <a16:creationId xmlns:a16="http://schemas.microsoft.com/office/drawing/2014/main" id="{1833BFC8-B1F4-07DE-B254-43F6B1EC79BF}"/>
              </a:ext>
            </a:extLst>
          </p:cNvPr>
          <p:cNvGrpSpPr/>
          <p:nvPr/>
        </p:nvGrpSpPr>
        <p:grpSpPr>
          <a:xfrm>
            <a:off x="478957" y="2052942"/>
            <a:ext cx="3923850" cy="459700"/>
            <a:chOff x="648150" y="1373736"/>
            <a:chExt cx="3923850" cy="459700"/>
          </a:xfrm>
        </p:grpSpPr>
        <p:sp>
          <p:nvSpPr>
            <p:cNvPr id="7" name="TextBox 6">
              <a:extLst>
                <a:ext uri="{FF2B5EF4-FFF2-40B4-BE49-F238E27FC236}">
                  <a16:creationId xmlns:a16="http://schemas.microsoft.com/office/drawing/2014/main" id="{470BB98C-3662-BDE6-8D8B-D292FA8784ED}"/>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a:spAutoFit/>
            </a:bodyPr>
            <a:lstStyle/>
            <a:p>
              <a:pPr>
                <a:spcAft>
                  <a:spcPts val="600"/>
                </a:spcAft>
              </a:pPr>
              <a:r>
                <a:rPr lang="en-US" sz="800">
                  <a:latin typeface="Inter"/>
                  <a:ea typeface="Inter"/>
                  <a:sym typeface="Poppins"/>
                </a:rPr>
                <a:t xml:space="preserve">      September 22 – </a:t>
              </a:r>
              <a:r>
                <a:rPr lang="en-US" sz="800" b="1">
                  <a:solidFill>
                    <a:srgbClr val="8B85FF"/>
                  </a:solidFill>
                  <a:latin typeface="Inter"/>
                  <a:ea typeface="Inter"/>
                  <a:sym typeface="Poppins"/>
                  <a:hlinkClick r:id="rId21">
                    <a:extLst>
                      <a:ext uri="{A12FA001-AC4F-418D-AE19-62706E023703}">
                        <ahyp:hlinkClr xmlns:ahyp="http://schemas.microsoft.com/office/drawing/2018/hyperlinkcolor" val="tx"/>
                      </a:ext>
                    </a:extLst>
                  </a:hlinkClick>
                </a:rPr>
                <a:t>See here</a:t>
              </a:r>
              <a:endParaRPr lang="en-US" sz="800" b="1">
                <a:solidFill>
                  <a:srgbClr val="8B85FF"/>
                </a:solidFill>
              </a:endParaRPr>
            </a:p>
            <a:p>
              <a:pPr>
                <a:spcAft>
                  <a:spcPts val="600"/>
                </a:spcAft>
              </a:pPr>
              <a:r>
                <a:rPr lang="en-US" sz="800" b="1">
                  <a:latin typeface="Inter"/>
                  <a:ea typeface="Inter"/>
                  <a:sym typeface="Poppins"/>
                </a:rPr>
                <a:t xml:space="preserve">Terraform provider for Google Cloud 8.0 </a:t>
              </a:r>
              <a:r>
                <a:rPr lang="en-US" sz="800">
                  <a:latin typeface="Inter"/>
                  <a:ea typeface="Inter"/>
                  <a:sym typeface="Poppins"/>
                </a:rPr>
                <a:t>now generally available</a:t>
              </a:r>
            </a:p>
          </p:txBody>
        </p:sp>
        <p:sp>
          <p:nvSpPr>
            <p:cNvPr id="10" name="Google Shape;1344;p135">
              <a:extLst>
                <a:ext uri="{FF2B5EF4-FFF2-40B4-BE49-F238E27FC236}">
                  <a16:creationId xmlns:a16="http://schemas.microsoft.com/office/drawing/2014/main" id="{54BDE6BB-2B83-E381-BF7B-3D241B488199}"/>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8B85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spTree>
    <p:extLst>
      <p:ext uri="{BB962C8B-B14F-4D97-AF65-F5344CB8AC3E}">
        <p14:creationId xmlns:p14="http://schemas.microsoft.com/office/powerpoint/2010/main" val="3181720349"/>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auto-pptx:terraform-webinars">
    <p:spTree>
      <p:nvGrpSpPr>
        <p:cNvPr id="1" name="Shape 1174">
          <a:extLst>
            <a:ext uri="{FF2B5EF4-FFF2-40B4-BE49-F238E27FC236}">
              <a16:creationId xmlns:a16="http://schemas.microsoft.com/office/drawing/2014/main" id="{048A6D4E-560B-5EDD-3302-DD44BC4898F0}"/>
            </a:ext>
          </a:extLst>
        </p:cNvPr>
        <p:cNvGrpSpPr/>
        <p:nvPr/>
      </p:nvGrpSpPr>
      <p:grpSpPr>
        <a:xfrm>
          <a:off x="0" y="0"/>
          <a:ext cx="0" cy="0"/>
          <a:chOff x="0" y="0"/>
          <a:chExt cx="0" cy="0"/>
        </a:xfrm>
      </p:grpSpPr>
      <p:sp>
        <p:nvSpPr>
          <p:cNvPr id="44" name="Google Shape;397;p78">
            <a:extLst>
              <a:ext uri="{FF2B5EF4-FFF2-40B4-BE49-F238E27FC236}">
                <a16:creationId xmlns:a16="http://schemas.microsoft.com/office/drawing/2014/main" id="{434A44C0-597E-BDFA-6BAB-EEB96E4613CB}"/>
              </a:ext>
            </a:extLst>
          </p:cNvPr>
          <p:cNvSpPr/>
          <p:nvPr/>
        </p:nvSpPr>
        <p:spPr>
          <a:xfrm>
            <a:off x="3257254" y="1416023"/>
            <a:ext cx="2529980" cy="1682804"/>
          </a:xfrm>
          <a:prstGeom prst="roundRect">
            <a:avLst>
              <a:gd name="adj" fmla="val 2539"/>
            </a:avLst>
          </a:prstGeom>
          <a:noFill/>
          <a:ln>
            <a:gradFill>
              <a:gsLst>
                <a:gs pos="0">
                  <a:srgbClr val="7582FF"/>
                </a:gs>
                <a:gs pos="25000">
                  <a:srgbClr val="C08DFF"/>
                </a:gs>
                <a:gs pos="75000">
                  <a:srgbClr val="FF8791"/>
                </a:gs>
                <a:gs pos="100000">
                  <a:srgbClr val="F9B373"/>
                </a:gs>
              </a:gsLst>
              <a:lin ang="5400000" scaled="1"/>
            </a:gradFill>
          </a:ln>
          <a:effectLst/>
        </p:spPr>
        <p:txBody>
          <a:bodyPr spcFirstLastPara="1" wrap="square" lIns="91425" tIns="91425" rIns="91425" bIns="91425" anchor="t" anchorCtr="0">
            <a:noAutofit/>
          </a:bodyPr>
          <a:lstStyle/>
          <a:p>
            <a:pPr>
              <a:spcAft>
                <a:spcPts val="600"/>
              </a:spcAft>
              <a:defRPr/>
            </a:pPr>
            <a:r>
              <a:rPr lang="en-US" sz="800">
                <a:solidFill>
                  <a:srgbClr val="7582FF"/>
                </a:solidFill>
                <a:latin typeface="Inter"/>
              </a:rPr>
              <a:t>DEC 8, 2026| WORKSHOP |</a:t>
            </a:r>
            <a:r>
              <a:rPr lang="en-US" sz="800">
                <a:solidFill>
                  <a:srgbClr val="F9B373"/>
                </a:solidFill>
                <a:latin typeface="Inter"/>
                <a:ea typeface="Inter"/>
              </a:rPr>
              <a:t xml:space="preserve"> </a:t>
            </a:r>
            <a:r>
              <a:rPr kumimoji="0" lang="en-US" sz="800" b="1" i="0" u="none" strike="noStrike" kern="1200" cap="none" spc="0" normalizeH="0" baseline="0" noProof="0">
                <a:ln>
                  <a:noFill/>
                </a:ln>
                <a:solidFill>
                  <a:srgbClr val="F9B373"/>
                </a:solidFill>
                <a:effectLst/>
                <a:uLnTx/>
                <a:uFillTx/>
                <a:latin typeface="Inter"/>
                <a:ea typeface="Inter"/>
                <a:cs typeface="+mn-cs"/>
                <a:hlinkClick r:id="rId3"/>
              </a:rPr>
              <a:t>See here</a:t>
            </a:r>
            <a:endParaRPr kumimoji="0" lang="en-US" sz="800" b="1" i="0" u="none" strike="noStrike" kern="1200" cap="none" spc="0" normalizeH="0" baseline="0" noProof="0">
              <a:ln>
                <a:noFill/>
              </a:ln>
              <a:solidFill>
                <a:srgbClr val="F9B373"/>
              </a:solidFill>
              <a:effectLst/>
              <a:uLnTx/>
              <a:uFillTx/>
              <a:latin typeface="Inter"/>
              <a:ea typeface="Inter"/>
              <a:cs typeface="+mn-cs"/>
              <a:hlinkClick r:id="rId4"/>
            </a:endParaRPr>
          </a:p>
          <a:p>
            <a:pPr>
              <a:defRPr/>
            </a:pPr>
            <a:r>
              <a:rPr lang="en-US" sz="800" b="1">
                <a:solidFill>
                  <a:srgbClr val="1A1A1A"/>
                </a:solidFill>
                <a:latin typeface="Inter"/>
                <a:ea typeface="Inter"/>
                <a:cs typeface="Arial"/>
              </a:rPr>
              <a:t>Executive roundtable: Agentic Runtime Security</a:t>
            </a:r>
            <a:endParaRPr lang="en-US"/>
          </a:p>
          <a:p>
            <a:pPr>
              <a:defRPr/>
            </a:pPr>
            <a:endParaRPr lang="en-US" sz="800" b="1">
              <a:solidFill>
                <a:srgbClr val="1A1A1A"/>
              </a:solidFill>
              <a:latin typeface="Inter"/>
              <a:ea typeface="Inter"/>
              <a:cs typeface="Arial"/>
            </a:endParaRPr>
          </a:p>
          <a:p>
            <a:pPr>
              <a:spcAft>
                <a:spcPts val="600"/>
              </a:spcAft>
              <a:defRPr/>
            </a:pPr>
            <a:r>
              <a:rPr lang="en-US" sz="650">
                <a:solidFill>
                  <a:prstClr val="black"/>
                </a:solidFill>
                <a:latin typeface="Inter"/>
                <a:ea typeface="Inter"/>
                <a:cs typeface="Poppins"/>
              </a:rPr>
              <a:t xml:space="preserve">Join fellow security, identity, and technology leaders for an executive discussion on the emerging risks associated with agentic AI and the practical strategies organizations can adopt to securely enable AI-driven innovation. </a:t>
            </a:r>
            <a:br>
              <a:rPr lang="en-US"/>
            </a:br>
            <a:endParaRPr lang="en-US"/>
          </a:p>
        </p:txBody>
      </p:sp>
      <p:sp>
        <p:nvSpPr>
          <p:cNvPr id="1176" name="Google Shape;1176;g3722ab15d95_0_1477">
            <a:extLst>
              <a:ext uri="{FF2B5EF4-FFF2-40B4-BE49-F238E27FC236}">
                <a16:creationId xmlns:a16="http://schemas.microsoft.com/office/drawing/2014/main" id="{DCFA624A-3693-637C-E1D6-53B9D7C15B3A}"/>
              </a:ext>
            </a:extLst>
          </p:cNvPr>
          <p:cNvSpPr txBox="1"/>
          <p:nvPr/>
        </p:nvSpPr>
        <p:spPr>
          <a:xfrm>
            <a:off x="411450" y="368131"/>
            <a:ext cx="8321100" cy="380104"/>
          </a:xfrm>
          <a:prstGeom prst="rect">
            <a:avLst/>
          </a:prstGeom>
          <a:noFill/>
          <a:ln>
            <a:noFill/>
          </a:ln>
        </p:spPr>
        <p:txBody>
          <a:bodyPr spcFirstLastPara="1" wrap="square" lIns="0" tIns="0" rIns="0" bIns="0" anchor="t" anchorCtr="0">
            <a:spAutoFit/>
          </a:bodyPr>
          <a:lstStyle/>
          <a:p>
            <a:pPr marL="0" lvl="0" indent="0" algn="l" rtl="0">
              <a:lnSpc>
                <a:spcPct val="95000"/>
              </a:lnSpc>
              <a:spcBef>
                <a:spcPts val="0"/>
              </a:spcBef>
              <a:spcAft>
                <a:spcPts val="0"/>
              </a:spcAft>
              <a:buNone/>
            </a:pPr>
            <a:r>
              <a:rPr lang="en" sz="2600">
                <a:gradFill>
                  <a:gsLst>
                    <a:gs pos="0">
                      <a:srgbClr val="6C81FF"/>
                    </a:gs>
                    <a:gs pos="35000">
                      <a:srgbClr val="C08DFF"/>
                    </a:gs>
                    <a:gs pos="75000">
                      <a:srgbClr val="FF8791"/>
                    </a:gs>
                    <a:gs pos="100000">
                      <a:srgbClr val="F9B571"/>
                    </a:gs>
                  </a:gsLst>
                  <a:lin ang="2700000" scaled="0"/>
                </a:gradFill>
                <a:latin typeface="Inter SemiBold"/>
                <a:ea typeface="Inter SemiBold"/>
                <a:sym typeface="Inter SemiBold"/>
              </a:rPr>
              <a:t>Terraform Upcoming Webinars</a:t>
            </a:r>
            <a:endParaRPr sz="2600">
              <a:latin typeface="Inter SemiBold"/>
              <a:ea typeface="Inter SemiBold"/>
              <a:cs typeface="Inter SemiBold"/>
            </a:endParaRPr>
          </a:p>
        </p:txBody>
      </p:sp>
      <p:sp>
        <p:nvSpPr>
          <p:cNvPr id="8" name="Subtitle 2">
            <a:extLst>
              <a:ext uri="{FF2B5EF4-FFF2-40B4-BE49-F238E27FC236}">
                <a16:creationId xmlns:a16="http://schemas.microsoft.com/office/drawing/2014/main" id="{0F6EA60B-C882-0526-DCBC-962C410308CB}"/>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All global events </a:t>
            </a:r>
            <a:r>
              <a:rPr lang="en-US">
                <a:latin typeface="Inter Light"/>
                <a:cs typeface="Inter Light"/>
                <a:hlinkClick r:id="rId5"/>
              </a:rPr>
              <a:t>here​</a:t>
            </a:r>
            <a:r>
              <a:rPr lang="en-US">
                <a:latin typeface="Inter Light"/>
                <a:cs typeface="Inter Light"/>
              </a:rPr>
              <a:t xml:space="preserve"> </a:t>
            </a:r>
            <a:endParaRPr lang="en-US"/>
          </a:p>
        </p:txBody>
      </p:sp>
      <p:pic>
        <p:nvPicPr>
          <p:cNvPr id="30" name="Picture 29">
            <a:extLst>
              <a:ext uri="{FF2B5EF4-FFF2-40B4-BE49-F238E27FC236}">
                <a16:creationId xmlns:a16="http://schemas.microsoft.com/office/drawing/2014/main" id="{FFB320A7-4586-B855-CA8A-8E6386D40145}"/>
              </a:ext>
            </a:extLst>
          </p:cNvPr>
          <p:cNvPicPr>
            <a:picLocks noChangeAspect="1"/>
          </p:cNvPicPr>
          <p:nvPr/>
        </p:nvPicPr>
        <p:blipFill>
          <a:blip r:embed="rId6"/>
          <a:stretch>
            <a:fillRect/>
          </a:stretch>
        </p:blipFill>
        <p:spPr>
          <a:xfrm>
            <a:off x="7397294" y="280069"/>
            <a:ext cx="1399719" cy="361950"/>
          </a:xfrm>
          <a:prstGeom prst="rect">
            <a:avLst/>
          </a:prstGeom>
        </p:spPr>
      </p:pic>
      <p:grpSp>
        <p:nvGrpSpPr>
          <p:cNvPr id="4" name="Google Shape;1804;p188">
            <a:extLst>
              <a:ext uri="{FF2B5EF4-FFF2-40B4-BE49-F238E27FC236}">
                <a16:creationId xmlns:a16="http://schemas.microsoft.com/office/drawing/2014/main" id="{E3D3BDD1-62AD-AD17-3BCB-672007E73678}"/>
              </a:ext>
            </a:extLst>
          </p:cNvPr>
          <p:cNvGrpSpPr>
            <a:grpSpLocks noChangeAspect="1"/>
          </p:cNvGrpSpPr>
          <p:nvPr/>
        </p:nvGrpSpPr>
        <p:grpSpPr>
          <a:xfrm>
            <a:off x="3423353" y="2635627"/>
            <a:ext cx="236303" cy="274320"/>
            <a:chOff x="2287520" y="3789099"/>
            <a:chExt cx="171453" cy="187429"/>
          </a:xfrm>
        </p:grpSpPr>
        <p:sp>
          <p:nvSpPr>
            <p:cNvPr id="5" name="Google Shape;1805;p188">
              <a:extLst>
                <a:ext uri="{FF2B5EF4-FFF2-40B4-BE49-F238E27FC236}">
                  <a16:creationId xmlns:a16="http://schemas.microsoft.com/office/drawing/2014/main" id="{62886E56-BDC2-0978-988B-F4D5E11D1BF5}"/>
                </a:ext>
              </a:extLst>
            </p:cNvPr>
            <p:cNvSpPr/>
            <p:nvPr/>
          </p:nvSpPr>
          <p:spPr>
            <a:xfrm>
              <a:off x="2346594" y="3822094"/>
              <a:ext cx="53304" cy="88843"/>
            </a:xfrm>
            <a:custGeom>
              <a:avLst/>
              <a:gdLst/>
              <a:ahLst/>
              <a:cxnLst/>
              <a:rect l="l" t="t" r="r" b="b"/>
              <a:pathLst>
                <a:path w="52004" h="86676" extrusionOk="0">
                  <a:moveTo>
                    <a:pt x="0" y="0"/>
                  </a:moveTo>
                  <a:lnTo>
                    <a:pt x="52005" y="28883"/>
                  </a:lnTo>
                  <a:lnTo>
                    <a:pt x="52005" y="86677"/>
                  </a:lnTo>
                  <a:lnTo>
                    <a:pt x="0" y="57775"/>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6" name="Google Shape;1806;p188">
              <a:extLst>
                <a:ext uri="{FF2B5EF4-FFF2-40B4-BE49-F238E27FC236}">
                  <a16:creationId xmlns:a16="http://schemas.microsoft.com/office/drawing/2014/main" id="{F4426ACB-8C8E-E8C7-60BA-3EA3BB4402E0}"/>
                </a:ext>
              </a:extLst>
            </p:cNvPr>
            <p:cNvSpPr/>
            <p:nvPr/>
          </p:nvSpPr>
          <p:spPr>
            <a:xfrm>
              <a:off x="2405678" y="3822094"/>
              <a:ext cx="53295" cy="88843"/>
            </a:xfrm>
            <a:custGeom>
              <a:avLst/>
              <a:gdLst/>
              <a:ahLst/>
              <a:cxnLst/>
              <a:rect l="l" t="t" r="r" b="b"/>
              <a:pathLst>
                <a:path w="51995" h="86676" extrusionOk="0">
                  <a:moveTo>
                    <a:pt x="0" y="28883"/>
                  </a:moveTo>
                  <a:lnTo>
                    <a:pt x="0" y="86677"/>
                  </a:lnTo>
                  <a:lnTo>
                    <a:pt x="51995" y="57775"/>
                  </a:lnTo>
                  <a:lnTo>
                    <a:pt x="51995" y="0"/>
                  </a:lnTo>
                  <a:lnTo>
                    <a:pt x="0" y="28883"/>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7" name="Google Shape;1807;p188">
              <a:extLst>
                <a:ext uri="{FF2B5EF4-FFF2-40B4-BE49-F238E27FC236}">
                  <a16:creationId xmlns:a16="http://schemas.microsoft.com/office/drawing/2014/main" id="{460C09D8-F4E3-B312-4393-11B2D829A079}"/>
                </a:ext>
              </a:extLst>
            </p:cNvPr>
            <p:cNvSpPr/>
            <p:nvPr/>
          </p:nvSpPr>
          <p:spPr>
            <a:xfrm>
              <a:off x="2287520" y="3789099"/>
              <a:ext cx="53285" cy="88833"/>
            </a:xfrm>
            <a:custGeom>
              <a:avLst/>
              <a:gdLst/>
              <a:ahLst/>
              <a:cxnLst/>
              <a:rect l="l" t="t" r="r" b="b"/>
              <a:pathLst>
                <a:path w="51985" h="86666" extrusionOk="0">
                  <a:moveTo>
                    <a:pt x="0" y="0"/>
                  </a:moveTo>
                  <a:lnTo>
                    <a:pt x="0" y="57775"/>
                  </a:lnTo>
                  <a:lnTo>
                    <a:pt x="51986" y="86667"/>
                  </a:lnTo>
                  <a:lnTo>
                    <a:pt x="51986" y="28892"/>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9" name="Google Shape;1808;p188">
              <a:extLst>
                <a:ext uri="{FF2B5EF4-FFF2-40B4-BE49-F238E27FC236}">
                  <a16:creationId xmlns:a16="http://schemas.microsoft.com/office/drawing/2014/main" id="{1B6C0EC3-3BD5-2C47-E2AE-C5AFA0023091}"/>
                </a:ext>
              </a:extLst>
            </p:cNvPr>
            <p:cNvSpPr/>
            <p:nvPr/>
          </p:nvSpPr>
          <p:spPr>
            <a:xfrm>
              <a:off x="2346594" y="3887695"/>
              <a:ext cx="53285" cy="88833"/>
            </a:xfrm>
            <a:custGeom>
              <a:avLst/>
              <a:gdLst/>
              <a:ahLst/>
              <a:cxnLst/>
              <a:rect l="l" t="t" r="r" b="b"/>
              <a:pathLst>
                <a:path w="51985" h="86666" extrusionOk="0">
                  <a:moveTo>
                    <a:pt x="0" y="57775"/>
                  </a:moveTo>
                  <a:lnTo>
                    <a:pt x="51986" y="86667"/>
                  </a:lnTo>
                  <a:lnTo>
                    <a:pt x="51986" y="28892"/>
                  </a:lnTo>
                  <a:lnTo>
                    <a:pt x="0" y="0"/>
                  </a:lnTo>
                  <a:lnTo>
                    <a:pt x="0" y="57775"/>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pic>
        <p:nvPicPr>
          <p:cNvPr id="10" name="Google Shape;1050;p133">
            <a:extLst>
              <a:ext uri="{FF2B5EF4-FFF2-40B4-BE49-F238E27FC236}">
                <a16:creationId xmlns:a16="http://schemas.microsoft.com/office/drawing/2014/main" id="{03111E7F-3ECE-7130-EBD1-94E3D74FE67B}"/>
              </a:ext>
            </a:extLst>
          </p:cNvPr>
          <p:cNvPicPr preferRelativeResize="0"/>
          <p:nvPr/>
        </p:nvPicPr>
        <p:blipFill>
          <a:blip r:embed="rId7">
            <a:alphaModFix/>
          </a:blip>
          <a:stretch>
            <a:fillRect/>
          </a:stretch>
        </p:blipFill>
        <p:spPr>
          <a:xfrm>
            <a:off x="3708706" y="2635627"/>
            <a:ext cx="238264" cy="322485"/>
          </a:xfrm>
          <a:prstGeom prst="rect">
            <a:avLst/>
          </a:prstGeom>
          <a:noFill/>
          <a:ln>
            <a:noFill/>
          </a:ln>
        </p:spPr>
      </p:pic>
      <p:pic>
        <p:nvPicPr>
          <p:cNvPr id="11" name="Picture 12" descr="Union Jack - Wikipedia">
            <a:extLst>
              <a:ext uri="{FF2B5EF4-FFF2-40B4-BE49-F238E27FC236}">
                <a16:creationId xmlns:a16="http://schemas.microsoft.com/office/drawing/2014/main" id="{622BCFA3-451A-BCAB-90E2-77CCB8EEDE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9855" y="1440122"/>
            <a:ext cx="182880" cy="182880"/>
          </a:xfrm>
          <a:prstGeom prst="ellipse">
            <a:avLst/>
          </a:prstGeom>
          <a:noFill/>
          <a:extLst>
            <a:ext uri="{909E8E84-426E-40DD-AFC4-6F175D3DCCD1}">
              <a14:hiddenFill xmlns:a14="http://schemas.microsoft.com/office/drawing/2010/main">
                <a:solidFill>
                  <a:srgbClr val="FFFFFF"/>
                </a:solidFill>
              </a14:hiddenFill>
            </a:ext>
          </a:extLst>
        </p:spPr>
      </p:pic>
      <p:sp>
        <p:nvSpPr>
          <p:cNvPr id="3" name="Google Shape;397;p78">
            <a:extLst>
              <a:ext uri="{FF2B5EF4-FFF2-40B4-BE49-F238E27FC236}">
                <a16:creationId xmlns:a16="http://schemas.microsoft.com/office/drawing/2014/main" id="{BD625EE4-8B9D-723D-C249-A70A16CAF938}"/>
              </a:ext>
            </a:extLst>
          </p:cNvPr>
          <p:cNvSpPr/>
          <p:nvPr/>
        </p:nvSpPr>
        <p:spPr>
          <a:xfrm>
            <a:off x="425917" y="1397149"/>
            <a:ext cx="2533386" cy="1684442"/>
          </a:xfrm>
          <a:prstGeom prst="roundRect">
            <a:avLst>
              <a:gd name="adj" fmla="val 2539"/>
            </a:avLst>
          </a:prstGeom>
          <a:noFill/>
          <a:ln>
            <a:gradFill>
              <a:gsLst>
                <a:gs pos="0">
                  <a:srgbClr val="7582FF"/>
                </a:gs>
                <a:gs pos="25000">
                  <a:srgbClr val="C08DFF"/>
                </a:gs>
                <a:gs pos="75000">
                  <a:srgbClr val="FF8791"/>
                </a:gs>
                <a:gs pos="99000">
                  <a:srgbClr val="F9B373"/>
                </a:gs>
              </a:gsLst>
              <a:lin ang="5400000" scaled="1"/>
            </a:gradFill>
          </a:ln>
          <a:effectLst/>
        </p:spPr>
        <p:txBody>
          <a:bodyPr spcFirstLastPara="1" wrap="square" lIns="91425" tIns="91425" rIns="91425" bIns="91425" anchor="t" anchorCtr="0">
            <a:noAutofit/>
          </a:bodyPr>
          <a:lstStyle/>
          <a:p>
            <a:pPr>
              <a:spcAft>
                <a:spcPts val="600"/>
              </a:spcAft>
            </a:pPr>
            <a:r>
              <a:rPr lang="en-US" sz="800">
                <a:solidFill>
                  <a:srgbClr val="7582FF"/>
                </a:solidFill>
                <a:latin typeface="Inter"/>
                <a:ea typeface="Inter"/>
              </a:rPr>
              <a:t xml:space="preserve">NOV 4, 2026 | WEBINAR | </a:t>
            </a:r>
            <a:r>
              <a:rPr lang="en-US" sz="800" b="1">
                <a:solidFill>
                  <a:srgbClr val="F9B373"/>
                </a:solidFill>
                <a:latin typeface="Inter"/>
                <a:ea typeface="Inter"/>
                <a:hlinkClick r:id="rId9"/>
              </a:rPr>
              <a:t>See here</a:t>
            </a:r>
            <a:endParaRPr lang="en-US" sz="800" b="1">
              <a:solidFill>
                <a:srgbClr val="F9B373"/>
              </a:solidFill>
              <a:latin typeface="Inter"/>
              <a:ea typeface="Inter"/>
            </a:endParaRPr>
          </a:p>
          <a:p>
            <a:pPr>
              <a:spcAft>
                <a:spcPts val="600"/>
              </a:spcAft>
            </a:pPr>
            <a:r>
              <a:rPr lang="en-US" sz="800" b="1">
                <a:solidFill>
                  <a:srgbClr val="1A1A1A"/>
                </a:solidFill>
                <a:latin typeface="Inter"/>
                <a:ea typeface="Inter"/>
                <a:cs typeface="Arial"/>
              </a:rPr>
              <a:t>Build, deploy, and manage everything as code</a:t>
            </a:r>
          </a:p>
          <a:p>
            <a:pPr>
              <a:spcAft>
                <a:spcPts val="600"/>
              </a:spcAft>
              <a:buClr>
                <a:srgbClr val="FBAA79"/>
              </a:buClr>
              <a:buSzPct val="150000"/>
              <a:defRPr/>
            </a:pPr>
            <a:r>
              <a:rPr lang="en-US" sz="650">
                <a:latin typeface="Inter" panose="02000503000000020004" pitchFamily="2" charset="0"/>
                <a:ea typeface="Inter" panose="02000503000000020004" pitchFamily="2" charset="0"/>
                <a:cs typeface="Poppins"/>
              </a:rPr>
              <a:t xml:space="preserve">Automation has grown from simple scripts on servers to the deployment and management of entire environments including everything from applications, networking, infrastructure, security, and even people. In this webinar learn how both </a:t>
            </a:r>
            <a:r>
              <a:rPr lang="en-US" sz="650" err="1">
                <a:latin typeface="Inter" panose="02000503000000020004" pitchFamily="2" charset="0"/>
                <a:ea typeface="Inter" panose="02000503000000020004" pitchFamily="2" charset="0"/>
                <a:cs typeface="Poppins"/>
              </a:rPr>
              <a:t>HashiCorp</a:t>
            </a:r>
            <a:r>
              <a:rPr lang="en-US" sz="650">
                <a:latin typeface="Inter" panose="02000503000000020004" pitchFamily="2" charset="0"/>
                <a:ea typeface="Inter" panose="02000503000000020004" pitchFamily="2" charset="0"/>
                <a:cs typeface="Poppins"/>
              </a:rPr>
              <a:t xml:space="preserve"> Terraform and the </a:t>
            </a:r>
            <a:r>
              <a:rPr lang="en-US" sz="650" err="1">
                <a:latin typeface="Inter" panose="02000503000000020004" pitchFamily="2" charset="0"/>
                <a:ea typeface="Inter" panose="02000503000000020004" pitchFamily="2" charset="0"/>
                <a:cs typeface="Poppins"/>
              </a:rPr>
              <a:t>HashiCorp</a:t>
            </a:r>
            <a:r>
              <a:rPr lang="en-US" sz="650">
                <a:latin typeface="Inter" panose="02000503000000020004" pitchFamily="2" charset="0"/>
                <a:ea typeface="Inter" panose="02000503000000020004" pitchFamily="2" charset="0"/>
                <a:cs typeface="Poppins"/>
              </a:rPr>
              <a:t xml:space="preserve"> Cloud Platform can be used to create and administer all areas of a modern public cloud environment as code.</a:t>
            </a:r>
          </a:p>
        </p:txBody>
      </p:sp>
      <p:grpSp>
        <p:nvGrpSpPr>
          <p:cNvPr id="19" name="Google Shape;1804;p188">
            <a:extLst>
              <a:ext uri="{FF2B5EF4-FFF2-40B4-BE49-F238E27FC236}">
                <a16:creationId xmlns:a16="http://schemas.microsoft.com/office/drawing/2014/main" id="{937A5AC6-DFF9-DAA6-AB2C-D2C127AE408E}"/>
              </a:ext>
            </a:extLst>
          </p:cNvPr>
          <p:cNvGrpSpPr>
            <a:grpSpLocks noChangeAspect="1"/>
          </p:cNvGrpSpPr>
          <p:nvPr/>
        </p:nvGrpSpPr>
        <p:grpSpPr>
          <a:xfrm>
            <a:off x="599878" y="2659481"/>
            <a:ext cx="236303" cy="274320"/>
            <a:chOff x="2287520" y="3789099"/>
            <a:chExt cx="171453" cy="187429"/>
          </a:xfrm>
        </p:grpSpPr>
        <p:sp>
          <p:nvSpPr>
            <p:cNvPr id="20" name="Google Shape;1805;p188">
              <a:extLst>
                <a:ext uri="{FF2B5EF4-FFF2-40B4-BE49-F238E27FC236}">
                  <a16:creationId xmlns:a16="http://schemas.microsoft.com/office/drawing/2014/main" id="{2DBB54F9-CDEB-846C-8194-B7E1BB9C6085}"/>
                </a:ext>
              </a:extLst>
            </p:cNvPr>
            <p:cNvSpPr/>
            <p:nvPr/>
          </p:nvSpPr>
          <p:spPr>
            <a:xfrm>
              <a:off x="2346594" y="3822094"/>
              <a:ext cx="53304" cy="88843"/>
            </a:xfrm>
            <a:custGeom>
              <a:avLst/>
              <a:gdLst/>
              <a:ahLst/>
              <a:cxnLst/>
              <a:rect l="l" t="t" r="r" b="b"/>
              <a:pathLst>
                <a:path w="52004" h="86676" extrusionOk="0">
                  <a:moveTo>
                    <a:pt x="0" y="0"/>
                  </a:moveTo>
                  <a:lnTo>
                    <a:pt x="52005" y="28883"/>
                  </a:lnTo>
                  <a:lnTo>
                    <a:pt x="52005" y="86677"/>
                  </a:lnTo>
                  <a:lnTo>
                    <a:pt x="0" y="57775"/>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1" name="Google Shape;1806;p188">
              <a:extLst>
                <a:ext uri="{FF2B5EF4-FFF2-40B4-BE49-F238E27FC236}">
                  <a16:creationId xmlns:a16="http://schemas.microsoft.com/office/drawing/2014/main" id="{20653177-D447-5238-7170-086FDCDB3F6B}"/>
                </a:ext>
              </a:extLst>
            </p:cNvPr>
            <p:cNvSpPr/>
            <p:nvPr/>
          </p:nvSpPr>
          <p:spPr>
            <a:xfrm>
              <a:off x="2405678" y="3822094"/>
              <a:ext cx="53295" cy="88843"/>
            </a:xfrm>
            <a:custGeom>
              <a:avLst/>
              <a:gdLst/>
              <a:ahLst/>
              <a:cxnLst/>
              <a:rect l="l" t="t" r="r" b="b"/>
              <a:pathLst>
                <a:path w="51995" h="86676" extrusionOk="0">
                  <a:moveTo>
                    <a:pt x="0" y="28883"/>
                  </a:moveTo>
                  <a:lnTo>
                    <a:pt x="0" y="86677"/>
                  </a:lnTo>
                  <a:lnTo>
                    <a:pt x="51995" y="57775"/>
                  </a:lnTo>
                  <a:lnTo>
                    <a:pt x="51995" y="0"/>
                  </a:lnTo>
                  <a:lnTo>
                    <a:pt x="0" y="28883"/>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2" name="Google Shape;1807;p188">
              <a:extLst>
                <a:ext uri="{FF2B5EF4-FFF2-40B4-BE49-F238E27FC236}">
                  <a16:creationId xmlns:a16="http://schemas.microsoft.com/office/drawing/2014/main" id="{5FFDE239-DA57-653D-4778-E78BA5C320A5}"/>
                </a:ext>
              </a:extLst>
            </p:cNvPr>
            <p:cNvSpPr/>
            <p:nvPr/>
          </p:nvSpPr>
          <p:spPr>
            <a:xfrm>
              <a:off x="2287520" y="3789099"/>
              <a:ext cx="53285" cy="88833"/>
            </a:xfrm>
            <a:custGeom>
              <a:avLst/>
              <a:gdLst/>
              <a:ahLst/>
              <a:cxnLst/>
              <a:rect l="l" t="t" r="r" b="b"/>
              <a:pathLst>
                <a:path w="51985" h="86666" extrusionOk="0">
                  <a:moveTo>
                    <a:pt x="0" y="0"/>
                  </a:moveTo>
                  <a:lnTo>
                    <a:pt x="0" y="57775"/>
                  </a:lnTo>
                  <a:lnTo>
                    <a:pt x="51986" y="86667"/>
                  </a:lnTo>
                  <a:lnTo>
                    <a:pt x="51986" y="28892"/>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3" name="Google Shape;1808;p188">
              <a:extLst>
                <a:ext uri="{FF2B5EF4-FFF2-40B4-BE49-F238E27FC236}">
                  <a16:creationId xmlns:a16="http://schemas.microsoft.com/office/drawing/2014/main" id="{3039AE42-FF2B-A412-FAAF-E724C9FD725D}"/>
                </a:ext>
              </a:extLst>
            </p:cNvPr>
            <p:cNvSpPr/>
            <p:nvPr/>
          </p:nvSpPr>
          <p:spPr>
            <a:xfrm>
              <a:off x="2346594" y="3887695"/>
              <a:ext cx="53285" cy="88833"/>
            </a:xfrm>
            <a:custGeom>
              <a:avLst/>
              <a:gdLst/>
              <a:ahLst/>
              <a:cxnLst/>
              <a:rect l="l" t="t" r="r" b="b"/>
              <a:pathLst>
                <a:path w="51985" h="86666" extrusionOk="0">
                  <a:moveTo>
                    <a:pt x="0" y="57775"/>
                  </a:moveTo>
                  <a:lnTo>
                    <a:pt x="51986" y="86667"/>
                  </a:lnTo>
                  <a:lnTo>
                    <a:pt x="51986" y="28892"/>
                  </a:lnTo>
                  <a:lnTo>
                    <a:pt x="0" y="0"/>
                  </a:lnTo>
                  <a:lnTo>
                    <a:pt x="0" y="57775"/>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pic>
        <p:nvPicPr>
          <p:cNvPr id="24" name="Picture 12" descr="Union Jack - Wikipedia">
            <a:extLst>
              <a:ext uri="{FF2B5EF4-FFF2-40B4-BE49-F238E27FC236}">
                <a16:creationId xmlns:a16="http://schemas.microsoft.com/office/drawing/2014/main" id="{5F09F633-E8BB-4F2D-4DB8-1DA4B485BD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27148" y="1434965"/>
            <a:ext cx="182880" cy="182880"/>
          </a:xfrm>
          <a:prstGeom prst="ellipse">
            <a:avLst/>
          </a:prstGeom>
          <a:noFill/>
          <a:extLst>
            <a:ext uri="{909E8E84-426E-40DD-AFC4-6F175D3DCCD1}">
              <a14:hiddenFill xmlns:a14="http://schemas.microsoft.com/office/drawing/2010/main">
                <a:solidFill>
                  <a:srgbClr val="FFFFFF"/>
                </a:solidFill>
              </a14:hiddenFill>
            </a:ext>
          </a:extLst>
        </p:spPr>
      </p:pic>
      <p:sp>
        <p:nvSpPr>
          <p:cNvPr id="33" name="Google Shape;397;p78">
            <a:extLst>
              <a:ext uri="{FF2B5EF4-FFF2-40B4-BE49-F238E27FC236}">
                <a16:creationId xmlns:a16="http://schemas.microsoft.com/office/drawing/2014/main" id="{77B58348-E478-89A3-B536-32A9332B4428}"/>
              </a:ext>
            </a:extLst>
          </p:cNvPr>
          <p:cNvSpPr/>
          <p:nvPr/>
        </p:nvSpPr>
        <p:spPr>
          <a:xfrm>
            <a:off x="6085186" y="1414385"/>
            <a:ext cx="2533386" cy="1684442"/>
          </a:xfrm>
          <a:prstGeom prst="roundRect">
            <a:avLst>
              <a:gd name="adj" fmla="val 2539"/>
            </a:avLst>
          </a:prstGeom>
          <a:noFill/>
          <a:ln>
            <a:gradFill>
              <a:gsLst>
                <a:gs pos="0">
                  <a:srgbClr val="7582FF"/>
                </a:gs>
                <a:gs pos="25000">
                  <a:srgbClr val="C08DFF"/>
                </a:gs>
                <a:gs pos="75000">
                  <a:srgbClr val="FF8791"/>
                </a:gs>
                <a:gs pos="99000">
                  <a:srgbClr val="F9B373"/>
                </a:gs>
              </a:gsLst>
              <a:lin ang="5400000" scaled="1"/>
            </a:gradFill>
          </a:ln>
          <a:effectLst/>
        </p:spPr>
        <p:txBody>
          <a:bodyPr spcFirstLastPara="1" wrap="square" lIns="91425" tIns="91425" rIns="91425" bIns="91425" anchor="t" anchorCtr="0">
            <a:noAutofit/>
          </a:bodyPr>
          <a:lstStyle/>
          <a:p>
            <a:pPr>
              <a:spcAft>
                <a:spcPts val="600"/>
              </a:spcAft>
            </a:pPr>
            <a:r>
              <a:rPr lang="en-US" sz="800">
                <a:solidFill>
                  <a:srgbClr val="7582FF"/>
                </a:solidFill>
                <a:latin typeface="Inter"/>
                <a:ea typeface="Inter"/>
              </a:rPr>
              <a:t xml:space="preserve">DEC 9, 2026 | WORKSHOP | </a:t>
            </a:r>
            <a:r>
              <a:rPr lang="en-US" sz="800" b="1">
                <a:solidFill>
                  <a:srgbClr val="F9B373"/>
                </a:solidFill>
                <a:latin typeface="Inter"/>
                <a:ea typeface="Inter"/>
                <a:hlinkClick r:id="rId10"/>
              </a:rPr>
              <a:t>See here</a:t>
            </a:r>
            <a:endParaRPr lang="en-US" sz="800" b="1">
              <a:solidFill>
                <a:srgbClr val="F9B373"/>
              </a:solidFill>
              <a:latin typeface="Inter"/>
              <a:ea typeface="Inter"/>
            </a:endParaRPr>
          </a:p>
          <a:p>
            <a:pPr>
              <a:spcAft>
                <a:spcPts val="600"/>
              </a:spcAft>
            </a:pPr>
            <a:r>
              <a:rPr lang="en-US" sz="800" b="1">
                <a:solidFill>
                  <a:srgbClr val="1A1A1A"/>
                </a:solidFill>
                <a:latin typeface="Inter"/>
                <a:ea typeface="Inter"/>
                <a:cs typeface="Arial"/>
              </a:rPr>
              <a:t>Hands-on workshop: Cloud Foundations</a:t>
            </a:r>
          </a:p>
          <a:p>
            <a:pPr>
              <a:spcAft>
                <a:spcPts val="600"/>
              </a:spcAft>
              <a:buClr>
                <a:srgbClr val="FBAA79"/>
              </a:buClr>
              <a:buSzPct val="150000"/>
              <a:defRPr/>
            </a:pPr>
            <a:r>
              <a:rPr lang="en-US" sz="650">
                <a:latin typeface="Inter" panose="02000503000000020004" pitchFamily="2" charset="0"/>
                <a:ea typeface="Inter" panose="02000503000000020004" pitchFamily="2" charset="0"/>
                <a:cs typeface="Poppins"/>
              </a:rPr>
              <a:t>Join us for an immersive 2-hour hands-on session demonstrating the gold standard for provisioning and managing enterprise cloud infrastructure.</a:t>
            </a:r>
          </a:p>
        </p:txBody>
      </p:sp>
      <p:grpSp>
        <p:nvGrpSpPr>
          <p:cNvPr id="34" name="Google Shape;1804;p188">
            <a:extLst>
              <a:ext uri="{FF2B5EF4-FFF2-40B4-BE49-F238E27FC236}">
                <a16:creationId xmlns:a16="http://schemas.microsoft.com/office/drawing/2014/main" id="{04736AA9-5435-5B7B-F407-9F172FCD47D1}"/>
              </a:ext>
            </a:extLst>
          </p:cNvPr>
          <p:cNvGrpSpPr>
            <a:grpSpLocks noChangeAspect="1"/>
          </p:cNvGrpSpPr>
          <p:nvPr/>
        </p:nvGrpSpPr>
        <p:grpSpPr>
          <a:xfrm>
            <a:off x="6274645" y="2653344"/>
            <a:ext cx="236303" cy="274320"/>
            <a:chOff x="2287520" y="3789099"/>
            <a:chExt cx="171453" cy="187429"/>
          </a:xfrm>
        </p:grpSpPr>
        <p:sp>
          <p:nvSpPr>
            <p:cNvPr id="35" name="Google Shape;1805;p188">
              <a:extLst>
                <a:ext uri="{FF2B5EF4-FFF2-40B4-BE49-F238E27FC236}">
                  <a16:creationId xmlns:a16="http://schemas.microsoft.com/office/drawing/2014/main" id="{91013F63-6934-F0A5-F220-FB711F2F2309}"/>
                </a:ext>
              </a:extLst>
            </p:cNvPr>
            <p:cNvSpPr/>
            <p:nvPr/>
          </p:nvSpPr>
          <p:spPr>
            <a:xfrm>
              <a:off x="2346594" y="3822094"/>
              <a:ext cx="53304" cy="88843"/>
            </a:xfrm>
            <a:custGeom>
              <a:avLst/>
              <a:gdLst/>
              <a:ahLst/>
              <a:cxnLst/>
              <a:rect l="l" t="t" r="r" b="b"/>
              <a:pathLst>
                <a:path w="52004" h="86676" extrusionOk="0">
                  <a:moveTo>
                    <a:pt x="0" y="0"/>
                  </a:moveTo>
                  <a:lnTo>
                    <a:pt x="52005" y="28883"/>
                  </a:lnTo>
                  <a:lnTo>
                    <a:pt x="52005" y="86677"/>
                  </a:lnTo>
                  <a:lnTo>
                    <a:pt x="0" y="57775"/>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36" name="Google Shape;1806;p188">
              <a:extLst>
                <a:ext uri="{FF2B5EF4-FFF2-40B4-BE49-F238E27FC236}">
                  <a16:creationId xmlns:a16="http://schemas.microsoft.com/office/drawing/2014/main" id="{7175E770-FBD6-9206-136A-064B007DC620}"/>
                </a:ext>
              </a:extLst>
            </p:cNvPr>
            <p:cNvSpPr/>
            <p:nvPr/>
          </p:nvSpPr>
          <p:spPr>
            <a:xfrm>
              <a:off x="2405678" y="3822094"/>
              <a:ext cx="53295" cy="88843"/>
            </a:xfrm>
            <a:custGeom>
              <a:avLst/>
              <a:gdLst/>
              <a:ahLst/>
              <a:cxnLst/>
              <a:rect l="l" t="t" r="r" b="b"/>
              <a:pathLst>
                <a:path w="51995" h="86676" extrusionOk="0">
                  <a:moveTo>
                    <a:pt x="0" y="28883"/>
                  </a:moveTo>
                  <a:lnTo>
                    <a:pt x="0" y="86677"/>
                  </a:lnTo>
                  <a:lnTo>
                    <a:pt x="51995" y="57775"/>
                  </a:lnTo>
                  <a:lnTo>
                    <a:pt x="51995" y="0"/>
                  </a:lnTo>
                  <a:lnTo>
                    <a:pt x="0" y="28883"/>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37" name="Google Shape;1807;p188">
              <a:extLst>
                <a:ext uri="{FF2B5EF4-FFF2-40B4-BE49-F238E27FC236}">
                  <a16:creationId xmlns:a16="http://schemas.microsoft.com/office/drawing/2014/main" id="{2594C2B3-9357-9841-7501-145F4FD08121}"/>
                </a:ext>
              </a:extLst>
            </p:cNvPr>
            <p:cNvSpPr/>
            <p:nvPr/>
          </p:nvSpPr>
          <p:spPr>
            <a:xfrm>
              <a:off x="2287520" y="3789099"/>
              <a:ext cx="53285" cy="88833"/>
            </a:xfrm>
            <a:custGeom>
              <a:avLst/>
              <a:gdLst/>
              <a:ahLst/>
              <a:cxnLst/>
              <a:rect l="l" t="t" r="r" b="b"/>
              <a:pathLst>
                <a:path w="51985" h="86666" extrusionOk="0">
                  <a:moveTo>
                    <a:pt x="0" y="0"/>
                  </a:moveTo>
                  <a:lnTo>
                    <a:pt x="0" y="57775"/>
                  </a:lnTo>
                  <a:lnTo>
                    <a:pt x="51986" y="86667"/>
                  </a:lnTo>
                  <a:lnTo>
                    <a:pt x="51986" y="28892"/>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38" name="Google Shape;1808;p188">
              <a:extLst>
                <a:ext uri="{FF2B5EF4-FFF2-40B4-BE49-F238E27FC236}">
                  <a16:creationId xmlns:a16="http://schemas.microsoft.com/office/drawing/2014/main" id="{6A08CBB5-A913-7FE8-E7E1-66377A49C0D2}"/>
                </a:ext>
              </a:extLst>
            </p:cNvPr>
            <p:cNvSpPr/>
            <p:nvPr/>
          </p:nvSpPr>
          <p:spPr>
            <a:xfrm>
              <a:off x="2346594" y="3887695"/>
              <a:ext cx="53285" cy="88833"/>
            </a:xfrm>
            <a:custGeom>
              <a:avLst/>
              <a:gdLst/>
              <a:ahLst/>
              <a:cxnLst/>
              <a:rect l="l" t="t" r="r" b="b"/>
              <a:pathLst>
                <a:path w="51985" h="86666" extrusionOk="0">
                  <a:moveTo>
                    <a:pt x="0" y="57775"/>
                  </a:moveTo>
                  <a:lnTo>
                    <a:pt x="51986" y="86667"/>
                  </a:lnTo>
                  <a:lnTo>
                    <a:pt x="51986" y="28892"/>
                  </a:lnTo>
                  <a:lnTo>
                    <a:pt x="0" y="0"/>
                  </a:lnTo>
                  <a:lnTo>
                    <a:pt x="0" y="57775"/>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pic>
        <p:nvPicPr>
          <p:cNvPr id="39" name="Picture 12" descr="Union Jack - Wikipedia">
            <a:extLst>
              <a:ext uri="{FF2B5EF4-FFF2-40B4-BE49-F238E27FC236}">
                <a16:creationId xmlns:a16="http://schemas.microsoft.com/office/drawing/2014/main" id="{D95CF89D-5EF0-E478-E345-44A5D0B5FC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65949" y="1434110"/>
            <a:ext cx="182880" cy="18288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39809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auto-pptx:vault-enterprise-releases">
    <p:bg>
      <p:bgPr>
        <a:solidFill>
          <a:schemeClr val="bg1"/>
        </a:solidFill>
        <a:effectLst/>
      </p:bgPr>
    </p:bg>
    <p:spTree>
      <p:nvGrpSpPr>
        <p:cNvPr id="1" name="Shape 1614"/>
        <p:cNvGrpSpPr/>
        <p:nvPr/>
      </p:nvGrpSpPr>
      <p:grpSpPr>
        <a:xfrm>
          <a:off x="0" y="0"/>
          <a:ext cx="0" cy="0"/>
          <a:chOff x="0" y="0"/>
          <a:chExt cx="0" cy="0"/>
        </a:xfrm>
      </p:grpSpPr>
      <p:sp>
        <p:nvSpPr>
          <p:cNvPr id="1616" name="Google Shape;1616;g3722ab15d95_0_1975"/>
          <p:cNvSpPr txBox="1"/>
          <p:nvPr/>
        </p:nvSpPr>
        <p:spPr>
          <a:xfrm>
            <a:off x="411450" y="368131"/>
            <a:ext cx="8321100" cy="469872"/>
          </a:xfrm>
          <a:prstGeom prst="rect">
            <a:avLst/>
          </a:prstGeom>
          <a:noFill/>
          <a:ln>
            <a:noFill/>
          </a:ln>
        </p:spPr>
        <p:txBody>
          <a:bodyPr spcFirstLastPara="1" wrap="square" lIns="0" tIns="0" rIns="0" bIns="0" anchor="t" anchorCtr="0">
            <a:spAutoFit/>
          </a:bodyPr>
          <a:lstStyle/>
          <a:p>
            <a:pPr>
              <a:lnSpc>
                <a:spcPct val="95000"/>
              </a:lnSpc>
              <a:spcAft>
                <a:spcPts val="700"/>
              </a:spcAft>
            </a:pPr>
            <a:r>
              <a:rPr lang="en" sz="2600">
                <a:gradFill>
                  <a:gsLst>
                    <a:gs pos="0">
                      <a:srgbClr val="6C81FF"/>
                    </a:gs>
                    <a:gs pos="35000">
                      <a:srgbClr val="C08DFF"/>
                    </a:gs>
                    <a:gs pos="75000">
                      <a:srgbClr val="FF8791"/>
                    </a:gs>
                    <a:gs pos="100000">
                      <a:srgbClr val="F9B571"/>
                    </a:gs>
                  </a:gsLst>
                  <a:lin ang="2700000" scaled="0"/>
                </a:gradFill>
                <a:latin typeface="Inter SemiBold"/>
                <a:ea typeface="Inter SemiBold"/>
              </a:rPr>
              <a:t>Vault Enterprise Release Updates</a:t>
            </a:r>
          </a:p>
        </p:txBody>
      </p:sp>
      <p:sp>
        <p:nvSpPr>
          <p:cNvPr id="4" name="Subtitle 2">
            <a:extLst>
              <a:ext uri="{FF2B5EF4-FFF2-40B4-BE49-F238E27FC236}">
                <a16:creationId xmlns:a16="http://schemas.microsoft.com/office/drawing/2014/main" id="{3AF6E2E3-E62F-12A5-2FFB-4BA79C09A8F3}"/>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3"/>
              </a:rPr>
              <a:t>Vault Releases</a:t>
            </a:r>
            <a:endParaRPr lang="en-US"/>
          </a:p>
        </p:txBody>
      </p:sp>
      <p:sp>
        <p:nvSpPr>
          <p:cNvPr id="2" name="Google Shape;1260;p168">
            <a:extLst>
              <a:ext uri="{FF2B5EF4-FFF2-40B4-BE49-F238E27FC236}">
                <a16:creationId xmlns:a16="http://schemas.microsoft.com/office/drawing/2014/main" id="{1372709E-486A-6091-126F-793D2CD33FEB}"/>
              </a:ext>
            </a:extLst>
          </p:cNvPr>
          <p:cNvSpPr/>
          <p:nvPr/>
        </p:nvSpPr>
        <p:spPr>
          <a:xfrm>
            <a:off x="5984637" y="1233166"/>
            <a:ext cx="2626322" cy="201000"/>
          </a:xfrm>
          <a:prstGeom prst="chevron">
            <a:avLst>
              <a:gd name="adj" fmla="val 50000"/>
            </a:avLst>
          </a:prstGeom>
          <a:noFill/>
          <a:ln w="9525" cap="flat" cmpd="sng">
            <a:solidFill>
              <a:srgbClr val="FF879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September</a:t>
            </a:r>
            <a:endParaRPr sz="800">
              <a:latin typeface="Inter" panose="02000503000000020004" pitchFamily="2" charset="0"/>
              <a:sym typeface="Poppins"/>
            </a:endParaRPr>
          </a:p>
        </p:txBody>
      </p:sp>
      <p:sp>
        <p:nvSpPr>
          <p:cNvPr id="3" name="Google Shape;1261;p168">
            <a:extLst>
              <a:ext uri="{FF2B5EF4-FFF2-40B4-BE49-F238E27FC236}">
                <a16:creationId xmlns:a16="http://schemas.microsoft.com/office/drawing/2014/main" id="{490C3281-DD60-8B18-6859-D4C8D2B4D523}"/>
              </a:ext>
            </a:extLst>
          </p:cNvPr>
          <p:cNvSpPr/>
          <p:nvPr/>
        </p:nvSpPr>
        <p:spPr>
          <a:xfrm>
            <a:off x="617776" y="1222884"/>
            <a:ext cx="2626340" cy="201000"/>
          </a:xfrm>
          <a:prstGeom prst="homePlate">
            <a:avLst>
              <a:gd name="adj" fmla="val 50000"/>
            </a:avLst>
          </a:prstGeom>
          <a:noFill/>
          <a:ln w="9525" cap="flat" cmpd="sng">
            <a:solidFill>
              <a:srgbClr val="F9B37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a:latin typeface="Inter"/>
                <a:ea typeface="Inter"/>
                <a:sym typeface="Poppins"/>
              </a:rPr>
              <a:t>June</a:t>
            </a:r>
            <a:endParaRPr sz="800">
              <a:latin typeface="Inter"/>
              <a:ea typeface="Inter"/>
              <a:sym typeface="Poppins"/>
            </a:endParaRPr>
          </a:p>
        </p:txBody>
      </p:sp>
      <p:sp>
        <p:nvSpPr>
          <p:cNvPr id="6" name="Google Shape;1262;p168">
            <a:extLst>
              <a:ext uri="{FF2B5EF4-FFF2-40B4-BE49-F238E27FC236}">
                <a16:creationId xmlns:a16="http://schemas.microsoft.com/office/drawing/2014/main" id="{2866B8F2-A03E-140A-4A00-5C74BEDA8700}"/>
              </a:ext>
            </a:extLst>
          </p:cNvPr>
          <p:cNvSpPr/>
          <p:nvPr/>
        </p:nvSpPr>
        <p:spPr>
          <a:xfrm>
            <a:off x="3301212" y="1227738"/>
            <a:ext cx="2626329" cy="201000"/>
          </a:xfrm>
          <a:prstGeom prst="chevron">
            <a:avLst>
              <a:gd name="adj" fmla="val 50000"/>
            </a:avLst>
          </a:prstGeom>
          <a:noFill/>
          <a:ln w="9525" cap="flat" cmpd="sng">
            <a:solidFill>
              <a:srgbClr val="FE9388"/>
            </a:solidFill>
            <a:prstDash val="solid"/>
            <a:round/>
            <a:headEnd type="none" w="med" len="med"/>
            <a:tailEnd type="none" w="med" len="med"/>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Inter" panose="02000503000000020004" pitchFamily="2" charset="0"/>
                <a:sym typeface="Poppins"/>
              </a:rPr>
              <a:t>August + September</a:t>
            </a:r>
            <a:endParaRPr sz="800">
              <a:latin typeface="Inter" panose="02000503000000020004" pitchFamily="2" charset="0"/>
              <a:sym typeface="Poppins"/>
            </a:endParaRPr>
          </a:p>
        </p:txBody>
      </p:sp>
      <p:sp>
        <p:nvSpPr>
          <p:cNvPr id="9" name="Google Shape;397;p78">
            <a:extLst>
              <a:ext uri="{FF2B5EF4-FFF2-40B4-BE49-F238E27FC236}">
                <a16:creationId xmlns:a16="http://schemas.microsoft.com/office/drawing/2014/main" id="{20273D6E-D618-D09A-E9AE-F68A464B1D6C}"/>
              </a:ext>
            </a:extLst>
          </p:cNvPr>
          <p:cNvSpPr/>
          <p:nvPr/>
        </p:nvSpPr>
        <p:spPr>
          <a:xfrm>
            <a:off x="5984637"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lvl="0">
              <a:spcBef>
                <a:spcPts val="600"/>
              </a:spcBef>
              <a:spcAft>
                <a:spcPts val="600"/>
              </a:spcAf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4">
                  <a:extLst>
                    <a:ext uri="{A12FA001-AC4F-418D-AE19-62706E023703}">
                      <ahyp:hlinkClr xmlns:ahyp="http://schemas.microsoft.com/office/drawing/2018/hyperlinkcolor" val="tx"/>
                    </a:ext>
                  </a:extLst>
                </a:hlinkClick>
              </a:rPr>
              <a:t xml:space="preserve">v2.1.1 </a:t>
            </a:r>
            <a:r>
              <a:rPr kumimoji="0" lang="en-US" sz="800" b="1" i="0" u="none" strike="noStrike" kern="1200" cap="none" spc="0" normalizeH="0" baseline="0" noProof="0">
                <a:ln>
                  <a:noFill/>
                </a:ln>
                <a:solidFill>
                  <a:srgbClr val="F9B373"/>
                </a:solidFill>
                <a:effectLst/>
                <a:uLnTx/>
                <a:uFillTx/>
                <a:latin typeface="Inter"/>
                <a:ea typeface="Inter"/>
                <a:cs typeface="Poppins"/>
              </a:rPr>
              <a:t>/</a:t>
            </a:r>
            <a:r>
              <a:rPr kumimoji="0" lang="en-US" sz="800" b="1" i="0" u="none" strike="noStrike" kern="1200" cap="none" spc="0" normalizeH="0" baseline="0" noProof="0">
                <a:ln>
                  <a:noFill/>
                </a:ln>
                <a:solidFill>
                  <a:srgbClr val="FBA87B"/>
                </a:solidFill>
                <a:effectLst/>
                <a:uLnTx/>
                <a:uFillTx/>
                <a:latin typeface="Inter"/>
                <a:ea typeface="Inter"/>
                <a:cs typeface="Poppins"/>
                <a:hlinkClick r:id="rId5">
                  <a:extLst>
                    <a:ext uri="{A12FA001-AC4F-418D-AE19-62706E023703}">
                      <ahyp:hlinkClr xmlns:ahyp="http://schemas.microsoft.com/office/drawing/2018/hyperlinkcolor" val="tx"/>
                    </a:ext>
                  </a:extLst>
                </a:hlinkClick>
              </a:rPr>
              <a:t>v.1.21.11</a:t>
            </a:r>
            <a:r>
              <a:rPr kumimoji="0" lang="en-US" sz="800" b="1" i="0" u="none" strike="noStrike" kern="1200" cap="none" spc="0" normalizeH="0" baseline="0" noProof="0">
                <a:ln>
                  <a:noFill/>
                </a:ln>
                <a:solidFill>
                  <a:srgbClr val="FBA87B"/>
                </a:solidFill>
                <a:effectLst/>
                <a:uLnTx/>
                <a:uFillTx/>
                <a:latin typeface="Inter"/>
                <a:ea typeface="Inter"/>
                <a:cs typeface="Poppins"/>
              </a:rPr>
              <a:t xml:space="preserve"> /v</a:t>
            </a:r>
            <a:r>
              <a:rPr kumimoji="0" lang="en-US" sz="800" b="1" i="0" u="none" strike="noStrike" kern="1200" cap="none" spc="0" normalizeH="0" baseline="0" noProof="0">
                <a:ln>
                  <a:noFill/>
                </a:ln>
                <a:solidFill>
                  <a:srgbClr val="FBA87B"/>
                </a:solidFill>
                <a:effectLst/>
                <a:uLnTx/>
                <a:uFillTx/>
                <a:latin typeface="Inter"/>
                <a:ea typeface="Inter"/>
                <a:cs typeface="Poppins"/>
                <a:hlinkClick r:id="rId6">
                  <a:extLst>
                    <a:ext uri="{A12FA001-AC4F-418D-AE19-62706E023703}">
                      <ahyp:hlinkClr xmlns:ahyp="http://schemas.microsoft.com/office/drawing/2018/hyperlinkcolor" val="tx"/>
                    </a:ext>
                  </a:extLst>
                </a:hlinkClick>
              </a:rPr>
              <a:t>1.20.16</a:t>
            </a:r>
            <a:r>
              <a:rPr kumimoji="0" lang="en-US" sz="800" b="1" i="0" u="none" strike="noStrike" kern="1200" cap="none" spc="0" normalizeH="0" baseline="0" noProof="0">
                <a:ln>
                  <a:noFill/>
                </a:ln>
                <a:solidFill>
                  <a:srgbClr val="FBA87B"/>
                </a:solidFill>
                <a:effectLst/>
                <a:uLnTx/>
                <a:uFillTx/>
                <a:latin typeface="Inter"/>
                <a:ea typeface="Inter"/>
                <a:cs typeface="Poppins"/>
              </a:rPr>
              <a:t xml:space="preserve"> /v</a:t>
            </a:r>
            <a:r>
              <a:rPr kumimoji="0" lang="en-US" sz="800" b="1" i="0" u="none" strike="noStrike" kern="1200" cap="none" spc="0" normalizeH="0" baseline="0" noProof="0">
                <a:ln>
                  <a:noFill/>
                </a:ln>
                <a:solidFill>
                  <a:srgbClr val="FBA87B"/>
                </a:solidFill>
                <a:effectLst/>
                <a:uLnTx/>
                <a:uFillTx/>
                <a:latin typeface="Inter"/>
                <a:ea typeface="Inter"/>
                <a:cs typeface="Poppins"/>
                <a:hlinkClick r:id="rId7">
                  <a:extLst>
                    <a:ext uri="{A12FA001-AC4F-418D-AE19-62706E023703}">
                      <ahyp:hlinkClr xmlns:ahyp="http://schemas.microsoft.com/office/drawing/2018/hyperlinkcolor" val="tx"/>
                    </a:ext>
                  </a:extLst>
                </a:hlinkClick>
              </a:rPr>
              <a:t>1.19.22</a:t>
            </a:r>
            <a:r>
              <a:rPr kumimoji="0" lang="en-US" sz="800" b="1" i="0" u="none" strike="noStrike" kern="1200" cap="none" spc="0" normalizeH="0" baseline="0" noProof="0">
                <a:ln>
                  <a:noFill/>
                </a:ln>
                <a:solidFill>
                  <a:srgbClr val="FBA87B"/>
                </a:solidFill>
                <a:effectLst/>
                <a:uLnTx/>
                <a:uFillTx/>
                <a:latin typeface="Inter"/>
                <a:ea typeface="Inter"/>
                <a:cs typeface="Poppins"/>
              </a:rPr>
              <a:t xml:space="preserve"> </a:t>
            </a:r>
            <a:r>
              <a:rPr lang="en-US" sz="800" b="1">
                <a:solidFill>
                  <a:srgbClr val="F9B373"/>
                </a:solidFill>
                <a:latin typeface="Inter"/>
                <a:ea typeface="Inter"/>
                <a:cs typeface="Poppins"/>
                <a:hlinkClick r:id="rId4">
                  <a:extLst>
                    <a:ext uri="{A12FA001-AC4F-418D-AE19-62706E023703}">
                      <ahyp:hlinkClr xmlns:ahyp="http://schemas.microsoft.com/office/drawing/2018/hyperlinkcolor" val="tx"/>
                    </a:ext>
                  </a:extLst>
                </a:hlinkClick>
              </a:rPr>
              <a:t>(2026-09-16)</a:t>
            </a:r>
            <a:r>
              <a:rPr lang="en-US" sz="800" b="1">
                <a:solidFill>
                  <a:srgbClr val="F9B373"/>
                </a:solidFill>
                <a:latin typeface="Inter"/>
                <a:ea typeface="Inter"/>
                <a:cs typeface="Poppins"/>
              </a:rPr>
              <a:t xml:space="preserve"> </a:t>
            </a:r>
            <a:endParaRPr kumimoji="0" lang="en-US" sz="800" b="1" i="0" u="none" strike="noStrike" kern="1200" cap="none" spc="0" normalizeH="0" baseline="0" noProof="0">
              <a:ln>
                <a:noFill/>
              </a:ln>
              <a:solidFill>
                <a:srgbClr val="FBA87B"/>
              </a:solidFill>
              <a:effectLst/>
              <a:uLnTx/>
              <a:uFillTx/>
              <a:latin typeface="Inter"/>
              <a:ea typeface="Inter"/>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1" i="0" u="none" strike="noStrike" kern="1200" cap="none" spc="0" normalizeH="0" baseline="0" noProof="0">
                <a:ln>
                  <a:noFill/>
                </a:ln>
                <a:solidFill>
                  <a:prstClr val="black"/>
                </a:solidFill>
                <a:effectLst/>
                <a:uLnTx/>
                <a:uFillTx/>
                <a:latin typeface="Inter"/>
                <a:ea typeface="+mn-ea"/>
                <a:cs typeface="Poppins"/>
              </a:rPr>
              <a:t xml:space="preserve">Strengthens secrets import and identity integrations </a:t>
            </a:r>
            <a:r>
              <a:rPr kumimoji="0" lang="en-US" sz="650" i="0" u="none" strike="noStrike" kern="1200" cap="none" spc="0" normalizeH="0" baseline="0" noProof="0">
                <a:ln>
                  <a:noFill/>
                </a:ln>
                <a:solidFill>
                  <a:prstClr val="black"/>
                </a:solidFill>
                <a:effectLst/>
                <a:uLnTx/>
                <a:uFillTx/>
                <a:latin typeface="Inter"/>
                <a:ea typeface="+mn-ea"/>
                <a:cs typeface="Poppins"/>
              </a:rPr>
              <a:t>with trusted private endpoint controls for AWS/Azure imports and enhanced Okta group retrieval for JWT/OIDC authentication.</a:t>
            </a:r>
          </a:p>
          <a:p>
            <a:pPr marR="0" lvl="0" algn="l" defTabSz="457200" rtl="0" eaLnBrk="1" fontAlgn="auto" latinLnBrk="0" hangingPunct="1">
              <a:lnSpc>
                <a:spcPct val="100000"/>
              </a:lnSpc>
              <a:spcBef>
                <a:spcPts val="0"/>
              </a:spcBef>
              <a:spcAft>
                <a:spcPts val="0"/>
              </a:spcAft>
              <a:buClr>
                <a:srgbClr val="FBAA79"/>
              </a:buClr>
              <a:buSzPct val="150000"/>
              <a:tabLst/>
              <a:defRPr/>
            </a:pPr>
            <a:endParaRPr kumimoji="0" lang="en-US" sz="650" i="0" u="none" strike="noStrike" kern="1200" cap="none" spc="0" normalizeH="0" baseline="0" noProof="0">
              <a:ln>
                <a:noFill/>
              </a:ln>
              <a:solidFill>
                <a:prstClr val="black"/>
              </a:solidFill>
              <a:effectLst/>
              <a:uLnTx/>
              <a:uFillTx/>
              <a:latin typeface="Inter"/>
              <a:ea typeface="+mn-ea"/>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i="0" u="none" strike="noStrike" kern="1200" cap="none" spc="0" normalizeH="0" baseline="0" noProof="0">
                <a:ln>
                  <a:noFill/>
                </a:ln>
                <a:solidFill>
                  <a:prstClr val="black"/>
                </a:solidFill>
                <a:effectLst/>
                <a:uLnTx/>
                <a:uFillTx/>
                <a:latin typeface="Inter"/>
                <a:ea typeface="+mn-ea"/>
                <a:cs typeface="Poppins"/>
              </a:rPr>
              <a:t xml:space="preserve">The release also </a:t>
            </a:r>
            <a:r>
              <a:rPr kumimoji="0" lang="en-US" sz="650" b="1" i="0" u="none" strike="noStrike" kern="1200" cap="none" spc="0" normalizeH="0" baseline="0" noProof="0">
                <a:ln>
                  <a:noFill/>
                </a:ln>
                <a:solidFill>
                  <a:prstClr val="black"/>
                </a:solidFill>
                <a:effectLst/>
                <a:uLnTx/>
                <a:uFillTx/>
                <a:latin typeface="Inter"/>
                <a:ea typeface="+mn-ea"/>
                <a:cs typeface="Poppins"/>
              </a:rPr>
              <a:t xml:space="preserve">expands PKI flexibility </a:t>
            </a:r>
            <a:r>
              <a:rPr kumimoji="0" lang="en-US" sz="650" i="0" u="none" strike="noStrike" kern="1200" cap="none" spc="0" normalizeH="0" baseline="0" noProof="0">
                <a:ln>
                  <a:noFill/>
                </a:ln>
                <a:solidFill>
                  <a:prstClr val="black"/>
                </a:solidFill>
                <a:effectLst/>
                <a:uLnTx/>
                <a:uFillTx/>
                <a:latin typeface="Inter"/>
                <a:ea typeface="+mn-ea"/>
                <a:cs typeface="Poppins"/>
              </a:rPr>
              <a:t>by supporting additional CSR subject attributes, while delivering security patches and fixes across Secrets Sync, Agent Registry, leases, and the Vault UI.</a:t>
            </a:r>
          </a:p>
          <a:p>
            <a:pPr lvl="0">
              <a:spcBef>
                <a:spcPts val="600"/>
              </a:spcBef>
              <a:spcAft>
                <a:spcPts val="600"/>
              </a:spcAft>
              <a:defRPr/>
            </a:pPr>
            <a:endParaRPr lang="en-US" sz="800" b="1">
              <a:solidFill>
                <a:srgbClr val="F9B373"/>
              </a:solidFill>
              <a:latin typeface="Inter"/>
              <a:ea typeface="Inter"/>
              <a:cs typeface="Poppins"/>
              <a:hlinkClick r:id="rId8">
                <a:extLst>
                  <a:ext uri="{A12FA001-AC4F-418D-AE19-62706E023703}">
                    <ahyp:hlinkClr xmlns:ahyp="http://schemas.microsoft.com/office/drawing/2018/hyperlinkcolor" val="tx"/>
                  </a:ext>
                </a:extLst>
              </a:hlinkClick>
            </a:endParaRPr>
          </a:p>
          <a:p>
            <a:pPr lvl="0">
              <a:spcBef>
                <a:spcPts val="600"/>
              </a:spcBef>
              <a:spcAft>
                <a:spcPts val="600"/>
              </a:spcAft>
              <a:defRPr/>
            </a:pPr>
            <a:r>
              <a:rPr lang="en-US" sz="800" b="1">
                <a:solidFill>
                  <a:srgbClr val="F9B373"/>
                </a:solidFill>
                <a:latin typeface="Inter"/>
                <a:ea typeface="Inter"/>
                <a:cs typeface="Poppins"/>
                <a:hlinkClick r:id="rId8">
                  <a:extLst>
                    <a:ext uri="{A12FA001-AC4F-418D-AE19-62706E023703}">
                      <ahyp:hlinkClr xmlns:ahyp="http://schemas.microsoft.com/office/drawing/2018/hyperlinkcolor" val="tx"/>
                    </a:ext>
                  </a:extLst>
                </a:hlinkClick>
              </a:rPr>
              <a:t>v2.1.0 (2026-09-01)</a:t>
            </a:r>
            <a:endParaRPr lang="en-US" sz="800" b="1">
              <a:solidFill>
                <a:srgbClr val="F9B373"/>
              </a:solidFill>
              <a:latin typeface="Inter"/>
              <a:ea typeface="Inter"/>
              <a:cs typeface="Poppins"/>
            </a:endParaRPr>
          </a:p>
          <a:p>
            <a:pPr marL="171450" lvl="0" indent="-171450">
              <a:buClr>
                <a:srgbClr val="FBAA79"/>
              </a:buClr>
              <a:buSzPct val="150000"/>
              <a:buFont typeface="Arial" panose="020B0604020202020204" pitchFamily="34" charset="0"/>
              <a:buChar char="•"/>
              <a:defRPr/>
            </a:pPr>
            <a:r>
              <a:rPr lang="en-US" sz="650" b="1">
                <a:solidFill>
                  <a:prstClr val="black"/>
                </a:solidFill>
                <a:latin typeface="Inter"/>
                <a:cs typeface="Poppins"/>
              </a:rPr>
              <a:t>Agentic IAM reaches General Availability</a:t>
            </a:r>
            <a:r>
              <a:rPr lang="en-US" sz="650">
                <a:solidFill>
                  <a:prstClr val="black"/>
                </a:solidFill>
                <a:latin typeface="Inter"/>
                <a:cs typeface="Poppins"/>
              </a:rPr>
              <a:t xml:space="preserve">, extending Vault’s machine identity and security capabilities to AI agents and emerging agentic workloads. </a:t>
            </a:r>
          </a:p>
          <a:p>
            <a:pPr marL="171450" lvl="0" indent="-171450">
              <a:buClr>
                <a:srgbClr val="FBAA79"/>
              </a:buClr>
              <a:buSzPct val="150000"/>
              <a:buFont typeface="Arial" panose="020B0604020202020204" pitchFamily="34" charset="0"/>
              <a:buChar char="•"/>
              <a:defRPr/>
            </a:pPr>
            <a:endParaRPr lang="en-US" sz="650">
              <a:solidFill>
                <a:prstClr val="black"/>
              </a:solidFill>
              <a:latin typeface="Inter"/>
              <a:cs typeface="Poppins"/>
            </a:endParaRPr>
          </a:p>
          <a:p>
            <a:pPr marL="171450" lvl="0" indent="-171450">
              <a:buClr>
                <a:srgbClr val="FBAA79"/>
              </a:buClr>
              <a:buSzPct val="150000"/>
              <a:buFont typeface="Arial" panose="020B0604020202020204" pitchFamily="34" charset="0"/>
              <a:buChar char="•"/>
              <a:defRPr/>
            </a:pPr>
            <a:r>
              <a:rPr lang="en-US" sz="650" b="1">
                <a:solidFill>
                  <a:prstClr val="black"/>
                </a:solidFill>
                <a:latin typeface="Inter"/>
                <a:cs typeface="Poppins"/>
              </a:rPr>
              <a:t>Expanded OAuth support</a:t>
            </a:r>
            <a:r>
              <a:rPr lang="en-US" sz="650">
                <a:solidFill>
                  <a:prstClr val="black"/>
                </a:solidFill>
                <a:latin typeface="Inter"/>
                <a:cs typeface="Poppins"/>
              </a:rPr>
              <a:t>, policy flexibility, and platform improvements enhance the security, reliability, and operational experience of Vault</a:t>
            </a:r>
          </a:p>
        </p:txBody>
      </p:sp>
      <p:pic>
        <p:nvPicPr>
          <p:cNvPr id="5" name="Picture 4">
            <a:extLst>
              <a:ext uri="{FF2B5EF4-FFF2-40B4-BE49-F238E27FC236}">
                <a16:creationId xmlns:a16="http://schemas.microsoft.com/office/drawing/2014/main" id="{EC5B6EC9-B10C-9DAE-B503-D6EE4AE61FBB}"/>
              </a:ext>
            </a:extLst>
          </p:cNvPr>
          <p:cNvPicPr>
            <a:picLocks noChangeAspect="1"/>
          </p:cNvPicPr>
          <p:nvPr/>
        </p:nvPicPr>
        <p:blipFill>
          <a:blip r:embed="rId9"/>
          <a:srcRect/>
          <a:stretch>
            <a:fillRect/>
          </a:stretch>
        </p:blipFill>
        <p:spPr>
          <a:xfrm>
            <a:off x="6950932" y="342433"/>
            <a:ext cx="1933294" cy="371475"/>
          </a:xfrm>
          <a:prstGeom prst="rect">
            <a:avLst/>
          </a:prstGeom>
        </p:spPr>
      </p:pic>
      <p:sp>
        <p:nvSpPr>
          <p:cNvPr id="10" name="Google Shape;397;p78">
            <a:extLst>
              <a:ext uri="{FF2B5EF4-FFF2-40B4-BE49-F238E27FC236}">
                <a16:creationId xmlns:a16="http://schemas.microsoft.com/office/drawing/2014/main" id="{A8482EE0-DB2C-873E-D533-1F29918DC1B4}"/>
              </a:ext>
            </a:extLst>
          </p:cNvPr>
          <p:cNvSpPr/>
          <p:nvPr/>
        </p:nvSpPr>
        <p:spPr>
          <a:xfrm>
            <a:off x="617775"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10">
                  <a:extLst>
                    <a:ext uri="{A12FA001-AC4F-418D-AE19-62706E023703}">
                      <ahyp:hlinkClr xmlns:ahyp="http://schemas.microsoft.com/office/drawing/2018/hyperlinkcolor" val="tx"/>
                    </a:ext>
                  </a:extLst>
                </a:hlinkClick>
              </a:rPr>
              <a:t>v2.0.3 (2026-06-17)</a:t>
            </a:r>
            <a:endParaRPr kumimoji="0" lang="en-US" sz="800" b="1" i="0" u="none" strike="noStrike" kern="1200" cap="none" spc="0" normalizeH="0" baseline="0" noProof="0">
              <a:ln>
                <a:noFill/>
              </a:ln>
              <a:solidFill>
                <a:srgbClr val="F9B373"/>
              </a:solidFill>
              <a:effectLst/>
              <a:uLnTx/>
              <a:uFillTx/>
              <a:latin typeface="Inter"/>
              <a:ea typeface="Inter"/>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1" i="0" u="none" strike="noStrike" kern="1200" cap="none" spc="0" normalizeH="0" baseline="0" noProof="0">
                <a:ln>
                  <a:noFill/>
                </a:ln>
                <a:solidFill>
                  <a:prstClr val="black"/>
                </a:solidFill>
                <a:effectLst/>
                <a:uLnTx/>
                <a:uFillTx/>
                <a:latin typeface="Inter"/>
                <a:ea typeface="Inter"/>
                <a:cs typeface="Poppins"/>
              </a:rPr>
              <a:t xml:space="preserve">Introduces native support for AI agents </a:t>
            </a:r>
            <a:r>
              <a:rPr kumimoji="0" lang="en-US" sz="650" b="0" i="0" u="none" strike="noStrike" kern="1200" cap="none" spc="0" normalizeH="0" baseline="0" noProof="0">
                <a:ln>
                  <a:noFill/>
                </a:ln>
                <a:solidFill>
                  <a:prstClr val="black"/>
                </a:solidFill>
                <a:effectLst/>
                <a:uLnTx/>
                <a:uFillTx/>
                <a:latin typeface="Inter"/>
                <a:ea typeface="Inter"/>
                <a:cs typeface="Poppins"/>
              </a:rPr>
              <a:t xml:space="preserve">(public beta), extending Vault's machine identity and secrets management capabilities to emerging AI-driven workloads. </a:t>
            </a: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1" i="0" u="none" strike="noStrike" kern="1200" cap="none" spc="0" normalizeH="0" baseline="0" noProof="0">
                <a:ln>
                  <a:noFill/>
                </a:ln>
                <a:solidFill>
                  <a:prstClr val="black"/>
                </a:solidFill>
                <a:effectLst/>
                <a:uLnTx/>
                <a:uFillTx/>
                <a:latin typeface="Inter"/>
                <a:ea typeface="Inter"/>
                <a:cs typeface="Poppins"/>
              </a:rPr>
              <a:t>Operational and user experience improvements</a:t>
            </a:r>
            <a:r>
              <a:rPr kumimoji="0" lang="en-US" sz="650" b="0" i="0" u="none" strike="noStrike" kern="1200" cap="none" spc="0" normalizeH="0" baseline="0" noProof="0">
                <a:ln>
                  <a:noFill/>
                </a:ln>
                <a:solidFill>
                  <a:prstClr val="black"/>
                </a:solidFill>
                <a:effectLst/>
                <a:uLnTx/>
                <a:uFillTx/>
                <a:latin typeface="Inter"/>
                <a:ea typeface="Inter"/>
                <a:cs typeface="Poppins"/>
              </a:rPr>
              <a:t xml:space="preserve"> include enhanced Cloud Foundry authentication efficiency, refreshed usage dashboards, and UI stability enhancements.</a:t>
            </a:r>
            <a:endParaRPr kumimoji="0" lang="en-US" sz="800" b="1" i="0" u="none" strike="noStrike" kern="1200" cap="none" spc="0" normalizeH="0" baseline="0" noProof="0">
              <a:ln>
                <a:noFill/>
              </a:ln>
              <a:solidFill>
                <a:prstClr val="black"/>
              </a:solidFill>
              <a:effectLst/>
              <a:uLnTx/>
              <a:uFillTx/>
              <a:latin typeface="Inter"/>
              <a:ea typeface="Inter"/>
              <a:cs typeface="Poppins"/>
              <a:hlinkClick r:id="rId11">
                <a:extLst>
                  <a:ext uri="{A12FA001-AC4F-418D-AE19-62706E023703}">
                    <ahyp:hlinkClr xmlns:ahyp="http://schemas.microsoft.com/office/drawing/2018/hyperlinkcolor" val="tx"/>
                  </a:ext>
                </a:extLst>
              </a:hlinkClick>
            </a:endParaRPr>
          </a:p>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12">
                  <a:extLst>
                    <a:ext uri="{A12FA001-AC4F-418D-AE19-62706E023703}">
                      <ahyp:hlinkClr xmlns:ahyp="http://schemas.microsoft.com/office/drawing/2018/hyperlinkcolor" val="tx"/>
                    </a:ext>
                  </a:extLst>
                </a:hlinkClick>
              </a:rPr>
              <a:t>v1.21.8 / v.1.20.13 / v.1.19.19 (2026-06-17)</a:t>
            </a:r>
            <a:endParaRPr kumimoji="0" lang="en-US" sz="800" b="1" i="0" u="none" strike="noStrike" kern="1200" cap="none" spc="0" normalizeH="0" baseline="0" noProof="0">
              <a:ln>
                <a:noFill/>
              </a:ln>
              <a:solidFill>
                <a:srgbClr val="F9B373"/>
              </a:solidFill>
              <a:effectLst/>
              <a:uLnTx/>
              <a:uFillTx/>
              <a:latin typeface="Inter"/>
              <a:ea typeface="Inter"/>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a:ea typeface="Inter"/>
                <a:cs typeface="Poppins"/>
              </a:rPr>
              <a:t>Bug fixes and improvements</a:t>
            </a:r>
            <a:endParaRPr kumimoji="0" lang="en-US" sz="800" b="0" i="0" u="none" strike="noStrike" kern="1200" cap="none" spc="0" normalizeH="0" baseline="0" noProof="0">
              <a:ln>
                <a:noFill/>
              </a:ln>
              <a:solidFill>
                <a:srgbClr val="F9B373"/>
              </a:solidFill>
              <a:effectLst/>
              <a:uLnTx/>
              <a:uFillTx/>
              <a:latin typeface="Inter"/>
              <a:ea typeface="Inter"/>
              <a:cs typeface="Poppins"/>
              <a:hlinkClick r:id="rId11">
                <a:extLst>
                  <a:ext uri="{A12FA001-AC4F-418D-AE19-62706E023703}">
                    <ahyp:hlinkClr xmlns:ahyp="http://schemas.microsoft.com/office/drawing/2018/hyperlinkcolor" val="tx"/>
                  </a:ext>
                </a:extLst>
              </a:hlinkClick>
            </a:endParaRPr>
          </a:p>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11">
                  <a:extLst>
                    <a:ext uri="{A12FA001-AC4F-418D-AE19-62706E023703}">
                      <ahyp:hlinkClr xmlns:ahyp="http://schemas.microsoft.com/office/drawing/2018/hyperlinkcolor" val="tx"/>
                    </a:ext>
                  </a:extLst>
                </a:hlinkClick>
              </a:rPr>
              <a:t>v2.0.2 (2026-06-05)</a:t>
            </a:r>
            <a:endParaRPr kumimoji="0" lang="en-US" sz="800" b="0" i="0" u="none" strike="noStrike" kern="1200" cap="none" spc="0" normalizeH="0" baseline="0" noProof="0">
              <a:ln>
                <a:noFill/>
              </a:ln>
              <a:solidFill>
                <a:srgbClr val="000000"/>
              </a:solidFill>
              <a:effectLst/>
              <a:uLnTx/>
              <a:uFillTx/>
              <a:latin typeface="Inter"/>
              <a:ea typeface="Inter"/>
              <a:cs typeface="Poppins"/>
            </a:endParaRPr>
          </a:p>
          <a:p>
            <a:pPr marL="0" marR="0" lvl="0" indent="0" algn="l" defTabSz="457200" rtl="0" eaLnBrk="1" fontAlgn="auto" latinLnBrk="0" hangingPunct="1">
              <a:lnSpc>
                <a:spcPct val="100000"/>
              </a:lnSpc>
              <a:spcBef>
                <a:spcPts val="0"/>
              </a:spcBef>
              <a:spcAft>
                <a:spcPts val="0"/>
              </a:spcAft>
              <a:buClr>
                <a:srgbClr val="FBAA79"/>
              </a:buClr>
              <a:buSzPct val="150000"/>
              <a:buFontTx/>
              <a:buNone/>
              <a:tabLst/>
              <a:defRPr/>
            </a:pPr>
            <a:r>
              <a:rPr kumimoji="0" lang="en-US" sz="650" b="1" i="0" u="none" strike="noStrike" kern="1200" cap="none" spc="0" normalizeH="0" baseline="0" noProof="0">
                <a:ln>
                  <a:noFill/>
                </a:ln>
                <a:solidFill>
                  <a:prstClr val="black"/>
                </a:solidFill>
                <a:effectLst/>
                <a:uLnTx/>
                <a:uFillTx/>
                <a:latin typeface="Inter"/>
                <a:ea typeface="Inter"/>
                <a:cs typeface="Poppins"/>
              </a:rPr>
              <a:t>Breaking changes</a:t>
            </a: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a:ea typeface="Inter"/>
                <a:cs typeface="Poppins"/>
              </a:rPr>
              <a:t>Containers: Remove </a:t>
            </a:r>
            <a:r>
              <a:rPr kumimoji="0" lang="en-US" sz="650" b="0" i="0" u="none" strike="noStrike" kern="1200" cap="none" spc="0" normalizeH="0" baseline="0" noProof="0" err="1">
                <a:ln>
                  <a:noFill/>
                </a:ln>
                <a:solidFill>
                  <a:prstClr val="black"/>
                </a:solidFill>
                <a:effectLst/>
                <a:uLnTx/>
                <a:uFillTx/>
                <a:latin typeface="Inter"/>
                <a:ea typeface="Inter"/>
                <a:cs typeface="Poppins"/>
              </a:rPr>
              <a:t>cap_ipc_lock</a:t>
            </a:r>
            <a:r>
              <a:rPr kumimoji="0" lang="en-US" sz="650" b="0" i="0" u="none" strike="noStrike" kern="1200" cap="none" spc="0" normalizeH="0" baseline="0" noProof="0">
                <a:ln>
                  <a:noFill/>
                </a:ln>
                <a:solidFill>
                  <a:prstClr val="black"/>
                </a:solidFill>
                <a:effectLst/>
                <a:uLnTx/>
                <a:uFillTx/>
                <a:latin typeface="Inter"/>
                <a:ea typeface="Inter"/>
                <a:cs typeface="Poppins"/>
              </a:rPr>
              <a:t> capability on vault at build time Runtime operators are advised to disable swapping to guarantee data safety.</a:t>
            </a: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panose="02000503000000020004" pitchFamily="2" charset="0"/>
                <a:ea typeface="Inter" panose="02000503000000020004" pitchFamily="2" charset="0"/>
                <a:cs typeface="Poppins"/>
              </a:rPr>
              <a:t>secrets/ssh: RSA key sizes are now limited to a maximum size of 8192 bits addressing CVE-2026-39829</a:t>
            </a:r>
          </a:p>
          <a:p>
            <a:pPr marL="171450" lvl="0" indent="-171450">
              <a:spcAft>
                <a:spcPts val="600"/>
              </a:spcAft>
              <a:buClr>
                <a:srgbClr val="F9B373"/>
              </a:buClr>
              <a:buSzPct val="150000"/>
              <a:buFont typeface="Arial" panose="020B0604020202020204" pitchFamily="34" charset="0"/>
              <a:buChar char="•"/>
              <a:defRPr/>
            </a:pPr>
            <a:endParaRPr lang="en-US" sz="650">
              <a:latin typeface="Inter" panose="02000503000000020004" pitchFamily="2" charset="0"/>
              <a:ea typeface="Inter" panose="02000503000000020004" pitchFamily="2" charset="0"/>
              <a:cs typeface="Poppins"/>
            </a:endParaRPr>
          </a:p>
        </p:txBody>
      </p:sp>
      <p:sp>
        <p:nvSpPr>
          <p:cNvPr id="12" name="Google Shape;397;p78">
            <a:extLst>
              <a:ext uri="{FF2B5EF4-FFF2-40B4-BE49-F238E27FC236}">
                <a16:creationId xmlns:a16="http://schemas.microsoft.com/office/drawing/2014/main" id="{4C470E44-8386-49B3-A14E-3E92D4AE2335}"/>
              </a:ext>
            </a:extLst>
          </p:cNvPr>
          <p:cNvSpPr/>
          <p:nvPr/>
        </p:nvSpPr>
        <p:spPr>
          <a:xfrm>
            <a:off x="330530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13">
                  <a:extLst>
                    <a:ext uri="{A12FA001-AC4F-418D-AE19-62706E023703}">
                      <ahyp:hlinkClr xmlns:ahyp="http://schemas.microsoft.com/office/drawing/2018/hyperlinkcolor" val="tx"/>
                    </a:ext>
                  </a:extLst>
                </a:hlinkClick>
              </a:rPr>
              <a:t>v1.21.11 / v.1.20.16 / v.1.19.22 (2026-09-16)</a:t>
            </a:r>
            <a:endParaRPr kumimoji="0" lang="en-US" sz="800" b="1" i="0" u="none" strike="noStrike" kern="1200" cap="none" spc="0" normalizeH="0" baseline="0" noProof="0">
              <a:ln>
                <a:noFill/>
              </a:ln>
              <a:solidFill>
                <a:srgbClr val="F9B373"/>
              </a:solidFill>
              <a:effectLst/>
              <a:uLnTx/>
              <a:uFillTx/>
              <a:latin typeface="Inter"/>
              <a:ea typeface="Inter"/>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a:ea typeface="Inter"/>
                <a:cs typeface="Poppins"/>
              </a:rPr>
              <a:t>Added a "</a:t>
            </a:r>
            <a:r>
              <a:rPr kumimoji="0" lang="en-US" sz="650" b="1" i="0" u="none" strike="noStrike" kern="1200" cap="none" spc="0" normalizeH="0" baseline="0" noProof="0">
                <a:ln>
                  <a:noFill/>
                </a:ln>
                <a:solidFill>
                  <a:prstClr val="black"/>
                </a:solidFill>
                <a:effectLst/>
                <a:uLnTx/>
                <a:uFillTx/>
                <a:latin typeface="Inter"/>
                <a:ea typeface="Inter"/>
                <a:cs typeface="Poppins"/>
              </a:rPr>
              <a:t xml:space="preserve">Submit feedback" button </a:t>
            </a:r>
            <a:r>
              <a:rPr kumimoji="0" lang="en-US" sz="650" b="0" i="0" u="none" strike="noStrike" kern="1200" cap="none" spc="0" normalizeH="0" baseline="0" noProof="0">
                <a:ln>
                  <a:noFill/>
                </a:ln>
                <a:solidFill>
                  <a:prstClr val="black"/>
                </a:solidFill>
                <a:effectLst/>
                <a:uLnTx/>
                <a:uFillTx/>
                <a:latin typeface="Inter"/>
                <a:ea typeface="Inter"/>
                <a:cs typeface="Poppins"/>
              </a:rPr>
              <a:t>to the sidebar navigation and the Help and Support dropdown, linking to an external feedback survey.</a:t>
            </a: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a:ea typeface="Inter"/>
                <a:cs typeface="Poppins"/>
              </a:rPr>
              <a:t>Bug fixes and improvements</a:t>
            </a:r>
            <a:endParaRPr lang="en-US" sz="650">
              <a:solidFill>
                <a:prstClr val="black"/>
              </a:solidFill>
              <a:latin typeface="Inter"/>
              <a:cs typeface="Poppins"/>
            </a:endParaRPr>
          </a:p>
          <a:p>
            <a:pPr marR="0" lvl="0" algn="l" defTabSz="457200" rtl="0" eaLnBrk="1" fontAlgn="auto" latinLnBrk="0" hangingPunct="1">
              <a:lnSpc>
                <a:spcPct val="100000"/>
              </a:lnSpc>
              <a:spcBef>
                <a:spcPts val="0"/>
              </a:spcBef>
              <a:spcAft>
                <a:spcPts val="0"/>
              </a:spcAft>
              <a:buClr>
                <a:srgbClr val="FBAA79"/>
              </a:buClr>
              <a:buSzPct val="150000"/>
              <a:tabLst/>
              <a:defRPr/>
            </a:pPr>
            <a:endParaRPr lang="en-US" sz="800" b="1">
              <a:solidFill>
                <a:srgbClr val="F9B373"/>
              </a:solidFill>
              <a:latin typeface="Inter"/>
              <a:ea typeface="Inter"/>
              <a:cs typeface="Poppins"/>
              <a:hlinkClick r:id="rId14">
                <a:extLst>
                  <a:ext uri="{A12FA001-AC4F-418D-AE19-62706E023703}">
                    <ahyp:hlinkClr xmlns:ahyp="http://schemas.microsoft.com/office/drawing/2018/hyperlinkcolor" val="tx"/>
                  </a:ext>
                </a:extLst>
              </a:hlinkClick>
            </a:endParaRPr>
          </a:p>
          <a:p>
            <a:pPr lvl="0">
              <a:spcBef>
                <a:spcPts val="600"/>
              </a:spcBef>
              <a:spcAft>
                <a:spcPts val="600"/>
              </a:spcAft>
              <a:defRPr/>
            </a:pPr>
            <a:r>
              <a:rPr lang="en-US" sz="800" b="1">
                <a:solidFill>
                  <a:srgbClr val="F9B373"/>
                </a:solidFill>
                <a:latin typeface="Inter"/>
                <a:ea typeface="Inter"/>
                <a:cs typeface="Poppins"/>
                <a:hlinkClick r:id="rId14">
                  <a:extLst>
                    <a:ext uri="{A12FA001-AC4F-418D-AE19-62706E023703}">
                      <ahyp:hlinkClr xmlns:ahyp="http://schemas.microsoft.com/office/drawing/2018/hyperlinkcolor" val="tx"/>
                    </a:ext>
                  </a:extLst>
                </a:hlinkClick>
              </a:rPr>
              <a:t>v1.21.10 / v.1.20.15 / v.1.19.21 (2026-09-01)</a:t>
            </a:r>
            <a:endParaRPr lang="en-US" sz="800" b="1">
              <a:solidFill>
                <a:srgbClr val="F9B373"/>
              </a:solidFill>
              <a:latin typeface="Inter"/>
              <a:ea typeface="Inter"/>
              <a:cs typeface="Poppins"/>
            </a:endParaRPr>
          </a:p>
          <a:p>
            <a:pPr marL="171450" lvl="0" indent="-171450">
              <a:buClr>
                <a:srgbClr val="FBAA79"/>
              </a:buClr>
              <a:buSzPct val="150000"/>
              <a:buFont typeface="Arial" panose="020B0604020202020204" pitchFamily="34" charset="0"/>
              <a:buChar char="•"/>
              <a:defRPr/>
            </a:pPr>
            <a:r>
              <a:rPr lang="en-US" sz="650">
                <a:solidFill>
                  <a:prstClr val="black"/>
                </a:solidFill>
                <a:latin typeface="Inter"/>
                <a:ea typeface="Inter"/>
                <a:cs typeface="Poppins"/>
              </a:rPr>
              <a:t>Bug fixes and improvements</a:t>
            </a:r>
          </a:p>
          <a:p>
            <a:pPr lvl="0">
              <a:buClr>
                <a:srgbClr val="FBAA79"/>
              </a:buClr>
              <a:buSzPct val="150000"/>
              <a:defRPr/>
            </a:pPr>
            <a:endParaRPr lang="en-US" sz="650">
              <a:solidFill>
                <a:prstClr val="black"/>
              </a:solidFill>
              <a:latin typeface="Inter"/>
              <a:ea typeface="Inter"/>
              <a:cs typeface="Poppins"/>
            </a:endParaRPr>
          </a:p>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800" b="1" i="0" u="none" strike="noStrike" kern="1200" cap="none" spc="0" normalizeH="0" baseline="0" noProof="0">
                <a:ln>
                  <a:noFill/>
                </a:ln>
                <a:solidFill>
                  <a:srgbClr val="F9B373"/>
                </a:solidFill>
                <a:effectLst/>
                <a:uLnTx/>
                <a:uFillTx/>
                <a:latin typeface="Inter"/>
                <a:ea typeface="Inter"/>
                <a:cs typeface="Poppins"/>
                <a:hlinkClick r:id="rId15">
                  <a:extLst>
                    <a:ext uri="{A12FA001-AC4F-418D-AE19-62706E023703}">
                      <ahyp:hlinkClr xmlns:ahyp="http://schemas.microsoft.com/office/drawing/2018/hyperlinkcolor" val="tx"/>
                    </a:ext>
                  </a:extLst>
                </a:hlinkClick>
              </a:rPr>
              <a:t>v1.21.9 / v.1.20.14 / v.1.19.20 (2026-08-05)</a:t>
            </a:r>
            <a:endParaRPr kumimoji="0" lang="en-US" sz="800" b="1" i="0" u="none" strike="noStrike" kern="1200" cap="none" spc="0" normalizeH="0" baseline="0" noProof="0">
              <a:ln>
                <a:noFill/>
              </a:ln>
              <a:solidFill>
                <a:srgbClr val="F9B373"/>
              </a:solidFill>
              <a:effectLst/>
              <a:uLnTx/>
              <a:uFillTx/>
              <a:latin typeface="Inter"/>
              <a:ea typeface="Inter"/>
              <a:cs typeface="Poppins"/>
            </a:endParaRP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r>
              <a:rPr kumimoji="0" lang="en-US" sz="650" b="0" i="0" u="none" strike="noStrike" kern="1200" cap="none" spc="0" normalizeH="0" baseline="0" noProof="0">
                <a:ln>
                  <a:noFill/>
                </a:ln>
                <a:solidFill>
                  <a:prstClr val="black"/>
                </a:solidFill>
                <a:effectLst/>
                <a:uLnTx/>
                <a:uFillTx/>
                <a:latin typeface="Inter"/>
                <a:ea typeface="Inter"/>
                <a:cs typeface="Poppins"/>
              </a:rPr>
              <a:t>Bug fixes and improvements</a:t>
            </a:r>
          </a:p>
          <a:p>
            <a:pPr marR="0" lvl="0" algn="l" defTabSz="457200" rtl="0" eaLnBrk="1" fontAlgn="auto" latinLnBrk="0" hangingPunct="1">
              <a:lnSpc>
                <a:spcPct val="100000"/>
              </a:lnSpc>
              <a:spcBef>
                <a:spcPts val="0"/>
              </a:spcBef>
              <a:spcAft>
                <a:spcPts val="0"/>
              </a:spcAft>
              <a:buClr>
                <a:srgbClr val="FBAA79"/>
              </a:buClr>
              <a:buSzPct val="150000"/>
              <a:tabLst/>
              <a:defRPr/>
            </a:pPr>
            <a:endParaRPr lang="en-US" sz="800" b="1">
              <a:solidFill>
                <a:srgbClr val="F9B373"/>
              </a:solidFill>
              <a:latin typeface="Inter"/>
              <a:ea typeface="Inter"/>
              <a:cs typeface="Poppins"/>
              <a:hlinkClick r:id="rId16">
                <a:extLst>
                  <a:ext uri="{A12FA001-AC4F-418D-AE19-62706E023703}">
                    <ahyp:hlinkClr xmlns:ahyp="http://schemas.microsoft.com/office/drawing/2018/hyperlinkcolor" val="tx"/>
                  </a:ext>
                </a:extLst>
              </a:hlinkClick>
            </a:endParaRPr>
          </a:p>
          <a:p>
            <a:pPr>
              <a:spcBef>
                <a:spcPts val="600"/>
              </a:spcBef>
              <a:spcAft>
                <a:spcPts val="600"/>
              </a:spcAft>
            </a:pPr>
            <a:r>
              <a:rPr lang="en-US" sz="800" b="1">
                <a:solidFill>
                  <a:srgbClr val="F9B373"/>
                </a:solidFill>
                <a:latin typeface="Inter"/>
                <a:ea typeface="Inter"/>
                <a:cs typeface="Poppins"/>
                <a:hlinkClick r:id="rId16">
                  <a:extLst>
                    <a:ext uri="{A12FA001-AC4F-418D-AE19-62706E023703}">
                      <ahyp:hlinkClr xmlns:ahyp="http://schemas.microsoft.com/office/drawing/2018/hyperlinkcolor" val="tx"/>
                    </a:ext>
                  </a:extLst>
                </a:hlinkClick>
              </a:rPr>
              <a:t>v2.0.4 (2026-08-04)</a:t>
            </a:r>
            <a:endParaRPr lang="en-US" sz="800" b="1">
              <a:solidFill>
                <a:srgbClr val="F9B373"/>
              </a:solidFill>
              <a:latin typeface="Inter"/>
              <a:ea typeface="Inter"/>
              <a:cs typeface="Poppins"/>
            </a:endParaRPr>
          </a:p>
          <a:p>
            <a:pPr marL="171450" lvl="0" indent="-171450">
              <a:spcAft>
                <a:spcPts val="600"/>
              </a:spcAft>
              <a:buClr>
                <a:srgbClr val="F9B373"/>
              </a:buClr>
              <a:buSzPct val="150000"/>
              <a:buFont typeface="Arial" panose="020B0604020202020204" pitchFamily="34" charset="0"/>
              <a:buChar char="•"/>
              <a:defRPr/>
            </a:pPr>
            <a:r>
              <a:rPr lang="en-US" sz="650">
                <a:solidFill>
                  <a:prstClr val="black"/>
                </a:solidFill>
                <a:latin typeface="Inter"/>
                <a:cs typeface="Poppins"/>
              </a:rPr>
              <a:t xml:space="preserve">Expands Vault’s machine identity capabilities with </a:t>
            </a:r>
            <a:r>
              <a:rPr lang="en-US" sz="650" b="1">
                <a:solidFill>
                  <a:prstClr val="black"/>
                </a:solidFill>
                <a:latin typeface="Inter"/>
                <a:cs typeface="Poppins"/>
              </a:rPr>
              <a:t>native AI-agent support</a:t>
            </a:r>
            <a:r>
              <a:rPr lang="en-US" sz="650">
                <a:solidFill>
                  <a:prstClr val="black"/>
                </a:solidFill>
                <a:latin typeface="Inter"/>
                <a:cs typeface="Poppins"/>
              </a:rPr>
              <a:t>, while delivering targeted reliability, operational and UX improvements and continuing to strengthen the platform’s security posture</a:t>
            </a:r>
          </a:p>
          <a:p>
            <a:pPr marL="171450" marR="0" lvl="0" indent="-171450" algn="l" defTabSz="457200" rtl="0" eaLnBrk="1" fontAlgn="auto" latinLnBrk="0" hangingPunct="1">
              <a:lnSpc>
                <a:spcPct val="100000"/>
              </a:lnSpc>
              <a:spcBef>
                <a:spcPts val="0"/>
              </a:spcBef>
              <a:spcAft>
                <a:spcPts val="0"/>
              </a:spcAft>
              <a:buClr>
                <a:srgbClr val="FBAA79"/>
              </a:buClr>
              <a:buSzPct val="150000"/>
              <a:buFont typeface="Arial" panose="020B0604020202020204" pitchFamily="34" charset="0"/>
              <a:buChar char="•"/>
              <a:tabLst/>
              <a:defRPr/>
            </a:pPr>
            <a:endParaRPr lang="en-US" sz="650">
              <a:solidFill>
                <a:prstClr val="black"/>
              </a:solidFill>
              <a:latin typeface="Inter"/>
              <a:ea typeface="Inter"/>
              <a:cs typeface="Poppins"/>
            </a:endParaRPr>
          </a:p>
          <a:p>
            <a:pPr marR="0" lvl="0" algn="l" defTabSz="457200" rtl="0" eaLnBrk="1" fontAlgn="auto" latinLnBrk="0" hangingPunct="1">
              <a:lnSpc>
                <a:spcPct val="100000"/>
              </a:lnSpc>
              <a:spcBef>
                <a:spcPts val="0"/>
              </a:spcBef>
              <a:spcAft>
                <a:spcPts val="0"/>
              </a:spcAft>
              <a:buClr>
                <a:srgbClr val="FBAA79"/>
              </a:buClr>
              <a:buSzPct val="150000"/>
              <a:tabLst/>
              <a:defRPr/>
            </a:pPr>
            <a:endParaRPr kumimoji="0" lang="en-US" sz="650" b="0" i="0" u="none" strike="noStrike" kern="1200" cap="none" spc="0" normalizeH="0" baseline="0" noProof="0">
              <a:ln>
                <a:noFill/>
              </a:ln>
              <a:solidFill>
                <a:prstClr val="black"/>
              </a:solidFill>
              <a:effectLst/>
              <a:uLnTx/>
              <a:uFillTx/>
              <a:latin typeface="Inter"/>
              <a:ea typeface="+mn-ea"/>
              <a:cs typeface="Poppins"/>
            </a:endParaRPr>
          </a:p>
          <a:p>
            <a:pPr marR="0" lvl="0" algn="l" defTabSz="457200" rtl="0" eaLnBrk="1" fontAlgn="auto" latinLnBrk="0" hangingPunct="1">
              <a:lnSpc>
                <a:spcPct val="100000"/>
              </a:lnSpc>
              <a:spcBef>
                <a:spcPts val="0"/>
              </a:spcBef>
              <a:spcAft>
                <a:spcPts val="0"/>
              </a:spcAft>
              <a:buClr>
                <a:srgbClr val="FBAA79"/>
              </a:buClr>
              <a:buSzPct val="150000"/>
              <a:tabLst/>
              <a:defRPr/>
            </a:pPr>
            <a:endParaRPr lang="en-US" sz="650">
              <a:solidFill>
                <a:prstClr val="black"/>
              </a:solidFill>
              <a:latin typeface="Inter"/>
              <a:cs typeface="Poppins"/>
            </a:endParaRPr>
          </a:p>
        </p:txBody>
      </p:sp>
    </p:spTree>
    <p:extLst>
      <p:ext uri="{BB962C8B-B14F-4D97-AF65-F5344CB8AC3E}">
        <p14:creationId xmlns:p14="http://schemas.microsoft.com/office/powerpoint/2010/main" val="1429672648"/>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auto-pptx:hcp-vault-changelog">
    <p:spTree>
      <p:nvGrpSpPr>
        <p:cNvPr id="1" name="Shape 1614">
          <a:extLst>
            <a:ext uri="{FF2B5EF4-FFF2-40B4-BE49-F238E27FC236}">
              <a16:creationId xmlns:a16="http://schemas.microsoft.com/office/drawing/2014/main" id="{5F2CB836-29CD-9E5E-C4F9-CB41ACD6EE8E}"/>
            </a:ext>
          </a:extLst>
        </p:cNvPr>
        <p:cNvGrpSpPr/>
        <p:nvPr/>
      </p:nvGrpSpPr>
      <p:grpSpPr>
        <a:xfrm>
          <a:off x="0" y="0"/>
          <a:ext cx="0" cy="0"/>
          <a:chOff x="0" y="0"/>
          <a:chExt cx="0" cy="0"/>
        </a:xfrm>
      </p:grpSpPr>
      <p:sp>
        <p:nvSpPr>
          <p:cNvPr id="1616" name="Google Shape;1616;g3722ab15d95_0_1975">
            <a:extLst>
              <a:ext uri="{FF2B5EF4-FFF2-40B4-BE49-F238E27FC236}">
                <a16:creationId xmlns:a16="http://schemas.microsoft.com/office/drawing/2014/main" id="{8BB8DF84-0671-4E02-74F1-A2E1BB025383}"/>
              </a:ext>
            </a:extLst>
          </p:cNvPr>
          <p:cNvSpPr txBox="1"/>
          <p:nvPr/>
        </p:nvSpPr>
        <p:spPr>
          <a:xfrm>
            <a:off x="411450" y="368131"/>
            <a:ext cx="8321100" cy="469872"/>
          </a:xfrm>
          <a:prstGeom prst="rect">
            <a:avLst/>
          </a:prstGeom>
          <a:noFill/>
          <a:ln>
            <a:noFill/>
          </a:ln>
        </p:spPr>
        <p:txBody>
          <a:bodyPr spcFirstLastPara="1" wrap="square" lIns="0" tIns="0" rIns="0" bIns="0" anchor="t" anchorCtr="0">
            <a:spAutoFit/>
          </a:bodyPr>
          <a:lstStyle/>
          <a:p>
            <a:pPr>
              <a:lnSpc>
                <a:spcPct val="95000"/>
              </a:lnSpc>
              <a:spcAft>
                <a:spcPts val="700"/>
              </a:spcAft>
            </a:pPr>
            <a:r>
              <a:rPr lang="en" sz="2600">
                <a:gradFill>
                  <a:gsLst>
                    <a:gs pos="0">
                      <a:srgbClr val="6C81FF"/>
                    </a:gs>
                    <a:gs pos="35000">
                      <a:srgbClr val="C08DFF"/>
                    </a:gs>
                    <a:gs pos="75000">
                      <a:srgbClr val="FF8791"/>
                    </a:gs>
                    <a:gs pos="100000">
                      <a:srgbClr val="F9B571"/>
                    </a:gs>
                  </a:gsLst>
                  <a:lin ang="2700000" scaled="0"/>
                </a:gradFill>
                <a:latin typeface="Inter SemiBold"/>
                <a:ea typeface="Inter SemiBold"/>
              </a:rPr>
              <a:t>HCP Vault Release Updates</a:t>
            </a:r>
          </a:p>
        </p:txBody>
      </p:sp>
      <p:sp>
        <p:nvSpPr>
          <p:cNvPr id="4" name="Subtitle 2">
            <a:extLst>
              <a:ext uri="{FF2B5EF4-FFF2-40B4-BE49-F238E27FC236}">
                <a16:creationId xmlns:a16="http://schemas.microsoft.com/office/drawing/2014/main" id="{849EF08E-BCB4-DD2D-9D49-AD680E014D84}"/>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3"/>
              </a:rPr>
              <a:t>Vault Releases</a:t>
            </a:r>
            <a:endParaRPr lang="en-US">
              <a:hlinkClick r:id="rId3"/>
            </a:endParaRPr>
          </a:p>
        </p:txBody>
      </p:sp>
      <p:sp>
        <p:nvSpPr>
          <p:cNvPr id="2" name="Google Shape;1260;p168">
            <a:extLst>
              <a:ext uri="{FF2B5EF4-FFF2-40B4-BE49-F238E27FC236}">
                <a16:creationId xmlns:a16="http://schemas.microsoft.com/office/drawing/2014/main" id="{73E77CD7-2E7C-89C2-05A0-E7BB78F80F34}"/>
              </a:ext>
            </a:extLst>
          </p:cNvPr>
          <p:cNvSpPr/>
          <p:nvPr/>
        </p:nvSpPr>
        <p:spPr>
          <a:xfrm>
            <a:off x="5984637" y="1233166"/>
            <a:ext cx="2626322" cy="201000"/>
          </a:xfrm>
          <a:prstGeom prst="chevron">
            <a:avLst>
              <a:gd name="adj" fmla="val 50000"/>
            </a:avLst>
          </a:prstGeom>
          <a:noFill/>
          <a:ln w="9525" cap="flat" cmpd="sng">
            <a:solidFill>
              <a:srgbClr val="FF8791"/>
            </a:solidFill>
            <a:prstDash val="solid"/>
            <a:round/>
            <a:headEnd type="none" w="sm" len="sm"/>
            <a:tailEnd type="none" w="sm" len="sm"/>
          </a:ln>
        </p:spPr>
        <p:txBody>
          <a:bodyPr spcFirstLastPara="1" wrap="square" lIns="91425" tIns="91425" rIns="91425" bIns="91425" anchor="ctr" anchorCtr="0">
            <a:noAutofit/>
          </a:bodyPr>
          <a:lstStyle/>
          <a:p>
            <a:pPr marL="0" lvl="0" indent="0" algn="ctr">
              <a:spcBef>
                <a:spcPts val="0"/>
              </a:spcBef>
              <a:spcAft>
                <a:spcPts val="0"/>
              </a:spcAft>
              <a:buNone/>
            </a:pPr>
            <a:r>
              <a:rPr lang="en" sz="800">
                <a:latin typeface="Inter"/>
                <a:ea typeface="Inter"/>
              </a:rPr>
              <a:t>September</a:t>
            </a:r>
          </a:p>
        </p:txBody>
      </p:sp>
      <p:sp>
        <p:nvSpPr>
          <p:cNvPr id="3" name="Google Shape;1261;p168">
            <a:extLst>
              <a:ext uri="{FF2B5EF4-FFF2-40B4-BE49-F238E27FC236}">
                <a16:creationId xmlns:a16="http://schemas.microsoft.com/office/drawing/2014/main" id="{9C0AA47A-B86D-3241-F2ED-04995693ABD6}"/>
              </a:ext>
            </a:extLst>
          </p:cNvPr>
          <p:cNvSpPr/>
          <p:nvPr/>
        </p:nvSpPr>
        <p:spPr>
          <a:xfrm>
            <a:off x="617776" y="1222884"/>
            <a:ext cx="2626340" cy="201000"/>
          </a:xfrm>
          <a:prstGeom prst="homePlate">
            <a:avLst>
              <a:gd name="adj" fmla="val 50000"/>
            </a:avLst>
          </a:prstGeom>
          <a:noFill/>
          <a:ln w="9525" cap="flat" cmpd="sng">
            <a:solidFill>
              <a:srgbClr val="F9B37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800">
                <a:latin typeface="Inter"/>
                <a:ea typeface="Inter"/>
                <a:sym typeface="Poppins"/>
              </a:rPr>
              <a:t>July</a:t>
            </a:r>
            <a:endParaRPr sz="800">
              <a:latin typeface="Inter" panose="02000503000000020004" pitchFamily="2" charset="0"/>
              <a:sym typeface="Poppins"/>
            </a:endParaRPr>
          </a:p>
        </p:txBody>
      </p:sp>
      <p:sp>
        <p:nvSpPr>
          <p:cNvPr id="6" name="Google Shape;1262;p168">
            <a:extLst>
              <a:ext uri="{FF2B5EF4-FFF2-40B4-BE49-F238E27FC236}">
                <a16:creationId xmlns:a16="http://schemas.microsoft.com/office/drawing/2014/main" id="{5A931A26-4912-F1F5-8552-8CF8C366D1CA}"/>
              </a:ext>
            </a:extLst>
          </p:cNvPr>
          <p:cNvSpPr/>
          <p:nvPr/>
        </p:nvSpPr>
        <p:spPr>
          <a:xfrm>
            <a:off x="3301212" y="1227738"/>
            <a:ext cx="2626329" cy="201000"/>
          </a:xfrm>
          <a:prstGeom prst="chevron">
            <a:avLst>
              <a:gd name="adj" fmla="val 50000"/>
            </a:avLst>
          </a:prstGeom>
          <a:noFill/>
          <a:ln w="9525" cap="flat" cmpd="sng">
            <a:solidFill>
              <a:srgbClr val="FE9388"/>
            </a:solidFill>
            <a:prstDash val="solid"/>
            <a:round/>
            <a:headEnd type="none" w="med" len="med"/>
            <a:tailEnd type="none" w="med" len="med"/>
          </a:ln>
        </p:spPr>
        <p:txBody>
          <a:bodyPr spcFirstLastPara="1" wrap="square" lIns="91425" tIns="91425" rIns="91425" bIns="91425" anchor="ctr" anchorCtr="0">
            <a:noAutofit/>
          </a:bodyPr>
          <a:lstStyle/>
          <a:p>
            <a:pPr marL="0" lvl="0" indent="0" algn="ctr">
              <a:spcBef>
                <a:spcPts val="0"/>
              </a:spcBef>
              <a:spcAft>
                <a:spcPts val="0"/>
              </a:spcAft>
              <a:buNone/>
            </a:pPr>
            <a:r>
              <a:rPr lang="en" sz="800">
                <a:latin typeface="Inter"/>
                <a:ea typeface="Inter"/>
                <a:sym typeface="Poppins"/>
              </a:rPr>
              <a:t>August</a:t>
            </a:r>
            <a:endParaRPr lang="en-US"/>
          </a:p>
        </p:txBody>
      </p:sp>
      <p:sp>
        <p:nvSpPr>
          <p:cNvPr id="7" name="Google Shape;397;p78">
            <a:extLst>
              <a:ext uri="{FF2B5EF4-FFF2-40B4-BE49-F238E27FC236}">
                <a16:creationId xmlns:a16="http://schemas.microsoft.com/office/drawing/2014/main" id="{1994426B-7478-1AB2-6081-F6841AFCF69A}"/>
              </a:ext>
            </a:extLst>
          </p:cNvPr>
          <p:cNvSpPr/>
          <p:nvPr/>
        </p:nvSpPr>
        <p:spPr>
          <a:xfrm>
            <a:off x="61777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Bef>
                <a:spcPts val="600"/>
              </a:spcBef>
              <a:spcAft>
                <a:spcPts val="600"/>
              </a:spcAft>
            </a:pPr>
            <a:r>
              <a:rPr lang="en-US" sz="800" b="1">
                <a:solidFill>
                  <a:srgbClr val="F9B373"/>
                </a:solidFill>
                <a:latin typeface="Inter" panose="02000503000000020004" pitchFamily="2" charset="0"/>
                <a:ea typeface="Inter" panose="02000503000000020004" pitchFamily="2" charset="0"/>
                <a:cs typeface="Poppins"/>
                <a:hlinkClick r:id="rId4">
                  <a:extLst>
                    <a:ext uri="{A12FA001-AC4F-418D-AE19-62706E023703}">
                      <ahyp:hlinkClr xmlns:ahyp="http://schemas.microsoft.com/office/drawing/2018/hyperlinkcolor" val="tx"/>
                    </a:ext>
                  </a:extLst>
                </a:hlinkClick>
              </a:rPr>
              <a:t>2026-07-07</a:t>
            </a:r>
            <a:endParaRPr lang="en-US" sz="800" b="1">
              <a:solidFill>
                <a:srgbClr val="F9B373"/>
              </a:solidFill>
              <a:latin typeface="Inter" panose="02000503000000020004" pitchFamily="2" charset="0"/>
              <a:ea typeface="Inter" panose="02000503000000020004" pitchFamily="2" charset="0"/>
              <a:cs typeface="Poppins"/>
            </a:endParaRPr>
          </a:p>
          <a:p>
            <a:pPr marL="171450" indent="-171450">
              <a:spcAft>
                <a:spcPts val="600"/>
              </a:spcAft>
              <a:buFont typeface="Arial,Sans-Serif"/>
              <a:buChar char="•"/>
            </a:pPr>
            <a:r>
              <a:rPr lang="en-US" sz="700" b="1">
                <a:solidFill>
                  <a:srgbClr val="000000"/>
                </a:solidFill>
                <a:latin typeface="Inter"/>
                <a:ea typeface="Inter"/>
                <a:cs typeface="Poppins"/>
              </a:rPr>
              <a:t>Vault 2.0.3 is now available for HCP Vault</a:t>
            </a:r>
            <a:r>
              <a:rPr lang="en-US" sz="700">
                <a:solidFill>
                  <a:srgbClr val="000000"/>
                </a:solidFill>
                <a:latin typeface="Inter"/>
                <a:ea typeface="Inter"/>
                <a:cs typeface="Poppins"/>
              </a:rPr>
              <a:t xml:space="preserve"> Dedicated clusters on AWS and Azure. Refer to the </a:t>
            </a:r>
            <a:r>
              <a:rPr lang="en-US" sz="700">
                <a:solidFill>
                  <a:srgbClr val="000000"/>
                </a:solidFill>
                <a:latin typeface="Inter"/>
                <a:ea typeface="Inter"/>
                <a:cs typeface="Poppins"/>
                <a:hlinkClick r:id="rId5">
                  <a:extLst>
                    <a:ext uri="{A12FA001-AC4F-418D-AE19-62706E023703}">
                      <ahyp:hlinkClr xmlns:ahyp="http://schemas.microsoft.com/office/drawing/2018/hyperlinkcolor" val="tx"/>
                    </a:ext>
                  </a:extLst>
                </a:hlinkClick>
              </a:rPr>
              <a:t>Vault 2.0.3 release notes</a:t>
            </a:r>
            <a:r>
              <a:rPr lang="en-US" sz="700">
                <a:solidFill>
                  <a:srgbClr val="000000"/>
                </a:solidFill>
                <a:latin typeface="Inter"/>
                <a:ea typeface="Inter"/>
                <a:cs typeface="Poppins"/>
              </a:rPr>
              <a:t> to learn more about the new features, enhancements, and fixes included in Vault 2.0.3</a:t>
            </a:r>
            <a:br>
              <a:rPr lang="en-US" sz="700">
                <a:solidFill>
                  <a:srgbClr val="000000"/>
                </a:solidFill>
                <a:latin typeface="Inter" panose="02000503000000020004" pitchFamily="2" charset="0"/>
                <a:ea typeface="Inter" panose="02000503000000020004" pitchFamily="2" charset="0"/>
                <a:cs typeface="Poppins"/>
              </a:rPr>
            </a:br>
            <a:endParaRPr lang="en-US" sz="700">
              <a:solidFill>
                <a:srgbClr val="000000"/>
              </a:solidFill>
              <a:ea typeface="Inter" panose="02000503000000020004" pitchFamily="2" charset="0"/>
              <a:cs typeface="Poppins"/>
            </a:endParaRPr>
          </a:p>
        </p:txBody>
      </p:sp>
      <p:sp>
        <p:nvSpPr>
          <p:cNvPr id="8" name="Google Shape;397;p78">
            <a:extLst>
              <a:ext uri="{FF2B5EF4-FFF2-40B4-BE49-F238E27FC236}">
                <a16:creationId xmlns:a16="http://schemas.microsoft.com/office/drawing/2014/main" id="{F28D64CF-036E-D46F-7707-FECA673AF029}"/>
              </a:ext>
            </a:extLst>
          </p:cNvPr>
          <p:cNvSpPr/>
          <p:nvPr/>
        </p:nvSpPr>
        <p:spPr>
          <a:xfrm>
            <a:off x="3305306"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Bef>
                <a:spcPts val="600"/>
              </a:spcBef>
              <a:spcAft>
                <a:spcPts val="600"/>
              </a:spcAft>
            </a:pPr>
            <a:r>
              <a:rPr lang="en-US" sz="800" b="1">
                <a:solidFill>
                  <a:srgbClr val="F9B373"/>
                </a:solidFill>
                <a:latin typeface="Inter" panose="02000503000000020004" pitchFamily="2" charset="0"/>
                <a:cs typeface="Poppins"/>
                <a:hlinkClick r:id="rId6">
                  <a:extLst>
                    <a:ext uri="{A12FA001-AC4F-418D-AE19-62706E023703}">
                      <ahyp:hlinkClr xmlns:ahyp="http://schemas.microsoft.com/office/drawing/2018/hyperlinkcolor" val="tx"/>
                    </a:ext>
                  </a:extLst>
                </a:hlinkClick>
              </a:rPr>
              <a:t>2026-08-24</a:t>
            </a:r>
            <a:endParaRPr lang="en-US" sz="800" b="1">
              <a:solidFill>
                <a:srgbClr val="F9B373"/>
              </a:solidFill>
              <a:latin typeface="Inter" panose="02000503000000020004" pitchFamily="2" charset="0"/>
              <a:cs typeface="Poppins"/>
            </a:endParaRPr>
          </a:p>
          <a:p>
            <a:pPr marL="171450" indent="-171450">
              <a:spcAft>
                <a:spcPts val="600"/>
              </a:spcAft>
              <a:buFont typeface="Arial,Sans-Serif"/>
              <a:buChar char="•"/>
            </a:pPr>
            <a:r>
              <a:rPr lang="en-US" sz="700" b="1">
                <a:solidFill>
                  <a:srgbClr val="000000"/>
                </a:solidFill>
                <a:latin typeface="Inter"/>
                <a:ea typeface="Inter"/>
                <a:cs typeface="Poppins"/>
              </a:rPr>
              <a:t xml:space="preserve">Connectivity Tester: </a:t>
            </a:r>
            <a:r>
              <a:rPr lang="en-US" sz="700">
                <a:solidFill>
                  <a:srgbClr val="000000"/>
                </a:solidFill>
                <a:latin typeface="Inter"/>
                <a:ea typeface="Inter"/>
                <a:cs typeface="Poppins"/>
              </a:rPr>
              <a:t>HCP Vault Dedicated clusters on AWS and Azure now support a connectivity tester that validates network connectivity between the cluster and external endpoints.</a:t>
            </a:r>
          </a:p>
          <a:p>
            <a:pPr>
              <a:lnSpc>
                <a:spcPct val="100000"/>
              </a:lnSpc>
              <a:spcAft>
                <a:spcPts val="600"/>
              </a:spcAft>
            </a:pPr>
            <a:endParaRPr lang="en-US" sz="800" b="1">
              <a:solidFill>
                <a:srgbClr val="F9B373"/>
              </a:solidFill>
              <a:latin typeface="Inter" panose="02000503000000020004" pitchFamily="2" charset="0"/>
              <a:ea typeface="Inter" panose="02000503000000020004" pitchFamily="2" charset="0"/>
              <a:cs typeface="Poppins"/>
            </a:endParaRPr>
          </a:p>
        </p:txBody>
      </p:sp>
      <p:sp>
        <p:nvSpPr>
          <p:cNvPr id="9" name="Google Shape;397;p78">
            <a:extLst>
              <a:ext uri="{FF2B5EF4-FFF2-40B4-BE49-F238E27FC236}">
                <a16:creationId xmlns:a16="http://schemas.microsoft.com/office/drawing/2014/main" id="{F9C3E3BB-C20E-F2A8-E333-B0EC6D2DF233}"/>
              </a:ext>
            </a:extLst>
          </p:cNvPr>
          <p:cNvSpPr/>
          <p:nvPr/>
        </p:nvSpPr>
        <p:spPr>
          <a:xfrm>
            <a:off x="5992837" y="1504954"/>
            <a:ext cx="2533387" cy="2858209"/>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Bef>
                <a:spcPts val="600"/>
              </a:spcBef>
              <a:spcAft>
                <a:spcPts val="600"/>
              </a:spcAft>
            </a:pPr>
            <a:r>
              <a:rPr lang="en-US" sz="800" b="1">
                <a:solidFill>
                  <a:srgbClr val="F9B373"/>
                </a:solidFill>
                <a:latin typeface="Inter" panose="02000503000000020004" pitchFamily="2" charset="0"/>
                <a:cs typeface="Poppins"/>
                <a:hlinkClick r:id="rId7">
                  <a:extLst>
                    <a:ext uri="{A12FA001-AC4F-418D-AE19-62706E023703}">
                      <ahyp:hlinkClr xmlns:ahyp="http://schemas.microsoft.com/office/drawing/2018/hyperlinkcolor" val="tx"/>
                    </a:ext>
                  </a:extLst>
                </a:hlinkClick>
              </a:rPr>
              <a:t>2026-09-23</a:t>
            </a:r>
            <a:endParaRPr lang="en-US" sz="800" b="1">
              <a:solidFill>
                <a:srgbClr val="F9B373"/>
              </a:solidFill>
              <a:latin typeface="Inter" panose="02000503000000020004" pitchFamily="2" charset="0"/>
              <a:cs typeface="Poppins"/>
            </a:endParaRPr>
          </a:p>
          <a:p>
            <a:pPr marL="171450" indent="-171450">
              <a:spcAft>
                <a:spcPts val="600"/>
              </a:spcAft>
              <a:buFont typeface="Arial,Sans-Serif"/>
              <a:buChar char="•"/>
            </a:pPr>
            <a:r>
              <a:rPr lang="en-US" sz="700" b="1">
                <a:solidFill>
                  <a:srgbClr val="000000"/>
                </a:solidFill>
                <a:latin typeface="Inter"/>
                <a:ea typeface="Inter"/>
                <a:cs typeface="Poppins"/>
              </a:rPr>
              <a:t xml:space="preserve">Data plane account details: </a:t>
            </a:r>
            <a:r>
              <a:rPr lang="en-US" sz="700">
                <a:solidFill>
                  <a:srgbClr val="000000"/>
                </a:solidFill>
                <a:latin typeface="Inter"/>
                <a:ea typeface="Inter"/>
                <a:cs typeface="Poppins"/>
              </a:rPr>
              <a:t>HCP Vault Dedicated clusters on AWS and Azure now expose the data plane account details directly..</a:t>
            </a:r>
          </a:p>
          <a:p>
            <a:pPr>
              <a:spcBef>
                <a:spcPts val="600"/>
              </a:spcBef>
              <a:spcAft>
                <a:spcPts val="600"/>
              </a:spcAft>
            </a:pPr>
            <a:r>
              <a:rPr lang="en-US" sz="800" b="1">
                <a:solidFill>
                  <a:srgbClr val="F9B373"/>
                </a:solidFill>
                <a:latin typeface="Inter" panose="02000503000000020004" pitchFamily="2" charset="0"/>
                <a:cs typeface="Poppins"/>
                <a:hlinkClick r:id="rId8">
                  <a:extLst>
                    <a:ext uri="{A12FA001-AC4F-418D-AE19-62706E023703}">
                      <ahyp:hlinkClr xmlns:ahyp="http://schemas.microsoft.com/office/drawing/2018/hyperlinkcolor" val="tx"/>
                    </a:ext>
                  </a:extLst>
                </a:hlinkClick>
              </a:rPr>
              <a:t>2026-09-11</a:t>
            </a:r>
            <a:endParaRPr lang="en-US" sz="800" b="1">
              <a:solidFill>
                <a:srgbClr val="F9B373"/>
              </a:solidFill>
              <a:latin typeface="Inter" panose="02000503000000020004" pitchFamily="2" charset="0"/>
              <a:cs typeface="Poppins"/>
            </a:endParaRPr>
          </a:p>
          <a:p>
            <a:pPr marL="171450" indent="-171450">
              <a:spcAft>
                <a:spcPts val="600"/>
              </a:spcAft>
              <a:buFont typeface="Arial,Sans-Serif"/>
              <a:buChar char="•"/>
            </a:pPr>
            <a:r>
              <a:rPr lang="en-US" sz="700" b="1">
                <a:solidFill>
                  <a:srgbClr val="000000"/>
                </a:solidFill>
                <a:latin typeface="Inter"/>
                <a:ea typeface="Inter"/>
                <a:cs typeface="Poppins"/>
              </a:rPr>
              <a:t xml:space="preserve">Vault 2.0.4: </a:t>
            </a:r>
            <a:r>
              <a:rPr lang="en-US" sz="700">
                <a:solidFill>
                  <a:srgbClr val="000000"/>
                </a:solidFill>
                <a:latin typeface="Inter"/>
                <a:ea typeface="Inter"/>
                <a:cs typeface="Poppins"/>
              </a:rPr>
              <a:t xml:space="preserve">Vault 2.0.4 is now available for HCP Vault Dedicated clusters on AWS and Azure. Refer to the </a:t>
            </a:r>
            <a:r>
              <a:rPr lang="en-US" sz="700">
                <a:solidFill>
                  <a:srgbClr val="000000"/>
                </a:solidFill>
                <a:latin typeface="Inter"/>
                <a:ea typeface="Inter"/>
                <a:cs typeface="Poppins"/>
                <a:hlinkClick r:id="rId9"/>
              </a:rPr>
              <a:t xml:space="preserve">Vault 2.0.4 release notes </a:t>
            </a:r>
            <a:r>
              <a:rPr lang="en-US" sz="700">
                <a:solidFill>
                  <a:srgbClr val="000000"/>
                </a:solidFill>
                <a:latin typeface="Inter"/>
                <a:ea typeface="Inter"/>
                <a:cs typeface="Poppins"/>
              </a:rPr>
              <a:t>to learn more about the new features, enhancements, and fixes included in Vault 2.0.4.</a:t>
            </a:r>
          </a:p>
          <a:p>
            <a:pPr>
              <a:spcAft>
                <a:spcPts val="600"/>
              </a:spcAft>
            </a:pPr>
            <a:endParaRPr lang="en-US" sz="700">
              <a:solidFill>
                <a:srgbClr val="000000"/>
              </a:solidFill>
              <a:latin typeface="Inter"/>
              <a:ea typeface="Inter"/>
              <a:cs typeface="Poppins"/>
            </a:endParaRPr>
          </a:p>
        </p:txBody>
      </p:sp>
      <p:pic>
        <p:nvPicPr>
          <p:cNvPr id="11" name="Google Shape;967;p129">
            <a:extLst>
              <a:ext uri="{FF2B5EF4-FFF2-40B4-BE49-F238E27FC236}">
                <a16:creationId xmlns:a16="http://schemas.microsoft.com/office/drawing/2014/main" id="{A6A2E34B-E8F5-8356-A1C5-F5773453E738}"/>
              </a:ext>
            </a:extLst>
          </p:cNvPr>
          <p:cNvPicPr preferRelativeResize="0"/>
          <p:nvPr/>
        </p:nvPicPr>
        <p:blipFill>
          <a:blip r:embed="rId10"/>
          <a:srcRect/>
          <a:stretch/>
        </p:blipFill>
        <p:spPr>
          <a:xfrm>
            <a:off x="7341385" y="368874"/>
            <a:ext cx="1376680" cy="365760"/>
          </a:xfrm>
          <a:prstGeom prst="rect">
            <a:avLst/>
          </a:prstGeom>
          <a:noFill/>
          <a:ln>
            <a:noFill/>
          </a:ln>
        </p:spPr>
      </p:pic>
    </p:spTree>
    <p:extLst>
      <p:ext uri="{BB962C8B-B14F-4D97-AF65-F5344CB8AC3E}">
        <p14:creationId xmlns:p14="http://schemas.microsoft.com/office/powerpoint/2010/main" val="1420064276"/>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auto-pptx:vault-blogs">
    <p:spTree>
      <p:nvGrpSpPr>
        <p:cNvPr id="1" name="">
          <a:extLst>
            <a:ext uri="{FF2B5EF4-FFF2-40B4-BE49-F238E27FC236}">
              <a16:creationId xmlns:a16="http://schemas.microsoft.com/office/drawing/2014/main" id="{F22B3693-CE8E-2EDD-79D9-9CF7EF66C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8276A-F40D-F25A-C884-6CBB2F06A9CD}"/>
              </a:ext>
            </a:extLst>
          </p:cNvPr>
          <p:cNvSpPr>
            <a:spLocks noGrp="1"/>
          </p:cNvSpPr>
          <p:nvPr>
            <p:ph type="title"/>
          </p:nvPr>
        </p:nvSpPr>
        <p:spPr/>
        <p:txBody>
          <a:bodyPr/>
          <a:lstStyle/>
          <a:p>
            <a:r>
              <a:rPr lang="en-US">
                <a:gradFill>
                  <a:gsLst>
                    <a:gs pos="0">
                      <a:srgbClr val="6C81FF"/>
                    </a:gs>
                    <a:gs pos="35000">
                      <a:srgbClr val="C08DFF"/>
                    </a:gs>
                    <a:gs pos="75000">
                      <a:srgbClr val="FF8791"/>
                    </a:gs>
                    <a:gs pos="100000">
                      <a:srgbClr val="F9B571"/>
                    </a:gs>
                  </a:gsLst>
                  <a:lin ang="2700000" scaled="0"/>
                </a:gradFill>
                <a:cs typeface="+mn-cs"/>
              </a:rPr>
              <a:t>Vault Recent Blogs</a:t>
            </a:r>
          </a:p>
        </p:txBody>
      </p:sp>
      <p:sp>
        <p:nvSpPr>
          <p:cNvPr id="9" name="Subtitle 2">
            <a:extLst>
              <a:ext uri="{FF2B5EF4-FFF2-40B4-BE49-F238E27FC236}">
                <a16:creationId xmlns:a16="http://schemas.microsoft.com/office/drawing/2014/main" id="{C8160EDA-FECE-E9E5-C3B3-A6ACE7481DC5}"/>
              </a:ext>
            </a:extLst>
          </p:cNvPr>
          <p:cNvSpPr>
            <a:spLocks noGrp="1"/>
          </p:cNvSpPr>
          <p:nvPr>
            <p:ph type="subTitle" idx="4"/>
          </p:nvPr>
        </p:nvSpPr>
        <p:spPr>
          <a:xfrm>
            <a:off x="411475" y="785100"/>
            <a:ext cx="8321100" cy="246221"/>
          </a:xfrm>
        </p:spPr>
        <p:txBody>
          <a:bodyPr/>
          <a:lstStyle/>
          <a:p>
            <a:r>
              <a:rPr lang="en-US">
                <a:latin typeface="Inter Light"/>
                <a:cs typeface="Inter Light"/>
              </a:rPr>
              <a:t xml:space="preserve">From </a:t>
            </a:r>
            <a:r>
              <a:rPr lang="en-US">
                <a:latin typeface="Inter Light"/>
                <a:cs typeface="Inter Light"/>
                <a:hlinkClick r:id="rId2"/>
              </a:rPr>
              <a:t>Blogs</a:t>
            </a:r>
            <a:endParaRPr lang="en-US">
              <a:hlinkClick r:id="rId2"/>
            </a:endParaRPr>
          </a:p>
        </p:txBody>
      </p:sp>
      <p:grpSp>
        <p:nvGrpSpPr>
          <p:cNvPr id="3" name="Group 2">
            <a:extLst>
              <a:ext uri="{FF2B5EF4-FFF2-40B4-BE49-F238E27FC236}">
                <a16:creationId xmlns:a16="http://schemas.microsoft.com/office/drawing/2014/main" id="{3F734C1C-9D38-4463-7ACD-79187DCDC714}"/>
              </a:ext>
            </a:extLst>
          </p:cNvPr>
          <p:cNvGrpSpPr/>
          <p:nvPr/>
        </p:nvGrpSpPr>
        <p:grpSpPr>
          <a:xfrm>
            <a:off x="442086" y="1373736"/>
            <a:ext cx="3923850" cy="459700"/>
            <a:chOff x="648150" y="1373736"/>
            <a:chExt cx="3923850" cy="459700"/>
          </a:xfrm>
        </p:grpSpPr>
        <p:sp>
          <p:nvSpPr>
            <p:cNvPr id="4" name="TextBox 3">
              <a:extLst>
                <a:ext uri="{FF2B5EF4-FFF2-40B4-BE49-F238E27FC236}">
                  <a16:creationId xmlns:a16="http://schemas.microsoft.com/office/drawing/2014/main" id="{8E47E2B8-7F99-41A8-6DD6-31FFEE414BB0}"/>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September 3 – </a:t>
              </a:r>
              <a:r>
                <a:rPr lang="en-US" sz="800" b="1">
                  <a:solidFill>
                    <a:srgbClr val="F9B373"/>
                  </a:solidFill>
                  <a:latin typeface="Inter"/>
                  <a:ea typeface="Inter"/>
                  <a:sym typeface="Poppins"/>
                  <a:hlinkClick r:id="rId3">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4">
                  <a:extLst>
                    <a:ext uri="{A12FA001-AC4F-418D-AE19-62706E023703}">
                      <ahyp:hlinkClr xmlns:ahyp="http://schemas.microsoft.com/office/drawing/2018/hyperlinkcolor" val="tx"/>
                    </a:ext>
                  </a:extLst>
                </a:hlinkClick>
              </a:endParaRPr>
            </a:p>
            <a:p>
              <a:r>
                <a:rPr lang="en-US" sz="800">
                  <a:solidFill>
                    <a:srgbClr val="000000"/>
                  </a:solidFill>
                  <a:latin typeface="Inter"/>
                </a:rPr>
                <a:t xml:space="preserve">The common security controls behind </a:t>
              </a:r>
              <a:r>
                <a:rPr lang="en-US" sz="800" b="1">
                  <a:solidFill>
                    <a:srgbClr val="000000"/>
                  </a:solidFill>
                  <a:latin typeface="Inter"/>
                </a:rPr>
                <a:t>India's regulatory wave</a:t>
              </a:r>
            </a:p>
          </p:txBody>
        </p:sp>
        <p:sp>
          <p:nvSpPr>
            <p:cNvPr id="5" name="Google Shape;1344;p135">
              <a:extLst>
                <a:ext uri="{FF2B5EF4-FFF2-40B4-BE49-F238E27FC236}">
                  <a16:creationId xmlns:a16="http://schemas.microsoft.com/office/drawing/2014/main" id="{B7193866-AC66-F76A-D49B-EC32F017EC12}"/>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9" name="Group 28">
            <a:extLst>
              <a:ext uri="{FF2B5EF4-FFF2-40B4-BE49-F238E27FC236}">
                <a16:creationId xmlns:a16="http://schemas.microsoft.com/office/drawing/2014/main" id="{D10EBD1C-8CDF-1191-5629-015D48034CC2}"/>
              </a:ext>
            </a:extLst>
          </p:cNvPr>
          <p:cNvGrpSpPr/>
          <p:nvPr/>
        </p:nvGrpSpPr>
        <p:grpSpPr>
          <a:xfrm>
            <a:off x="4593151" y="1249239"/>
            <a:ext cx="4123112" cy="1269711"/>
            <a:chOff x="4799215" y="1373736"/>
            <a:chExt cx="4123112" cy="1269711"/>
          </a:xfrm>
        </p:grpSpPr>
        <p:sp>
          <p:nvSpPr>
            <p:cNvPr id="30" name="Google Shape;397;p78">
              <a:extLst>
                <a:ext uri="{FF2B5EF4-FFF2-40B4-BE49-F238E27FC236}">
                  <a16:creationId xmlns:a16="http://schemas.microsoft.com/office/drawing/2014/main" id="{A82AF916-943E-F155-096E-FD1F60057E5F}"/>
                </a:ext>
              </a:extLst>
            </p:cNvPr>
            <p:cNvSpPr/>
            <p:nvPr/>
          </p:nvSpPr>
          <p:spPr>
            <a:xfrm>
              <a:off x="4799215" y="1373736"/>
              <a:ext cx="4123112" cy="1269711"/>
            </a:xfrm>
            <a:prstGeom prst="roundRect">
              <a:avLst>
                <a:gd name="adj" fmla="val 2539"/>
              </a:avLst>
            </a:prstGeom>
            <a:solidFill>
              <a:schemeClr val="bg1">
                <a:lumMod val="95000"/>
              </a:schemeClr>
            </a:solidFill>
            <a:effectLst/>
          </p:spPr>
          <p:txBody>
            <a:bodyPr spcFirstLastPara="1" wrap="square" lIns="91425" tIns="91425" rIns="91425" bIns="91425" anchor="t" anchorCtr="0">
              <a:noAutofit/>
            </a:bodyPr>
            <a:lstStyle/>
            <a:p>
              <a:pPr>
                <a:spcAft>
                  <a:spcPts val="600"/>
                </a:spcAft>
              </a:pPr>
              <a:endParaRPr lang="en-US" sz="650">
                <a:latin typeface="Inter" panose="02000503000000020004" pitchFamily="2" charset="0"/>
                <a:ea typeface="Inter" panose="02000503000000020004" pitchFamily="2" charset="0"/>
                <a:cs typeface="Poppins"/>
              </a:endParaRPr>
            </a:p>
          </p:txBody>
        </p:sp>
        <p:grpSp>
          <p:nvGrpSpPr>
            <p:cNvPr id="31" name="Group 30">
              <a:extLst>
                <a:ext uri="{FF2B5EF4-FFF2-40B4-BE49-F238E27FC236}">
                  <a16:creationId xmlns:a16="http://schemas.microsoft.com/office/drawing/2014/main" id="{D07A0A2F-B4C9-ED95-E9A2-196F7797BA96}"/>
                </a:ext>
              </a:extLst>
            </p:cNvPr>
            <p:cNvGrpSpPr/>
            <p:nvPr/>
          </p:nvGrpSpPr>
          <p:grpSpPr>
            <a:xfrm>
              <a:off x="4876264" y="2002362"/>
              <a:ext cx="3969015" cy="473557"/>
              <a:chOff x="4873162" y="1741897"/>
              <a:chExt cx="3969015" cy="473557"/>
            </a:xfrm>
          </p:grpSpPr>
          <p:sp>
            <p:nvSpPr>
              <p:cNvPr id="34" name="Rectangle: Rounded Corners 4">
                <a:hlinkClick r:id="rId5"/>
                <a:extLst>
                  <a:ext uri="{FF2B5EF4-FFF2-40B4-BE49-F238E27FC236}">
                    <a16:creationId xmlns:a16="http://schemas.microsoft.com/office/drawing/2014/main" id="{DD33B9E6-46A2-FCBB-6025-A6E515B8CFD0}"/>
                  </a:ext>
                </a:extLst>
              </p:cNvPr>
              <p:cNvSpPr/>
              <p:nvPr/>
            </p:nvSpPr>
            <p:spPr>
              <a:xfrm>
                <a:off x="4873162" y="1743247"/>
                <a:ext cx="954675" cy="200984"/>
              </a:xfrm>
              <a:prstGeom prst="roundRect">
                <a:avLst/>
              </a:prstGeom>
              <a:solidFill>
                <a:srgbClr val="748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Speed &amp; agility</a:t>
                </a:r>
                <a:endParaRPr lang="en-US" sz="700"/>
              </a:p>
            </p:txBody>
          </p:sp>
          <p:sp>
            <p:nvSpPr>
              <p:cNvPr id="35" name="Rectangle: Rounded Corners 4">
                <a:hlinkClick r:id="rId6"/>
                <a:extLst>
                  <a:ext uri="{FF2B5EF4-FFF2-40B4-BE49-F238E27FC236}">
                    <a16:creationId xmlns:a16="http://schemas.microsoft.com/office/drawing/2014/main" id="{5B9D9452-14A9-4E2F-3673-749762706676}"/>
                  </a:ext>
                </a:extLst>
              </p:cNvPr>
              <p:cNvSpPr/>
              <p:nvPr/>
            </p:nvSpPr>
            <p:spPr>
              <a:xfrm>
                <a:off x="5877942" y="1741897"/>
                <a:ext cx="954675" cy="200984"/>
              </a:xfrm>
              <a:prstGeom prst="roundRect">
                <a:avLst/>
              </a:prstGeom>
              <a:solidFill>
                <a:srgbClr val="F9B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Risk &amp; Compliance</a:t>
                </a:r>
                <a:endParaRPr lang="en-US" sz="700"/>
              </a:p>
            </p:txBody>
          </p:sp>
          <p:sp>
            <p:nvSpPr>
              <p:cNvPr id="36" name="Rectangle: Rounded Corners 4">
                <a:hlinkClick r:id="rId7"/>
                <a:extLst>
                  <a:ext uri="{FF2B5EF4-FFF2-40B4-BE49-F238E27FC236}">
                    <a16:creationId xmlns:a16="http://schemas.microsoft.com/office/drawing/2014/main" id="{4B3B7D62-BDA2-CB6B-0CFF-C47BB13D5C81}"/>
                  </a:ext>
                </a:extLst>
              </p:cNvPr>
              <p:cNvSpPr/>
              <p:nvPr/>
            </p:nvSpPr>
            <p:spPr>
              <a:xfrm>
                <a:off x="6882722" y="1755223"/>
                <a:ext cx="954675" cy="200984"/>
              </a:xfrm>
              <a:prstGeom prst="roundRect">
                <a:avLst/>
              </a:prstGeom>
              <a:solidFill>
                <a:srgbClr val="FE93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Optimize operations</a:t>
                </a:r>
                <a:endParaRPr lang="en-US" sz="700"/>
              </a:p>
            </p:txBody>
          </p:sp>
          <p:sp>
            <p:nvSpPr>
              <p:cNvPr id="37" name="Rectangle: Rounded Corners 4">
                <a:hlinkClick r:id="rId8"/>
                <a:extLst>
                  <a:ext uri="{FF2B5EF4-FFF2-40B4-BE49-F238E27FC236}">
                    <a16:creationId xmlns:a16="http://schemas.microsoft.com/office/drawing/2014/main" id="{441473F8-E117-83AE-7CFA-5C125DA41FDE}"/>
                  </a:ext>
                </a:extLst>
              </p:cNvPr>
              <p:cNvSpPr/>
              <p:nvPr/>
            </p:nvSpPr>
            <p:spPr>
              <a:xfrm>
                <a:off x="7887502" y="1755223"/>
                <a:ext cx="954675" cy="200984"/>
              </a:xfrm>
              <a:prstGeom prst="roundRect">
                <a:avLst/>
              </a:prstGeom>
              <a:solidFill>
                <a:srgbClr val="E689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Infra Automation</a:t>
                </a:r>
                <a:endParaRPr lang="en-US" sz="700"/>
              </a:p>
            </p:txBody>
          </p:sp>
          <p:sp>
            <p:nvSpPr>
              <p:cNvPr id="38" name="Rectangle: Rounded Corners 4">
                <a:hlinkClick r:id="rId9"/>
                <a:extLst>
                  <a:ext uri="{FF2B5EF4-FFF2-40B4-BE49-F238E27FC236}">
                    <a16:creationId xmlns:a16="http://schemas.microsoft.com/office/drawing/2014/main" id="{21A6134E-0434-1089-FB98-EF9915B9428D}"/>
                  </a:ext>
                </a:extLst>
              </p:cNvPr>
              <p:cNvSpPr/>
              <p:nvPr/>
            </p:nvSpPr>
            <p:spPr>
              <a:xfrm>
                <a:off x="4873162" y="2014470"/>
                <a:ext cx="1394634" cy="200984"/>
              </a:xfrm>
              <a:prstGeom prst="roundRect">
                <a:avLst/>
              </a:prstGeom>
              <a:solidFill>
                <a:srgbClr val="FBAA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Secrets &amp; identity management</a:t>
                </a:r>
                <a:endParaRPr lang="en-US" sz="700"/>
              </a:p>
            </p:txBody>
          </p:sp>
          <p:sp>
            <p:nvSpPr>
              <p:cNvPr id="39" name="Rectangle: Rounded Corners 4">
                <a:hlinkClick r:id="rId10"/>
                <a:extLst>
                  <a:ext uri="{FF2B5EF4-FFF2-40B4-BE49-F238E27FC236}">
                    <a16:creationId xmlns:a16="http://schemas.microsoft.com/office/drawing/2014/main" id="{C0610C18-1C11-4102-FCEB-2D5F7403C0DE}"/>
                  </a:ext>
                </a:extLst>
              </p:cNvPr>
              <p:cNvSpPr/>
              <p:nvPr/>
            </p:nvSpPr>
            <p:spPr>
              <a:xfrm>
                <a:off x="6319054" y="2014470"/>
                <a:ext cx="1034572" cy="200984"/>
              </a:xfrm>
              <a:prstGeom prst="roundRect">
                <a:avLst/>
              </a:prstGeom>
              <a:solidFill>
                <a:srgbClr val="C08D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Platform Engineering</a:t>
                </a:r>
                <a:endParaRPr lang="en-US" sz="700"/>
              </a:p>
            </p:txBody>
          </p:sp>
          <p:sp>
            <p:nvSpPr>
              <p:cNvPr id="40" name="Rectangle: Rounded Corners 4">
                <a:hlinkClick r:id="rId11"/>
                <a:extLst>
                  <a:ext uri="{FF2B5EF4-FFF2-40B4-BE49-F238E27FC236}">
                    <a16:creationId xmlns:a16="http://schemas.microsoft.com/office/drawing/2014/main" id="{82F6440B-560E-620C-B29D-57061D93504E}"/>
                  </a:ext>
                </a:extLst>
              </p:cNvPr>
              <p:cNvSpPr/>
              <p:nvPr/>
            </p:nvSpPr>
            <p:spPr>
              <a:xfrm>
                <a:off x="7404884" y="2014470"/>
                <a:ext cx="1070387" cy="200984"/>
              </a:xfrm>
              <a:prstGeom prst="roundRect">
                <a:avLst/>
              </a:prstGeom>
              <a:solidFill>
                <a:srgbClr val="FA88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Culture &amp; Collaboration</a:t>
                </a:r>
                <a:endParaRPr lang="en-US" sz="700"/>
              </a:p>
            </p:txBody>
          </p:sp>
          <p:sp>
            <p:nvSpPr>
              <p:cNvPr id="41" name="Rectangle: Rounded Corners 4">
                <a:hlinkClick r:id="rId12"/>
                <a:extLst>
                  <a:ext uri="{FF2B5EF4-FFF2-40B4-BE49-F238E27FC236}">
                    <a16:creationId xmlns:a16="http://schemas.microsoft.com/office/drawing/2014/main" id="{C626552A-71E2-24D7-FF1D-84E39C52F45C}"/>
                  </a:ext>
                </a:extLst>
              </p:cNvPr>
              <p:cNvSpPr/>
              <p:nvPr/>
            </p:nvSpPr>
            <p:spPr>
              <a:xfrm>
                <a:off x="8526528" y="2014470"/>
                <a:ext cx="315649" cy="200984"/>
              </a:xfrm>
              <a:prstGeom prst="roundRect">
                <a:avLst/>
              </a:prstGeom>
              <a:solidFill>
                <a:srgbClr val="758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latin typeface="Inter Black"/>
                    <a:cs typeface="Inter Black"/>
                  </a:rPr>
                  <a:t>AI</a:t>
                </a:r>
                <a:endParaRPr lang="en-US" sz="700"/>
              </a:p>
            </p:txBody>
          </p:sp>
        </p:grpSp>
        <p:sp>
          <p:nvSpPr>
            <p:cNvPr id="32" name="TextBox 31">
              <a:extLst>
                <a:ext uri="{FF2B5EF4-FFF2-40B4-BE49-F238E27FC236}">
                  <a16:creationId xmlns:a16="http://schemas.microsoft.com/office/drawing/2014/main" id="{CB9A0AAD-F5F6-B79E-6A17-3E537162C76A}"/>
                </a:ext>
              </a:extLst>
            </p:cNvPr>
            <p:cNvSpPr txBox="1"/>
            <p:nvPr/>
          </p:nvSpPr>
          <p:spPr>
            <a:xfrm>
              <a:off x="4890304" y="1586632"/>
              <a:ext cx="394093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gradFill>
                    <a:gsLst>
                      <a:gs pos="0">
                        <a:srgbClr val="6C81FF"/>
                      </a:gs>
                      <a:gs pos="25000">
                        <a:srgbClr val="C08DFF"/>
                      </a:gs>
                      <a:gs pos="75000">
                        <a:srgbClr val="FF8791"/>
                      </a:gs>
                      <a:gs pos="100000">
                        <a:srgbClr val="F9B571"/>
                      </a:gs>
                    </a:gsLst>
                    <a:lin ang="2700000" scaled="0"/>
                  </a:gradFill>
                  <a:latin typeface="Inter"/>
                  <a:ea typeface="Inter"/>
                </a:rPr>
                <a:t>Explore Topics!</a:t>
              </a:r>
            </a:p>
          </p:txBody>
        </p:sp>
        <p:sp>
          <p:nvSpPr>
            <p:cNvPr id="33" name="Google Shape;1163;p135">
              <a:extLst>
                <a:ext uri="{FF2B5EF4-FFF2-40B4-BE49-F238E27FC236}">
                  <a16:creationId xmlns:a16="http://schemas.microsoft.com/office/drawing/2014/main" id="{AE621325-7EBC-3F28-1D6C-BE0BB107B473}"/>
                </a:ext>
              </a:extLst>
            </p:cNvPr>
            <p:cNvSpPr>
              <a:spLocks noChangeAspect="1"/>
            </p:cNvSpPr>
            <p:nvPr/>
          </p:nvSpPr>
          <p:spPr>
            <a:xfrm>
              <a:off x="6774723" y="1430185"/>
              <a:ext cx="182880" cy="182962"/>
            </a:xfrm>
            <a:custGeom>
              <a:avLst/>
              <a:gdLst/>
              <a:ahLst/>
              <a:cxnLst/>
              <a:rect l="l" t="t" r="r" b="b"/>
              <a:pathLst>
                <a:path w="21600" h="21600" extrusionOk="0">
                  <a:moveTo>
                    <a:pt x="11661" y="21591"/>
                  </a:moveTo>
                  <a:cubicBezTo>
                    <a:pt x="10909" y="21591"/>
                    <a:pt x="10201" y="21303"/>
                    <a:pt x="9668" y="20770"/>
                  </a:cubicBezTo>
                  <a:lnTo>
                    <a:pt x="822" y="11927"/>
                  </a:lnTo>
                  <a:cubicBezTo>
                    <a:pt x="289" y="11385"/>
                    <a:pt x="0" y="10678"/>
                    <a:pt x="0" y="9926"/>
                  </a:cubicBezTo>
                  <a:lnTo>
                    <a:pt x="0" y="2822"/>
                  </a:lnTo>
                  <a:cubicBezTo>
                    <a:pt x="0" y="1267"/>
                    <a:pt x="1268" y="0"/>
                    <a:pt x="2823" y="0"/>
                  </a:cubicBezTo>
                  <a:lnTo>
                    <a:pt x="9930" y="0"/>
                  </a:lnTo>
                  <a:cubicBezTo>
                    <a:pt x="10682" y="0"/>
                    <a:pt x="11390" y="297"/>
                    <a:pt x="11923" y="830"/>
                  </a:cubicBezTo>
                  <a:lnTo>
                    <a:pt x="20769" y="9682"/>
                  </a:lnTo>
                  <a:cubicBezTo>
                    <a:pt x="21303" y="10215"/>
                    <a:pt x="21600" y="10922"/>
                    <a:pt x="21600" y="11674"/>
                  </a:cubicBezTo>
                  <a:cubicBezTo>
                    <a:pt x="21600" y="12425"/>
                    <a:pt x="21311" y="13133"/>
                    <a:pt x="20778" y="13666"/>
                  </a:cubicBezTo>
                  <a:lnTo>
                    <a:pt x="13671" y="20779"/>
                  </a:lnTo>
                  <a:cubicBezTo>
                    <a:pt x="13138" y="21312"/>
                    <a:pt x="12430" y="21600"/>
                    <a:pt x="11678" y="21600"/>
                  </a:cubicBezTo>
                  <a:close/>
                  <a:moveTo>
                    <a:pt x="2815" y="1214"/>
                  </a:moveTo>
                  <a:cubicBezTo>
                    <a:pt x="1932" y="1214"/>
                    <a:pt x="1206" y="1931"/>
                    <a:pt x="1206" y="2822"/>
                  </a:cubicBezTo>
                  <a:lnTo>
                    <a:pt x="1206" y="9926"/>
                  </a:lnTo>
                  <a:cubicBezTo>
                    <a:pt x="1206" y="10354"/>
                    <a:pt x="1372" y="10756"/>
                    <a:pt x="1678" y="11062"/>
                  </a:cubicBezTo>
                  <a:lnTo>
                    <a:pt x="10533" y="19914"/>
                  </a:lnTo>
                  <a:cubicBezTo>
                    <a:pt x="10839" y="20211"/>
                    <a:pt x="11241" y="20377"/>
                    <a:pt x="11670" y="20377"/>
                  </a:cubicBezTo>
                  <a:cubicBezTo>
                    <a:pt x="12098" y="20377"/>
                    <a:pt x="12500" y="20211"/>
                    <a:pt x="12806" y="19914"/>
                  </a:cubicBezTo>
                  <a:lnTo>
                    <a:pt x="19913" y="12801"/>
                  </a:lnTo>
                  <a:cubicBezTo>
                    <a:pt x="20219" y="12504"/>
                    <a:pt x="20385" y="12102"/>
                    <a:pt x="20385" y="11674"/>
                  </a:cubicBezTo>
                  <a:cubicBezTo>
                    <a:pt x="20385" y="11246"/>
                    <a:pt x="20219" y="10844"/>
                    <a:pt x="19913" y="10547"/>
                  </a:cubicBezTo>
                  <a:lnTo>
                    <a:pt x="11067" y="1704"/>
                  </a:lnTo>
                  <a:cubicBezTo>
                    <a:pt x="10769" y="1398"/>
                    <a:pt x="10367" y="1232"/>
                    <a:pt x="9930" y="1232"/>
                  </a:cubicBezTo>
                  <a:lnTo>
                    <a:pt x="2823" y="1232"/>
                  </a:lnTo>
                  <a:close/>
                  <a:moveTo>
                    <a:pt x="4196" y="5085"/>
                  </a:moveTo>
                  <a:cubicBezTo>
                    <a:pt x="3706" y="5085"/>
                    <a:pt x="3313" y="4692"/>
                    <a:pt x="3313" y="4203"/>
                  </a:cubicBezTo>
                  <a:cubicBezTo>
                    <a:pt x="3313" y="3714"/>
                    <a:pt x="3706" y="3320"/>
                    <a:pt x="4196" y="3320"/>
                  </a:cubicBezTo>
                  <a:cubicBezTo>
                    <a:pt x="4685" y="3320"/>
                    <a:pt x="5088" y="3714"/>
                    <a:pt x="5088" y="4203"/>
                  </a:cubicBezTo>
                  <a:cubicBezTo>
                    <a:pt x="5088" y="4692"/>
                    <a:pt x="4694" y="5085"/>
                    <a:pt x="4205" y="5085"/>
                  </a:cubicBezTo>
                  <a:lnTo>
                    <a:pt x="4196" y="5085"/>
                  </a:lnTo>
                  <a:close/>
                </a:path>
              </a:pathLst>
            </a:custGeom>
            <a:gradFill>
              <a:gsLst>
                <a:gs pos="0">
                  <a:srgbClr val="7582FF"/>
                </a:gs>
                <a:gs pos="27000">
                  <a:srgbClr val="C58DF8"/>
                </a:gs>
                <a:gs pos="75000">
                  <a:srgbClr val="FA889C"/>
                </a:gs>
                <a:gs pos="100000">
                  <a:srgbClr val="FBA87B"/>
                </a:gs>
              </a:gsLst>
              <a:lin ang="5400000" scaled="1"/>
            </a:gra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6" name="Group 5">
            <a:extLst>
              <a:ext uri="{FF2B5EF4-FFF2-40B4-BE49-F238E27FC236}">
                <a16:creationId xmlns:a16="http://schemas.microsoft.com/office/drawing/2014/main" id="{830D259A-C856-E09B-6DA5-D38BF9815AEC}"/>
              </a:ext>
            </a:extLst>
          </p:cNvPr>
          <p:cNvGrpSpPr/>
          <p:nvPr/>
        </p:nvGrpSpPr>
        <p:grpSpPr>
          <a:xfrm>
            <a:off x="475017" y="2014725"/>
            <a:ext cx="3923850" cy="459700"/>
            <a:chOff x="648150" y="1373736"/>
            <a:chExt cx="3923850" cy="459700"/>
          </a:xfrm>
        </p:grpSpPr>
        <p:sp>
          <p:nvSpPr>
            <p:cNvPr id="7" name="TextBox 6">
              <a:extLst>
                <a:ext uri="{FF2B5EF4-FFF2-40B4-BE49-F238E27FC236}">
                  <a16:creationId xmlns:a16="http://schemas.microsoft.com/office/drawing/2014/main" id="{EDA78FAA-5A8B-681A-15A7-83CA86D1097E}"/>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September 1 – </a:t>
              </a:r>
              <a:r>
                <a:rPr lang="en-US" sz="800" b="1">
                  <a:solidFill>
                    <a:srgbClr val="F9B373"/>
                  </a:solidFill>
                  <a:latin typeface="Inter"/>
                  <a:ea typeface="Inter"/>
                  <a:sym typeface="Poppins"/>
                  <a:hlinkClick r:id="rId13">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err="1">
                  <a:solidFill>
                    <a:srgbClr val="000000"/>
                  </a:solidFill>
                  <a:latin typeface="Inter"/>
                </a:rPr>
                <a:t>HashiCorp</a:t>
              </a:r>
              <a:r>
                <a:rPr lang="en-US" sz="800">
                  <a:solidFill>
                    <a:srgbClr val="000000"/>
                  </a:solidFill>
                  <a:latin typeface="Inter"/>
                </a:rPr>
                <a:t xml:space="preserve"> Vault </a:t>
              </a:r>
              <a:r>
                <a:rPr lang="en-US" sz="800" b="1">
                  <a:solidFill>
                    <a:srgbClr val="000000"/>
                  </a:solidFill>
                  <a:latin typeface="Inter"/>
                </a:rPr>
                <a:t>agentic IAM</a:t>
              </a:r>
              <a:r>
                <a:rPr lang="en-US" sz="800">
                  <a:solidFill>
                    <a:srgbClr val="000000"/>
                  </a:solidFill>
                  <a:latin typeface="Inter"/>
                </a:rPr>
                <a:t xml:space="preserve"> is now generally available</a:t>
              </a:r>
            </a:p>
          </p:txBody>
        </p:sp>
        <p:sp>
          <p:nvSpPr>
            <p:cNvPr id="8" name="Google Shape;1344;p135">
              <a:extLst>
                <a:ext uri="{FF2B5EF4-FFF2-40B4-BE49-F238E27FC236}">
                  <a16:creationId xmlns:a16="http://schemas.microsoft.com/office/drawing/2014/main" id="{D9037DBF-B5FF-54E7-F1D3-E40A7360475B}"/>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0" name="Group 9">
            <a:extLst>
              <a:ext uri="{FF2B5EF4-FFF2-40B4-BE49-F238E27FC236}">
                <a16:creationId xmlns:a16="http://schemas.microsoft.com/office/drawing/2014/main" id="{1E837294-C7FC-0766-E6F4-518FB604F89D}"/>
              </a:ext>
            </a:extLst>
          </p:cNvPr>
          <p:cNvGrpSpPr/>
          <p:nvPr/>
        </p:nvGrpSpPr>
        <p:grpSpPr>
          <a:xfrm>
            <a:off x="4593151" y="2729337"/>
            <a:ext cx="3923850" cy="459700"/>
            <a:chOff x="648150" y="1373736"/>
            <a:chExt cx="3923850" cy="459700"/>
          </a:xfrm>
        </p:grpSpPr>
        <p:sp>
          <p:nvSpPr>
            <p:cNvPr id="11" name="TextBox 10">
              <a:extLst>
                <a:ext uri="{FF2B5EF4-FFF2-40B4-BE49-F238E27FC236}">
                  <a16:creationId xmlns:a16="http://schemas.microsoft.com/office/drawing/2014/main" id="{282E4FFA-D79E-8C7B-0C3F-AD1A4CCD17C3}"/>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July 13 – </a:t>
              </a:r>
              <a:r>
                <a:rPr lang="en-US" sz="800" b="1">
                  <a:solidFill>
                    <a:srgbClr val="F9B373"/>
                  </a:solidFill>
                  <a:latin typeface="Inter"/>
                  <a:ea typeface="Inter"/>
                  <a:sym typeface="Poppins"/>
                  <a:hlinkClick r:id="rId15">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a:solidFill>
                    <a:srgbClr val="000000"/>
                  </a:solidFill>
                  <a:latin typeface="Inter"/>
                  <a:ea typeface="Inter"/>
                  <a:sym typeface="Poppins"/>
                </a:rPr>
                <a:t xml:space="preserve">Preparing for the </a:t>
              </a:r>
              <a:r>
                <a:rPr lang="en-US" sz="800" b="1">
                  <a:solidFill>
                    <a:srgbClr val="000000"/>
                  </a:solidFill>
                  <a:latin typeface="Inter"/>
                  <a:ea typeface="Inter"/>
                  <a:sym typeface="Poppins"/>
                </a:rPr>
                <a:t>post-quantum era</a:t>
              </a:r>
              <a:r>
                <a:rPr lang="en-US" sz="800">
                  <a:solidFill>
                    <a:srgbClr val="000000"/>
                  </a:solidFill>
                  <a:latin typeface="Inter"/>
                  <a:ea typeface="Inter"/>
                  <a:sym typeface="Poppins"/>
                </a:rPr>
                <a:t>: Discover and prioritize now</a:t>
              </a:r>
            </a:p>
          </p:txBody>
        </p:sp>
        <p:sp>
          <p:nvSpPr>
            <p:cNvPr id="12" name="Google Shape;1344;p135">
              <a:extLst>
                <a:ext uri="{FF2B5EF4-FFF2-40B4-BE49-F238E27FC236}">
                  <a16:creationId xmlns:a16="http://schemas.microsoft.com/office/drawing/2014/main" id="{4914BCAF-58BB-A1F3-5F73-F147B48B1E5F}"/>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3" name="Group 12">
            <a:extLst>
              <a:ext uri="{FF2B5EF4-FFF2-40B4-BE49-F238E27FC236}">
                <a16:creationId xmlns:a16="http://schemas.microsoft.com/office/drawing/2014/main" id="{405DE461-8E43-4D0E-17B3-29B6819D3030}"/>
              </a:ext>
            </a:extLst>
          </p:cNvPr>
          <p:cNvGrpSpPr/>
          <p:nvPr/>
        </p:nvGrpSpPr>
        <p:grpSpPr>
          <a:xfrm>
            <a:off x="4593151" y="4124257"/>
            <a:ext cx="3923850" cy="459700"/>
            <a:chOff x="648150" y="1373736"/>
            <a:chExt cx="3923850" cy="459700"/>
          </a:xfrm>
        </p:grpSpPr>
        <p:sp>
          <p:nvSpPr>
            <p:cNvPr id="17" name="TextBox 16">
              <a:extLst>
                <a:ext uri="{FF2B5EF4-FFF2-40B4-BE49-F238E27FC236}">
                  <a16:creationId xmlns:a16="http://schemas.microsoft.com/office/drawing/2014/main" id="{D6E4E626-FF7F-2A30-E7C8-DE2CFB6690FD}"/>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June 24 – </a:t>
              </a:r>
              <a:r>
                <a:rPr lang="en-US" sz="800" b="1">
                  <a:solidFill>
                    <a:srgbClr val="F9B373"/>
                  </a:solidFill>
                  <a:latin typeface="Inter"/>
                  <a:ea typeface="Inter"/>
                  <a:sym typeface="Poppins"/>
                  <a:hlinkClick r:id="rId16">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a:solidFill>
                    <a:srgbClr val="000000"/>
                  </a:solidFill>
                  <a:latin typeface="Inter"/>
                  <a:ea typeface="Inter"/>
                  <a:sym typeface="Poppins"/>
                </a:rPr>
                <a:t xml:space="preserve">HCP Vault Dedicated introduces </a:t>
              </a:r>
              <a:r>
                <a:rPr lang="en-US" sz="800" b="1">
                  <a:solidFill>
                    <a:srgbClr val="000000"/>
                  </a:solidFill>
                  <a:latin typeface="Inter"/>
                  <a:ea typeface="Inter"/>
                  <a:sym typeface="Poppins"/>
                </a:rPr>
                <a:t xml:space="preserve">cluster disaster recovery </a:t>
              </a:r>
              <a:r>
                <a:rPr lang="en-US" sz="800">
                  <a:solidFill>
                    <a:srgbClr val="000000"/>
                  </a:solidFill>
                  <a:latin typeface="Inter"/>
                  <a:ea typeface="Inter"/>
                  <a:sym typeface="Poppins"/>
                </a:rPr>
                <a:t>(public preview)</a:t>
              </a:r>
              <a:endParaRPr lang="en-US" b="1"/>
            </a:p>
          </p:txBody>
        </p:sp>
        <p:sp>
          <p:nvSpPr>
            <p:cNvPr id="18" name="Google Shape;1344;p135">
              <a:extLst>
                <a:ext uri="{FF2B5EF4-FFF2-40B4-BE49-F238E27FC236}">
                  <a16:creationId xmlns:a16="http://schemas.microsoft.com/office/drawing/2014/main" id="{17B18F0D-95CA-2BBA-2F37-F14972048669}"/>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19" name="Group 18">
            <a:extLst>
              <a:ext uri="{FF2B5EF4-FFF2-40B4-BE49-F238E27FC236}">
                <a16:creationId xmlns:a16="http://schemas.microsoft.com/office/drawing/2014/main" id="{46A91897-4C24-B220-9EF7-0FEF0853812F}"/>
              </a:ext>
            </a:extLst>
          </p:cNvPr>
          <p:cNvGrpSpPr/>
          <p:nvPr/>
        </p:nvGrpSpPr>
        <p:grpSpPr>
          <a:xfrm>
            <a:off x="4593151" y="3410407"/>
            <a:ext cx="3923850" cy="459700"/>
            <a:chOff x="648150" y="1373736"/>
            <a:chExt cx="3923850" cy="459700"/>
          </a:xfrm>
        </p:grpSpPr>
        <p:sp>
          <p:nvSpPr>
            <p:cNvPr id="20" name="TextBox 19">
              <a:extLst>
                <a:ext uri="{FF2B5EF4-FFF2-40B4-BE49-F238E27FC236}">
                  <a16:creationId xmlns:a16="http://schemas.microsoft.com/office/drawing/2014/main" id="{7D6340E5-8BE9-1146-0E0A-5626941DBA4C}"/>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July 10 – </a:t>
              </a:r>
              <a:r>
                <a:rPr lang="en-US" sz="800" b="1">
                  <a:solidFill>
                    <a:srgbClr val="F9B373"/>
                  </a:solidFill>
                  <a:latin typeface="Inter"/>
                  <a:ea typeface="Inter"/>
                  <a:sym typeface="Poppins"/>
                  <a:hlinkClick r:id="rId15">
                    <a:extLst>
                      <a:ext uri="{A12FA001-AC4F-418D-AE19-62706E023703}">
                        <ahyp:hlinkClr xmlns:ahyp="http://schemas.microsoft.com/office/drawing/2018/hyperlinkcolor" val="tx"/>
                      </a:ext>
                    </a:extLst>
                  </a:hlinkClick>
                </a:rPr>
                <a:t xml:space="preserve">See </a:t>
              </a:r>
              <a:r>
                <a:rPr lang="en-US" sz="800" b="1">
                  <a:solidFill>
                    <a:srgbClr val="F9B373"/>
                  </a:solidFill>
                  <a:latin typeface="Inter"/>
                  <a:ea typeface="Inter"/>
                  <a:sym typeface="Poppins"/>
                  <a:hlinkClick r:id="rId17">
                    <a:extLst>
                      <a:ext uri="{A12FA001-AC4F-418D-AE19-62706E023703}">
                        <ahyp:hlinkClr xmlns:ahyp="http://schemas.microsoft.com/office/drawing/2018/hyperlinkcolor" val="tx"/>
                      </a:ext>
                    </a:extLst>
                  </a:hlinkClick>
                </a:rPr>
                <a:t>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a:solidFill>
                    <a:srgbClr val="000000"/>
                  </a:solidFill>
                  <a:latin typeface="Inter"/>
                  <a:ea typeface="Inter"/>
                  <a:sym typeface="Poppins"/>
                </a:rPr>
                <a:t xml:space="preserve">Announcing the public beta of </a:t>
              </a:r>
              <a:r>
                <a:rPr lang="en-US" sz="800" b="1">
                  <a:solidFill>
                    <a:srgbClr val="000000"/>
                  </a:solidFill>
                  <a:latin typeface="Inter"/>
                  <a:ea typeface="Inter"/>
                  <a:sym typeface="Poppins"/>
                </a:rPr>
                <a:t>Vault Kubernetes key management</a:t>
              </a:r>
            </a:p>
          </p:txBody>
        </p:sp>
        <p:sp>
          <p:nvSpPr>
            <p:cNvPr id="21" name="Google Shape;1344;p135">
              <a:extLst>
                <a:ext uri="{FF2B5EF4-FFF2-40B4-BE49-F238E27FC236}">
                  <a16:creationId xmlns:a16="http://schemas.microsoft.com/office/drawing/2014/main" id="{C611DA12-2536-4287-9B0C-DAA467AF7461}"/>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2" name="Group 21">
            <a:extLst>
              <a:ext uri="{FF2B5EF4-FFF2-40B4-BE49-F238E27FC236}">
                <a16:creationId xmlns:a16="http://schemas.microsoft.com/office/drawing/2014/main" id="{382BC56B-3C77-B556-0CB0-12B89DF6D1D4}"/>
              </a:ext>
            </a:extLst>
          </p:cNvPr>
          <p:cNvGrpSpPr/>
          <p:nvPr/>
        </p:nvGrpSpPr>
        <p:grpSpPr>
          <a:xfrm>
            <a:off x="475017" y="3410407"/>
            <a:ext cx="3923850" cy="459700"/>
            <a:chOff x="648150" y="1373736"/>
            <a:chExt cx="3923850" cy="459700"/>
          </a:xfrm>
        </p:grpSpPr>
        <p:sp>
          <p:nvSpPr>
            <p:cNvPr id="26" name="TextBox 25">
              <a:extLst>
                <a:ext uri="{FF2B5EF4-FFF2-40B4-BE49-F238E27FC236}">
                  <a16:creationId xmlns:a16="http://schemas.microsoft.com/office/drawing/2014/main" id="{37CF2190-E4C5-F5B4-15E2-8B27C6398D4A}"/>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July 21 – </a:t>
              </a:r>
              <a:r>
                <a:rPr lang="en-US" sz="800" b="1">
                  <a:solidFill>
                    <a:srgbClr val="F9B373"/>
                  </a:solidFill>
                  <a:latin typeface="Inter"/>
                  <a:ea typeface="Inter"/>
                  <a:sym typeface="Poppins"/>
                  <a:hlinkClick r:id="rId4">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4">
                  <a:extLst>
                    <a:ext uri="{A12FA001-AC4F-418D-AE19-62706E023703}">
                      <ahyp:hlinkClr xmlns:ahyp="http://schemas.microsoft.com/office/drawing/2018/hyperlinkcolor" val="tx"/>
                    </a:ext>
                  </a:extLst>
                </a:hlinkClick>
              </a:endParaRPr>
            </a:p>
            <a:p>
              <a:r>
                <a:rPr lang="en-US" sz="800" b="1">
                  <a:solidFill>
                    <a:srgbClr val="000000"/>
                  </a:solidFill>
                  <a:latin typeface="Inter"/>
                  <a:ea typeface="Inter"/>
                  <a:sym typeface="Poppins"/>
                </a:rPr>
                <a:t>AI speeds software development</a:t>
              </a:r>
              <a:r>
                <a:rPr lang="en-US" sz="800">
                  <a:solidFill>
                    <a:srgbClr val="000000"/>
                  </a:solidFill>
                  <a:latin typeface="Inter"/>
                  <a:ea typeface="Inter"/>
                  <a:sym typeface="Poppins"/>
                </a:rPr>
                <a:t>. Is your secret security keeping up?</a:t>
              </a:r>
              <a:endParaRPr lang="en-US">
                <a:sym typeface="Poppins"/>
              </a:endParaRPr>
            </a:p>
          </p:txBody>
        </p:sp>
        <p:sp>
          <p:nvSpPr>
            <p:cNvPr id="27" name="Google Shape;1344;p135">
              <a:extLst>
                <a:ext uri="{FF2B5EF4-FFF2-40B4-BE49-F238E27FC236}">
                  <a16:creationId xmlns:a16="http://schemas.microsoft.com/office/drawing/2014/main" id="{3FCEA114-0FAA-AD2E-F63F-69E6C24D1CE6}"/>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28" name="Group 27">
            <a:extLst>
              <a:ext uri="{FF2B5EF4-FFF2-40B4-BE49-F238E27FC236}">
                <a16:creationId xmlns:a16="http://schemas.microsoft.com/office/drawing/2014/main" id="{2CFD4483-DEE9-6B70-6C86-1D81BE427C72}"/>
              </a:ext>
            </a:extLst>
          </p:cNvPr>
          <p:cNvGrpSpPr/>
          <p:nvPr/>
        </p:nvGrpSpPr>
        <p:grpSpPr>
          <a:xfrm>
            <a:off x="475017" y="4124257"/>
            <a:ext cx="3923850" cy="459700"/>
            <a:chOff x="648150" y="1373736"/>
            <a:chExt cx="3923850" cy="459700"/>
          </a:xfrm>
        </p:grpSpPr>
        <p:sp>
          <p:nvSpPr>
            <p:cNvPr id="42" name="TextBox 41">
              <a:extLst>
                <a:ext uri="{FF2B5EF4-FFF2-40B4-BE49-F238E27FC236}">
                  <a16:creationId xmlns:a16="http://schemas.microsoft.com/office/drawing/2014/main" id="{C20E93C9-02F9-6028-7C54-89D12A107C35}"/>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July 16 – </a:t>
              </a:r>
              <a:r>
                <a:rPr lang="en-US" sz="800" b="1">
                  <a:solidFill>
                    <a:srgbClr val="F9B373"/>
                  </a:solidFill>
                  <a:latin typeface="Inter"/>
                  <a:ea typeface="Inter"/>
                  <a:sym typeface="Poppins"/>
                  <a:hlinkClick r:id="rId18">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a:solidFill>
                    <a:srgbClr val="000000"/>
                  </a:solidFill>
                  <a:latin typeface="Inter"/>
                  <a:ea typeface="Inter"/>
                  <a:sym typeface="Poppins"/>
                </a:rPr>
                <a:t xml:space="preserve">Understanding Vault performance: </a:t>
              </a:r>
              <a:r>
                <a:rPr lang="en-US" sz="800" b="1">
                  <a:solidFill>
                    <a:srgbClr val="000000"/>
                  </a:solidFill>
                  <a:latin typeface="Inter"/>
                  <a:ea typeface="Inter"/>
                  <a:sym typeface="Poppins"/>
                </a:rPr>
                <a:t>Benchmarks from real-world workloads</a:t>
              </a:r>
              <a:endParaRPr lang="en-US"/>
            </a:p>
          </p:txBody>
        </p:sp>
        <p:sp>
          <p:nvSpPr>
            <p:cNvPr id="43" name="Google Shape;1344;p135">
              <a:extLst>
                <a:ext uri="{FF2B5EF4-FFF2-40B4-BE49-F238E27FC236}">
                  <a16:creationId xmlns:a16="http://schemas.microsoft.com/office/drawing/2014/main" id="{B018B595-B26C-9BB1-F435-785E1123113F}"/>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grpSp>
        <p:nvGrpSpPr>
          <p:cNvPr id="44" name="Group 43">
            <a:extLst>
              <a:ext uri="{FF2B5EF4-FFF2-40B4-BE49-F238E27FC236}">
                <a16:creationId xmlns:a16="http://schemas.microsoft.com/office/drawing/2014/main" id="{CDFE37C4-62A4-922C-F6B8-27A641541902}"/>
              </a:ext>
            </a:extLst>
          </p:cNvPr>
          <p:cNvGrpSpPr/>
          <p:nvPr/>
        </p:nvGrpSpPr>
        <p:grpSpPr>
          <a:xfrm>
            <a:off x="475017" y="2731832"/>
            <a:ext cx="3923850" cy="459700"/>
            <a:chOff x="648150" y="1373736"/>
            <a:chExt cx="3923850" cy="459700"/>
          </a:xfrm>
        </p:grpSpPr>
        <p:sp>
          <p:nvSpPr>
            <p:cNvPr id="45" name="TextBox 44">
              <a:extLst>
                <a:ext uri="{FF2B5EF4-FFF2-40B4-BE49-F238E27FC236}">
                  <a16:creationId xmlns:a16="http://schemas.microsoft.com/office/drawing/2014/main" id="{2DC00CD3-C6F9-44FB-2616-5A9B9D6A7AD7}"/>
                </a:ext>
              </a:extLst>
            </p:cNvPr>
            <p:cNvSpPr txBox="1"/>
            <p:nvPr/>
          </p:nvSpPr>
          <p:spPr>
            <a:xfrm>
              <a:off x="648150" y="1373736"/>
              <a:ext cx="3923850" cy="459700"/>
            </a:xfrm>
            <a:prstGeom prst="roundRect">
              <a:avLst/>
            </a:prstGeom>
            <a:noFill/>
            <a:ln w="9525">
              <a:gradFill>
                <a:gsLst>
                  <a:gs pos="0">
                    <a:srgbClr val="CDD5FF"/>
                  </a:gs>
                  <a:gs pos="27000">
                    <a:srgbClr val="E5D0FF"/>
                  </a:gs>
                  <a:gs pos="75000">
                    <a:srgbClr val="FFC2C8"/>
                  </a:gs>
                  <a:gs pos="100000">
                    <a:srgbClr val="FDDEC5"/>
                  </a:gs>
                </a:gsLst>
                <a:lin ang="5400000" scaled="1"/>
              </a:gradFill>
            </a:ln>
          </p:spPr>
          <p:txBody>
            <a:bodyPr wrap="square" lIns="91440" tIns="45720" rIns="91440" bIns="45720" anchor="t">
              <a:spAutoFit/>
            </a:bodyPr>
            <a:lstStyle/>
            <a:p>
              <a:pPr>
                <a:spcAft>
                  <a:spcPts val="600"/>
                </a:spcAft>
              </a:pPr>
              <a:r>
                <a:rPr lang="en-US" sz="800">
                  <a:latin typeface="Inter"/>
                  <a:ea typeface="Inter"/>
                  <a:sym typeface="Poppins"/>
                </a:rPr>
                <a:t xml:space="preserve">      August 27 – </a:t>
              </a:r>
              <a:r>
                <a:rPr lang="en-US" sz="800" b="1">
                  <a:solidFill>
                    <a:srgbClr val="F9B373"/>
                  </a:solidFill>
                  <a:latin typeface="Inter"/>
                  <a:ea typeface="Inter"/>
                  <a:sym typeface="Poppins"/>
                  <a:hlinkClick r:id="rId19">
                    <a:extLst>
                      <a:ext uri="{A12FA001-AC4F-418D-AE19-62706E023703}">
                        <ahyp:hlinkClr xmlns:ahyp="http://schemas.microsoft.com/office/drawing/2018/hyperlinkcolor" val="tx"/>
                      </a:ext>
                    </a:extLst>
                  </a:hlinkClick>
                </a:rPr>
                <a:t>See here</a:t>
              </a:r>
              <a:endParaRPr lang="en-US" sz="800">
                <a:solidFill>
                  <a:srgbClr val="F9B373"/>
                </a:solidFill>
                <a:latin typeface="Inter"/>
                <a:ea typeface="Inter"/>
                <a:sym typeface="Poppins"/>
                <a:hlinkClick r:id="rId14">
                  <a:extLst>
                    <a:ext uri="{A12FA001-AC4F-418D-AE19-62706E023703}">
                      <ahyp:hlinkClr xmlns:ahyp="http://schemas.microsoft.com/office/drawing/2018/hyperlinkcolor" val="tx"/>
                    </a:ext>
                  </a:extLst>
                </a:hlinkClick>
              </a:endParaRPr>
            </a:p>
            <a:p>
              <a:r>
                <a:rPr lang="en-US" sz="800">
                  <a:solidFill>
                    <a:srgbClr val="000000"/>
                  </a:solidFill>
                  <a:latin typeface="Inter"/>
                </a:rPr>
                <a:t xml:space="preserve">Stream HCP Vault Dedicated </a:t>
              </a:r>
              <a:r>
                <a:rPr lang="en-US" sz="800" b="1">
                  <a:solidFill>
                    <a:srgbClr val="000000"/>
                  </a:solidFill>
                  <a:latin typeface="Inter"/>
                </a:rPr>
                <a:t>audit logs to Microsoft Sentinel</a:t>
              </a:r>
            </a:p>
          </p:txBody>
        </p:sp>
        <p:sp>
          <p:nvSpPr>
            <p:cNvPr id="46" name="Google Shape;1344;p135">
              <a:extLst>
                <a:ext uri="{FF2B5EF4-FFF2-40B4-BE49-F238E27FC236}">
                  <a16:creationId xmlns:a16="http://schemas.microsoft.com/office/drawing/2014/main" id="{F53D7C74-78CD-079C-D152-5F19F7224CF9}"/>
                </a:ext>
              </a:extLst>
            </p:cNvPr>
            <p:cNvSpPr/>
            <p:nvPr/>
          </p:nvSpPr>
          <p:spPr>
            <a:xfrm>
              <a:off x="750851" y="1417732"/>
              <a:ext cx="120690" cy="131382"/>
            </a:xfrm>
            <a:custGeom>
              <a:avLst/>
              <a:gdLst/>
              <a:ahLst/>
              <a:cxnLst/>
              <a:rect l="l" t="t" r="r" b="b"/>
              <a:pathLst>
                <a:path w="21600" h="21600" extrusionOk="0">
                  <a:moveTo>
                    <a:pt x="2810" y="21600"/>
                  </a:moveTo>
                  <a:cubicBezTo>
                    <a:pt x="1261" y="21600"/>
                    <a:pt x="0" y="20441"/>
                    <a:pt x="0" y="19019"/>
                  </a:cubicBezTo>
                  <a:lnTo>
                    <a:pt x="0" y="4355"/>
                  </a:lnTo>
                  <a:cubicBezTo>
                    <a:pt x="0" y="2933"/>
                    <a:pt x="1261" y="1774"/>
                    <a:pt x="2810" y="1774"/>
                  </a:cubicBezTo>
                  <a:lnTo>
                    <a:pt x="5507" y="1774"/>
                  </a:lnTo>
                  <a:lnTo>
                    <a:pt x="5507" y="559"/>
                  </a:lnTo>
                  <a:cubicBezTo>
                    <a:pt x="5507" y="256"/>
                    <a:pt x="5776" y="0"/>
                    <a:pt x="6115" y="0"/>
                  </a:cubicBezTo>
                  <a:cubicBezTo>
                    <a:pt x="6455" y="0"/>
                    <a:pt x="6724" y="248"/>
                    <a:pt x="6724" y="559"/>
                  </a:cubicBezTo>
                  <a:lnTo>
                    <a:pt x="6724" y="1774"/>
                  </a:lnTo>
                  <a:lnTo>
                    <a:pt x="14876" y="1774"/>
                  </a:lnTo>
                  <a:lnTo>
                    <a:pt x="14876" y="559"/>
                  </a:lnTo>
                  <a:cubicBezTo>
                    <a:pt x="14876" y="256"/>
                    <a:pt x="15145" y="0"/>
                    <a:pt x="15484" y="0"/>
                  </a:cubicBezTo>
                  <a:cubicBezTo>
                    <a:pt x="15824" y="0"/>
                    <a:pt x="16093" y="248"/>
                    <a:pt x="16093" y="559"/>
                  </a:cubicBezTo>
                  <a:lnTo>
                    <a:pt x="16093" y="1774"/>
                  </a:lnTo>
                  <a:lnTo>
                    <a:pt x="18790" y="1774"/>
                  </a:lnTo>
                  <a:cubicBezTo>
                    <a:pt x="20339" y="1774"/>
                    <a:pt x="21600" y="2933"/>
                    <a:pt x="21600" y="4355"/>
                  </a:cubicBezTo>
                  <a:lnTo>
                    <a:pt x="21600" y="19019"/>
                  </a:lnTo>
                  <a:cubicBezTo>
                    <a:pt x="21600" y="20441"/>
                    <a:pt x="20339" y="21600"/>
                    <a:pt x="18790" y="21600"/>
                  </a:cubicBezTo>
                  <a:lnTo>
                    <a:pt x="2827" y="21600"/>
                  </a:lnTo>
                  <a:close/>
                  <a:moveTo>
                    <a:pt x="1209" y="19019"/>
                  </a:moveTo>
                  <a:cubicBezTo>
                    <a:pt x="1209" y="19826"/>
                    <a:pt x="1922" y="20489"/>
                    <a:pt x="2810" y="20489"/>
                  </a:cubicBezTo>
                  <a:lnTo>
                    <a:pt x="18773" y="20489"/>
                  </a:lnTo>
                  <a:cubicBezTo>
                    <a:pt x="19651" y="20489"/>
                    <a:pt x="20373" y="19834"/>
                    <a:pt x="20373" y="19019"/>
                  </a:cubicBezTo>
                  <a:lnTo>
                    <a:pt x="20373" y="8958"/>
                  </a:lnTo>
                  <a:lnTo>
                    <a:pt x="1218" y="8958"/>
                  </a:lnTo>
                  <a:lnTo>
                    <a:pt x="1218" y="19019"/>
                  </a:lnTo>
                  <a:close/>
                  <a:moveTo>
                    <a:pt x="2810" y="2885"/>
                  </a:moveTo>
                  <a:cubicBezTo>
                    <a:pt x="1931" y="2885"/>
                    <a:pt x="1209" y="3540"/>
                    <a:pt x="1209" y="4355"/>
                  </a:cubicBezTo>
                  <a:lnTo>
                    <a:pt x="1209" y="7847"/>
                  </a:lnTo>
                  <a:lnTo>
                    <a:pt x="20365" y="7847"/>
                  </a:lnTo>
                  <a:lnTo>
                    <a:pt x="20365" y="4355"/>
                  </a:lnTo>
                  <a:cubicBezTo>
                    <a:pt x="20365" y="3548"/>
                    <a:pt x="19651" y="2885"/>
                    <a:pt x="18764" y="2885"/>
                  </a:cubicBezTo>
                  <a:lnTo>
                    <a:pt x="16067" y="2885"/>
                  </a:lnTo>
                  <a:lnTo>
                    <a:pt x="16067" y="4603"/>
                  </a:lnTo>
                  <a:cubicBezTo>
                    <a:pt x="16067" y="4907"/>
                    <a:pt x="15798" y="5162"/>
                    <a:pt x="15458" y="5162"/>
                  </a:cubicBezTo>
                  <a:cubicBezTo>
                    <a:pt x="15119" y="5162"/>
                    <a:pt x="14849" y="4914"/>
                    <a:pt x="14849" y="4603"/>
                  </a:cubicBezTo>
                  <a:lnTo>
                    <a:pt x="14849" y="2885"/>
                  </a:lnTo>
                  <a:lnTo>
                    <a:pt x="6698" y="2885"/>
                  </a:lnTo>
                  <a:lnTo>
                    <a:pt x="6698" y="4603"/>
                  </a:lnTo>
                  <a:cubicBezTo>
                    <a:pt x="6698" y="4907"/>
                    <a:pt x="6429" y="5162"/>
                    <a:pt x="6089" y="5162"/>
                  </a:cubicBezTo>
                  <a:cubicBezTo>
                    <a:pt x="5750" y="5162"/>
                    <a:pt x="5480" y="4914"/>
                    <a:pt x="5480" y="4603"/>
                  </a:cubicBezTo>
                  <a:lnTo>
                    <a:pt x="5480" y="2885"/>
                  </a:lnTo>
                  <a:lnTo>
                    <a:pt x="2784" y="2885"/>
                  </a:lnTo>
                  <a:close/>
                </a:path>
              </a:pathLst>
            </a:custGeom>
            <a:solidFill>
              <a:srgbClr val="F9B373"/>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u="none" strike="noStrike" cap="none">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spTree>
    <p:extLst>
      <p:ext uri="{BB962C8B-B14F-4D97-AF65-F5344CB8AC3E}">
        <p14:creationId xmlns:p14="http://schemas.microsoft.com/office/powerpoint/2010/main" val="578426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auto-pptx:vault-webina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338E-E5C2-3AC9-98F6-0968A8B04FF0}"/>
              </a:ext>
            </a:extLst>
          </p:cNvPr>
          <p:cNvSpPr>
            <a:spLocks noGrp="1"/>
          </p:cNvSpPr>
          <p:nvPr>
            <p:ph type="title"/>
          </p:nvPr>
        </p:nvSpPr>
        <p:spPr/>
        <p:txBody>
          <a:bodyPr/>
          <a:lstStyle/>
          <a:p>
            <a:r>
              <a:rPr lang="en-US">
                <a:gradFill>
                  <a:gsLst>
                    <a:gs pos="0">
                      <a:srgbClr val="6C81FF"/>
                    </a:gs>
                    <a:gs pos="35000">
                      <a:srgbClr val="C08DFF"/>
                    </a:gs>
                    <a:gs pos="75000">
                      <a:srgbClr val="FF8791"/>
                    </a:gs>
                    <a:gs pos="100000">
                      <a:srgbClr val="F9B571"/>
                    </a:gs>
                  </a:gsLst>
                  <a:lin ang="2700000" scaled="0"/>
                </a:gradFill>
                <a:cs typeface="+mn-cs"/>
              </a:rPr>
              <a:t>Vault Upcoming Webinars</a:t>
            </a:r>
          </a:p>
        </p:txBody>
      </p:sp>
      <p:sp>
        <p:nvSpPr>
          <p:cNvPr id="3" name="Subtitle 2">
            <a:extLst>
              <a:ext uri="{FF2B5EF4-FFF2-40B4-BE49-F238E27FC236}">
                <a16:creationId xmlns:a16="http://schemas.microsoft.com/office/drawing/2014/main" id="{F97F473D-C773-E620-5304-0557C599D5E5}"/>
              </a:ext>
            </a:extLst>
          </p:cNvPr>
          <p:cNvSpPr>
            <a:spLocks noGrp="1"/>
          </p:cNvSpPr>
          <p:nvPr>
            <p:ph type="subTitle" idx="4"/>
          </p:nvPr>
        </p:nvSpPr>
        <p:spPr>
          <a:xfrm>
            <a:off x="411475" y="823300"/>
            <a:ext cx="8321100" cy="492443"/>
          </a:xfrm>
        </p:spPr>
        <p:txBody>
          <a:bodyPr/>
          <a:lstStyle/>
          <a:p>
            <a:r>
              <a:rPr lang="en-US"/>
              <a:t xml:space="preserve">All global events </a:t>
            </a:r>
            <a:r>
              <a:rPr lang="en-US">
                <a:hlinkClick r:id="rId2"/>
              </a:rPr>
              <a:t xml:space="preserve">here </a:t>
            </a:r>
            <a:endParaRPr lang="en-US"/>
          </a:p>
          <a:p>
            <a:endParaRPr lang="en-US"/>
          </a:p>
        </p:txBody>
      </p:sp>
      <p:pic>
        <p:nvPicPr>
          <p:cNvPr id="11" name="Google Shape;1050;p133">
            <a:extLst>
              <a:ext uri="{FF2B5EF4-FFF2-40B4-BE49-F238E27FC236}">
                <a16:creationId xmlns:a16="http://schemas.microsoft.com/office/drawing/2014/main" id="{5B17CA75-DCC6-C9B6-DD4E-760BEAAE136D}"/>
              </a:ext>
            </a:extLst>
          </p:cNvPr>
          <p:cNvPicPr preferRelativeResize="0"/>
          <p:nvPr/>
        </p:nvPicPr>
        <p:blipFill>
          <a:blip r:embed="rId3">
            <a:alphaModFix/>
          </a:blip>
          <a:stretch>
            <a:fillRect/>
          </a:stretch>
        </p:blipFill>
        <p:spPr>
          <a:xfrm>
            <a:off x="569099" y="2794054"/>
            <a:ext cx="238264" cy="322485"/>
          </a:xfrm>
          <a:prstGeom prst="rect">
            <a:avLst/>
          </a:prstGeom>
          <a:noFill/>
          <a:ln>
            <a:noFill/>
          </a:ln>
        </p:spPr>
      </p:pic>
      <p:sp>
        <p:nvSpPr>
          <p:cNvPr id="16" name="Google Shape;397;p78">
            <a:extLst>
              <a:ext uri="{FF2B5EF4-FFF2-40B4-BE49-F238E27FC236}">
                <a16:creationId xmlns:a16="http://schemas.microsoft.com/office/drawing/2014/main" id="{83160FD0-BDBB-B345-A520-8721D9F7DAF5}"/>
              </a:ext>
            </a:extLst>
          </p:cNvPr>
          <p:cNvSpPr/>
          <p:nvPr/>
        </p:nvSpPr>
        <p:spPr>
          <a:xfrm>
            <a:off x="411450" y="1516816"/>
            <a:ext cx="2529980" cy="1682804"/>
          </a:xfrm>
          <a:prstGeom prst="roundRect">
            <a:avLst>
              <a:gd name="adj" fmla="val 2539"/>
            </a:avLst>
          </a:prstGeom>
          <a:noFill/>
          <a:ln>
            <a:gradFill>
              <a:gsLst>
                <a:gs pos="0">
                  <a:srgbClr val="7582FF"/>
                </a:gs>
                <a:gs pos="25000">
                  <a:srgbClr val="C08DFF"/>
                </a:gs>
                <a:gs pos="75000">
                  <a:srgbClr val="FF8791"/>
                </a:gs>
                <a:gs pos="100000">
                  <a:srgbClr val="F9B373"/>
                </a:gs>
              </a:gsLst>
              <a:lin ang="5400000" scaled="1"/>
            </a:gradFill>
          </a:ln>
          <a:effectLst/>
        </p:spPr>
        <p:txBody>
          <a:bodyPr spcFirstLastPara="1" wrap="square" lIns="91425" tIns="91425" rIns="91425" bIns="91425" anchor="t" anchorCtr="0">
            <a:noAutofit/>
          </a:bodyPr>
          <a:lstStyle/>
          <a:p>
            <a:pPr>
              <a:spcAft>
                <a:spcPts val="600"/>
              </a:spcAft>
              <a:defRPr/>
            </a:pPr>
            <a:r>
              <a:rPr lang="en-US" sz="800">
                <a:solidFill>
                  <a:srgbClr val="F9B373"/>
                </a:solidFill>
                <a:latin typeface="Inter"/>
                <a:ea typeface="Inter"/>
              </a:rPr>
              <a:t xml:space="preserve">OCT 13, 2026| WEBINAR | </a:t>
            </a:r>
            <a:r>
              <a:rPr lang="en-US" sz="800" b="1">
                <a:solidFill>
                  <a:srgbClr val="F9B373"/>
                </a:solidFill>
                <a:latin typeface="Inter"/>
                <a:ea typeface="Inter"/>
                <a:hlinkClick r:id="rId4"/>
              </a:rPr>
              <a:t>See here</a:t>
            </a:r>
            <a:endParaRPr lang="en-US" sz="800" b="1">
              <a:solidFill>
                <a:srgbClr val="F9B373"/>
              </a:solidFill>
              <a:latin typeface="Inter"/>
              <a:ea typeface="Inter"/>
              <a:hlinkClick r:id="rId5"/>
            </a:endParaRPr>
          </a:p>
          <a:p>
            <a:pPr>
              <a:defRPr/>
            </a:pPr>
            <a:r>
              <a:rPr lang="en-US" sz="800" b="1">
                <a:solidFill>
                  <a:srgbClr val="1A1A1A"/>
                </a:solidFill>
                <a:latin typeface="Inter"/>
                <a:ea typeface="Inter"/>
                <a:cs typeface="Arial"/>
              </a:rPr>
              <a:t xml:space="preserve">Get Certified at </a:t>
            </a:r>
            <a:r>
              <a:rPr lang="en-US" sz="800" b="1" err="1">
                <a:solidFill>
                  <a:srgbClr val="1A1A1A"/>
                </a:solidFill>
                <a:latin typeface="Inter"/>
                <a:ea typeface="Inter"/>
                <a:cs typeface="Arial"/>
              </a:rPr>
              <a:t>TechXchange</a:t>
            </a:r>
            <a:endParaRPr lang="en-US" sz="800" b="1">
              <a:solidFill>
                <a:srgbClr val="1A1A1A"/>
              </a:solidFill>
              <a:latin typeface="Inter"/>
              <a:ea typeface="Inter"/>
              <a:cs typeface="Arial"/>
            </a:endParaRPr>
          </a:p>
          <a:p>
            <a:pPr>
              <a:defRPr/>
            </a:pPr>
            <a:endParaRPr lang="en-US" sz="800" b="1">
              <a:solidFill>
                <a:srgbClr val="1A1A1A"/>
              </a:solidFill>
              <a:latin typeface="Inter"/>
              <a:ea typeface="Inter"/>
              <a:cs typeface="Arial"/>
            </a:endParaRPr>
          </a:p>
          <a:p>
            <a:pPr>
              <a:spcAft>
                <a:spcPts val="600"/>
              </a:spcAft>
              <a:defRPr/>
            </a:pPr>
            <a:r>
              <a:rPr lang="en-US" sz="650">
                <a:solidFill>
                  <a:prstClr val="black"/>
                </a:solidFill>
                <a:latin typeface="Inter"/>
                <a:ea typeface="Inter"/>
                <a:cs typeface="Poppins"/>
              </a:rPr>
              <a:t xml:space="preserve">Get ready for Atlanta! Learn how to maximize your </a:t>
            </a:r>
            <a:r>
              <a:rPr lang="en-US" sz="650" err="1">
                <a:solidFill>
                  <a:prstClr val="black"/>
                </a:solidFill>
                <a:latin typeface="Inter"/>
                <a:ea typeface="Inter"/>
                <a:cs typeface="Poppins"/>
              </a:rPr>
              <a:t>TechXchange</a:t>
            </a:r>
            <a:r>
              <a:rPr lang="en-US" sz="650">
                <a:solidFill>
                  <a:prstClr val="black"/>
                </a:solidFill>
                <a:latin typeface="Inter"/>
                <a:ea typeface="Inter"/>
                <a:cs typeface="Poppins"/>
              </a:rPr>
              <a:t xml:space="preserve"> experience with onsite certification exams. Get the first look of our new certifications launching in October (or at the conference), including an exciting new AI credential. We'll also explore IBM and </a:t>
            </a:r>
            <a:r>
              <a:rPr lang="en-US" sz="650" err="1">
                <a:solidFill>
                  <a:prstClr val="black"/>
                </a:solidFill>
                <a:latin typeface="Inter"/>
                <a:ea typeface="Inter"/>
                <a:cs typeface="Poppins"/>
              </a:rPr>
              <a:t>HashiCorp</a:t>
            </a:r>
            <a:r>
              <a:rPr lang="en-US" sz="650">
                <a:solidFill>
                  <a:prstClr val="black"/>
                </a:solidFill>
                <a:latin typeface="Inter"/>
                <a:ea typeface="Inter"/>
                <a:cs typeface="Poppins"/>
              </a:rPr>
              <a:t xml:space="preserve"> certifications that tailors to your career path/growth.</a:t>
            </a:r>
            <a:endParaRPr lang="en-US" sz="800">
              <a:solidFill>
                <a:prstClr val="black"/>
              </a:solidFill>
            </a:endParaRPr>
          </a:p>
        </p:txBody>
      </p:sp>
      <p:pic>
        <p:nvPicPr>
          <p:cNvPr id="12" name="Picture 12" descr="Union Jack - Wikipedia">
            <a:extLst>
              <a:ext uri="{FF2B5EF4-FFF2-40B4-BE49-F238E27FC236}">
                <a16:creationId xmlns:a16="http://schemas.microsoft.com/office/drawing/2014/main" id="{54E3CD70-0A9E-1A1C-6F91-22E22AD31C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0736" y="1565393"/>
            <a:ext cx="182880" cy="182880"/>
          </a:xfrm>
          <a:prstGeom prst="ellipse">
            <a:avLst/>
          </a:prstGeom>
          <a:noFill/>
          <a:extLst>
            <a:ext uri="{909E8E84-426E-40DD-AFC4-6F175D3DCCD1}">
              <a14:hiddenFill xmlns:a14="http://schemas.microsoft.com/office/drawing/2010/main">
                <a:solidFill>
                  <a:srgbClr val="FFFFFF"/>
                </a:solidFill>
              </a14:hiddenFill>
            </a:ext>
          </a:extLst>
        </p:spPr>
      </p:pic>
      <p:pic>
        <p:nvPicPr>
          <p:cNvPr id="13" name="Google Shape;1050;p133" descr="A yellow triangle with black squares&#10;&#10;AI-generated content may be incorrect.">
            <a:extLst>
              <a:ext uri="{FF2B5EF4-FFF2-40B4-BE49-F238E27FC236}">
                <a16:creationId xmlns:a16="http://schemas.microsoft.com/office/drawing/2014/main" id="{5D75D25A-6789-3D6D-E525-BBA96DD60FDB}"/>
              </a:ext>
            </a:extLst>
          </p:cNvPr>
          <p:cNvPicPr preferRelativeResize="0"/>
          <p:nvPr/>
        </p:nvPicPr>
        <p:blipFill>
          <a:blip r:embed="rId3">
            <a:alphaModFix/>
          </a:blip>
          <a:stretch>
            <a:fillRect/>
          </a:stretch>
        </p:blipFill>
        <p:spPr>
          <a:xfrm>
            <a:off x="6182303" y="2794054"/>
            <a:ext cx="238264" cy="322485"/>
          </a:xfrm>
          <a:prstGeom prst="rect">
            <a:avLst/>
          </a:prstGeom>
          <a:noFill/>
          <a:ln>
            <a:noFill/>
          </a:ln>
        </p:spPr>
      </p:pic>
      <p:sp>
        <p:nvSpPr>
          <p:cNvPr id="14" name="Google Shape;397;p78">
            <a:extLst>
              <a:ext uri="{FF2B5EF4-FFF2-40B4-BE49-F238E27FC236}">
                <a16:creationId xmlns:a16="http://schemas.microsoft.com/office/drawing/2014/main" id="{5F36587A-0BB0-F5BE-00C8-D9BB7AC812A7}"/>
              </a:ext>
            </a:extLst>
          </p:cNvPr>
          <p:cNvSpPr/>
          <p:nvPr/>
        </p:nvSpPr>
        <p:spPr>
          <a:xfrm>
            <a:off x="6024664" y="1516816"/>
            <a:ext cx="2529980" cy="1682804"/>
          </a:xfrm>
          <a:prstGeom prst="roundRect">
            <a:avLst>
              <a:gd name="adj" fmla="val 2539"/>
            </a:avLst>
          </a:prstGeom>
          <a:noFill/>
          <a:ln>
            <a:gradFill>
              <a:gsLst>
                <a:gs pos="0">
                  <a:srgbClr val="7582FF"/>
                </a:gs>
                <a:gs pos="25000">
                  <a:srgbClr val="C08DFF"/>
                </a:gs>
                <a:gs pos="75000">
                  <a:srgbClr val="FF8791"/>
                </a:gs>
                <a:gs pos="100000">
                  <a:srgbClr val="F9B373"/>
                </a:gs>
              </a:gsLst>
              <a:lin ang="5400000" scaled="1"/>
            </a:gradFill>
          </a:ln>
          <a:effectLst/>
        </p:spPr>
        <p:txBody>
          <a:bodyPr spcFirstLastPara="1" wrap="square" lIns="91425" tIns="91425" rIns="91425" bIns="91425" anchor="t" anchorCtr="0">
            <a:noAutofit/>
          </a:bodyPr>
          <a:lstStyle/>
          <a:p>
            <a:pPr>
              <a:spcAft>
                <a:spcPts val="600"/>
              </a:spcAft>
              <a:defRPr/>
            </a:pPr>
            <a:r>
              <a:rPr lang="en-US" sz="800">
                <a:solidFill>
                  <a:srgbClr val="F9B373"/>
                </a:solidFill>
                <a:latin typeface="Inter"/>
                <a:ea typeface="Inter"/>
              </a:rPr>
              <a:t xml:space="preserve">DEC 10, 2026| WEBINAR | </a:t>
            </a:r>
            <a:r>
              <a:rPr kumimoji="0" lang="en-US" sz="800" b="1" i="0" u="none" strike="noStrike" kern="1200" cap="none" spc="0" normalizeH="0" baseline="0" noProof="0">
                <a:ln>
                  <a:noFill/>
                </a:ln>
                <a:solidFill>
                  <a:srgbClr val="F9B373"/>
                </a:solidFill>
                <a:effectLst/>
                <a:uLnTx/>
                <a:uFillTx/>
                <a:latin typeface="Inter"/>
                <a:ea typeface="Inter"/>
                <a:cs typeface="+mn-cs"/>
                <a:hlinkClick r:id="rId7"/>
              </a:rPr>
              <a:t>See here</a:t>
            </a:r>
            <a:endParaRPr kumimoji="0" lang="en-US" sz="800" b="1" i="0" u="none" strike="noStrike" kern="1200" cap="none" spc="0" normalizeH="0" baseline="0" noProof="0">
              <a:ln>
                <a:noFill/>
              </a:ln>
              <a:solidFill>
                <a:srgbClr val="F9B373"/>
              </a:solidFill>
              <a:effectLst/>
              <a:uLnTx/>
              <a:uFillTx/>
              <a:latin typeface="Inter"/>
              <a:ea typeface="Inter"/>
              <a:cs typeface="+mn-cs"/>
              <a:hlinkClick r:id="rId5"/>
            </a:endParaRPr>
          </a:p>
          <a:p>
            <a:pPr>
              <a:defRPr/>
            </a:pPr>
            <a:r>
              <a:rPr lang="en-US" sz="800" b="1">
                <a:solidFill>
                  <a:srgbClr val="1A1A1A"/>
                </a:solidFill>
                <a:latin typeface="Inter"/>
                <a:ea typeface="Inter"/>
                <a:cs typeface="Arial"/>
              </a:rPr>
              <a:t xml:space="preserve">Hands-on workshop: Vault </a:t>
            </a:r>
            <a:r>
              <a:rPr lang="en-US" sz="800" b="1" err="1">
                <a:solidFill>
                  <a:srgbClr val="1A1A1A"/>
                </a:solidFill>
                <a:latin typeface="Inter"/>
                <a:ea typeface="Inter"/>
                <a:cs typeface="Arial"/>
              </a:rPr>
              <a:t>Quickstart</a:t>
            </a:r>
            <a:endParaRPr lang="en-US" sz="800" b="1">
              <a:solidFill>
                <a:srgbClr val="1A1A1A"/>
              </a:solidFill>
              <a:latin typeface="Inter"/>
              <a:ea typeface="Inter"/>
              <a:cs typeface="Arial"/>
            </a:endParaRPr>
          </a:p>
          <a:p>
            <a:pPr>
              <a:spcAft>
                <a:spcPts val="600"/>
              </a:spcAft>
              <a:defRPr/>
            </a:pPr>
            <a:endParaRPr lang="en-US" sz="650">
              <a:solidFill>
                <a:prstClr val="black"/>
              </a:solidFill>
              <a:latin typeface="Inter"/>
              <a:ea typeface="Inter"/>
              <a:cs typeface="Poppins"/>
            </a:endParaRPr>
          </a:p>
          <a:p>
            <a:pPr>
              <a:spcAft>
                <a:spcPts val="600"/>
              </a:spcAft>
              <a:defRPr/>
            </a:pPr>
            <a:r>
              <a:rPr lang="en-US" sz="650">
                <a:solidFill>
                  <a:prstClr val="black"/>
                </a:solidFill>
                <a:latin typeface="Inter"/>
                <a:ea typeface="Inter"/>
                <a:cs typeface="Poppins"/>
              </a:rPr>
              <a:t xml:space="preserve">Join us at the Vault </a:t>
            </a:r>
            <a:r>
              <a:rPr lang="en-US" sz="650" err="1">
                <a:solidFill>
                  <a:prstClr val="black"/>
                </a:solidFill>
                <a:latin typeface="Inter"/>
                <a:ea typeface="Inter"/>
                <a:cs typeface="Poppins"/>
              </a:rPr>
              <a:t>Quickstart</a:t>
            </a:r>
            <a:r>
              <a:rPr lang="en-US" sz="650">
                <a:solidFill>
                  <a:prstClr val="black"/>
                </a:solidFill>
                <a:latin typeface="Inter"/>
                <a:ea typeface="Inter"/>
                <a:cs typeface="Poppins"/>
              </a:rPr>
              <a:t xml:space="preserve"> workshop, an immersive learning experience designed to demonstrate how to get started with Vault to secure applications, identities and protect sensitive data.</a:t>
            </a:r>
          </a:p>
          <a:p>
            <a:pPr>
              <a:spcAft>
                <a:spcPts val="600"/>
              </a:spcAft>
              <a:defRPr/>
            </a:pPr>
            <a:br>
              <a:rPr lang="en-US"/>
            </a:br>
            <a:endParaRPr lang="en-US"/>
          </a:p>
        </p:txBody>
      </p:sp>
      <p:pic>
        <p:nvPicPr>
          <p:cNvPr id="15" name="Picture 12" descr="Union Jack - Wikipedia">
            <a:extLst>
              <a:ext uri="{FF2B5EF4-FFF2-40B4-BE49-F238E27FC236}">
                <a16:creationId xmlns:a16="http://schemas.microsoft.com/office/drawing/2014/main" id="{E65CE5E9-5A77-5B3B-D33E-8B352DF7EA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3815" y="1565393"/>
            <a:ext cx="182880" cy="182880"/>
          </a:xfrm>
          <a:prstGeom prst="ellipse">
            <a:avLst/>
          </a:prstGeom>
          <a:noFill/>
          <a:extLst>
            <a:ext uri="{909E8E84-426E-40DD-AFC4-6F175D3DCCD1}">
              <a14:hiddenFill xmlns:a14="http://schemas.microsoft.com/office/drawing/2010/main">
                <a:solidFill>
                  <a:srgbClr val="FFFFFF"/>
                </a:solidFill>
              </a14:hiddenFill>
            </a:ext>
          </a:extLst>
        </p:spPr>
      </p:pic>
      <p:sp>
        <p:nvSpPr>
          <p:cNvPr id="17" name="Google Shape;397;p78">
            <a:extLst>
              <a:ext uri="{FF2B5EF4-FFF2-40B4-BE49-F238E27FC236}">
                <a16:creationId xmlns:a16="http://schemas.microsoft.com/office/drawing/2014/main" id="{79D83C3B-67FC-5E67-44A7-3DA8CCF790B5}"/>
              </a:ext>
            </a:extLst>
          </p:cNvPr>
          <p:cNvSpPr/>
          <p:nvPr/>
        </p:nvSpPr>
        <p:spPr>
          <a:xfrm>
            <a:off x="3218057" y="1541443"/>
            <a:ext cx="2529980" cy="1682804"/>
          </a:xfrm>
          <a:prstGeom prst="roundRect">
            <a:avLst>
              <a:gd name="adj" fmla="val 2539"/>
            </a:avLst>
          </a:prstGeom>
          <a:noFill/>
          <a:ln>
            <a:gradFill>
              <a:gsLst>
                <a:gs pos="0">
                  <a:srgbClr val="7582FF"/>
                </a:gs>
                <a:gs pos="25000">
                  <a:srgbClr val="C08DFF"/>
                </a:gs>
                <a:gs pos="75000">
                  <a:srgbClr val="FF8791"/>
                </a:gs>
                <a:gs pos="100000">
                  <a:srgbClr val="F9B373"/>
                </a:gs>
              </a:gsLst>
              <a:lin ang="5400000" scaled="1"/>
            </a:gradFill>
          </a:ln>
          <a:effectLst/>
        </p:spPr>
        <p:txBody>
          <a:bodyPr spcFirstLastPara="1" wrap="square" lIns="91425" tIns="91425" rIns="91425" bIns="91425" anchor="t" anchorCtr="0">
            <a:noAutofit/>
          </a:bodyPr>
          <a:lstStyle/>
          <a:p>
            <a:pPr>
              <a:spcAft>
                <a:spcPts val="600"/>
              </a:spcAft>
              <a:defRPr/>
            </a:pPr>
            <a:r>
              <a:rPr lang="en-US" sz="800">
                <a:solidFill>
                  <a:srgbClr val="F9B373"/>
                </a:solidFill>
                <a:latin typeface="Inter"/>
                <a:ea typeface="Inter"/>
              </a:rPr>
              <a:t xml:space="preserve">DEC 8, 2026| WORKSHOP | </a:t>
            </a:r>
            <a:r>
              <a:rPr kumimoji="0" lang="en-US" sz="800" b="1" i="0" u="none" strike="noStrike" kern="1200" cap="none" spc="0" normalizeH="0" baseline="0" noProof="0">
                <a:ln>
                  <a:noFill/>
                </a:ln>
                <a:solidFill>
                  <a:srgbClr val="F9B373"/>
                </a:solidFill>
                <a:effectLst/>
                <a:uLnTx/>
                <a:uFillTx/>
                <a:latin typeface="Inter"/>
                <a:ea typeface="Inter"/>
                <a:cs typeface="+mn-cs"/>
                <a:hlinkClick r:id="rId8"/>
              </a:rPr>
              <a:t>See here</a:t>
            </a:r>
            <a:endParaRPr kumimoji="0" lang="en-US" sz="800" b="1" i="0" u="none" strike="noStrike" kern="1200" cap="none" spc="0" normalizeH="0" baseline="0" noProof="0">
              <a:ln>
                <a:noFill/>
              </a:ln>
              <a:solidFill>
                <a:srgbClr val="F9B373"/>
              </a:solidFill>
              <a:effectLst/>
              <a:uLnTx/>
              <a:uFillTx/>
              <a:latin typeface="Inter"/>
              <a:ea typeface="Inter"/>
              <a:cs typeface="+mn-cs"/>
              <a:hlinkClick r:id="rId9"/>
            </a:endParaRPr>
          </a:p>
          <a:p>
            <a:pPr>
              <a:defRPr/>
            </a:pPr>
            <a:r>
              <a:rPr lang="en-US" sz="800" b="1">
                <a:solidFill>
                  <a:srgbClr val="1A1A1A"/>
                </a:solidFill>
                <a:latin typeface="Inter"/>
                <a:ea typeface="Inter"/>
                <a:cs typeface="Arial"/>
              </a:rPr>
              <a:t>Executive roundtable: Agentic Runtime Security</a:t>
            </a:r>
            <a:endParaRPr lang="en-US"/>
          </a:p>
          <a:p>
            <a:pPr>
              <a:defRPr/>
            </a:pPr>
            <a:endParaRPr lang="en-US" sz="800" b="1">
              <a:solidFill>
                <a:srgbClr val="1A1A1A"/>
              </a:solidFill>
              <a:latin typeface="Inter"/>
              <a:ea typeface="Inter"/>
              <a:cs typeface="Arial"/>
            </a:endParaRPr>
          </a:p>
          <a:p>
            <a:pPr>
              <a:spcAft>
                <a:spcPts val="600"/>
              </a:spcAft>
              <a:defRPr/>
            </a:pPr>
            <a:r>
              <a:rPr lang="en-US" sz="650">
                <a:solidFill>
                  <a:prstClr val="black"/>
                </a:solidFill>
                <a:latin typeface="Inter"/>
                <a:ea typeface="Inter"/>
                <a:cs typeface="Poppins"/>
              </a:rPr>
              <a:t xml:space="preserve">Join fellow security, identity, and technology leaders for an executive discussion on the emerging risks associated with agentic AI and the practical strategies organizations can adopt to securely enable AI-driven innovation. </a:t>
            </a:r>
            <a:br>
              <a:rPr lang="en-US"/>
            </a:br>
            <a:endParaRPr lang="en-US"/>
          </a:p>
        </p:txBody>
      </p:sp>
      <p:grpSp>
        <p:nvGrpSpPr>
          <p:cNvPr id="18" name="Google Shape;1804;p188">
            <a:extLst>
              <a:ext uri="{FF2B5EF4-FFF2-40B4-BE49-F238E27FC236}">
                <a16:creationId xmlns:a16="http://schemas.microsoft.com/office/drawing/2014/main" id="{9B5A5782-ED4C-41AA-FFF7-17D7E5AACCFA}"/>
              </a:ext>
            </a:extLst>
          </p:cNvPr>
          <p:cNvGrpSpPr>
            <a:grpSpLocks noChangeAspect="1"/>
          </p:cNvGrpSpPr>
          <p:nvPr/>
        </p:nvGrpSpPr>
        <p:grpSpPr>
          <a:xfrm>
            <a:off x="3384156" y="2761047"/>
            <a:ext cx="236303" cy="274320"/>
            <a:chOff x="2287520" y="3789099"/>
            <a:chExt cx="171453" cy="187429"/>
          </a:xfrm>
        </p:grpSpPr>
        <p:sp>
          <p:nvSpPr>
            <p:cNvPr id="20" name="Google Shape;1805;p188">
              <a:extLst>
                <a:ext uri="{FF2B5EF4-FFF2-40B4-BE49-F238E27FC236}">
                  <a16:creationId xmlns:a16="http://schemas.microsoft.com/office/drawing/2014/main" id="{7BE3515E-F1A2-58BA-7786-04685253B28F}"/>
                </a:ext>
              </a:extLst>
            </p:cNvPr>
            <p:cNvSpPr/>
            <p:nvPr/>
          </p:nvSpPr>
          <p:spPr>
            <a:xfrm>
              <a:off x="2346594" y="3822094"/>
              <a:ext cx="53304" cy="88843"/>
            </a:xfrm>
            <a:custGeom>
              <a:avLst/>
              <a:gdLst/>
              <a:ahLst/>
              <a:cxnLst/>
              <a:rect l="l" t="t" r="r" b="b"/>
              <a:pathLst>
                <a:path w="52004" h="86676" extrusionOk="0">
                  <a:moveTo>
                    <a:pt x="0" y="0"/>
                  </a:moveTo>
                  <a:lnTo>
                    <a:pt x="52005" y="28883"/>
                  </a:lnTo>
                  <a:lnTo>
                    <a:pt x="52005" y="86677"/>
                  </a:lnTo>
                  <a:lnTo>
                    <a:pt x="0" y="57775"/>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1" name="Google Shape;1806;p188">
              <a:extLst>
                <a:ext uri="{FF2B5EF4-FFF2-40B4-BE49-F238E27FC236}">
                  <a16:creationId xmlns:a16="http://schemas.microsoft.com/office/drawing/2014/main" id="{4318059C-0764-40B0-D4EC-D44A481CF44F}"/>
                </a:ext>
              </a:extLst>
            </p:cNvPr>
            <p:cNvSpPr/>
            <p:nvPr/>
          </p:nvSpPr>
          <p:spPr>
            <a:xfrm>
              <a:off x="2405678" y="3822094"/>
              <a:ext cx="53295" cy="88843"/>
            </a:xfrm>
            <a:custGeom>
              <a:avLst/>
              <a:gdLst/>
              <a:ahLst/>
              <a:cxnLst/>
              <a:rect l="l" t="t" r="r" b="b"/>
              <a:pathLst>
                <a:path w="51995" h="86676" extrusionOk="0">
                  <a:moveTo>
                    <a:pt x="0" y="28883"/>
                  </a:moveTo>
                  <a:lnTo>
                    <a:pt x="0" y="86677"/>
                  </a:lnTo>
                  <a:lnTo>
                    <a:pt x="51995" y="57775"/>
                  </a:lnTo>
                  <a:lnTo>
                    <a:pt x="51995" y="0"/>
                  </a:lnTo>
                  <a:lnTo>
                    <a:pt x="0" y="28883"/>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2" name="Google Shape;1807;p188">
              <a:extLst>
                <a:ext uri="{FF2B5EF4-FFF2-40B4-BE49-F238E27FC236}">
                  <a16:creationId xmlns:a16="http://schemas.microsoft.com/office/drawing/2014/main" id="{B4F276BA-286E-E462-EE9D-39D134A0E35C}"/>
                </a:ext>
              </a:extLst>
            </p:cNvPr>
            <p:cNvSpPr/>
            <p:nvPr/>
          </p:nvSpPr>
          <p:spPr>
            <a:xfrm>
              <a:off x="2287520" y="3789099"/>
              <a:ext cx="53285" cy="88833"/>
            </a:xfrm>
            <a:custGeom>
              <a:avLst/>
              <a:gdLst/>
              <a:ahLst/>
              <a:cxnLst/>
              <a:rect l="l" t="t" r="r" b="b"/>
              <a:pathLst>
                <a:path w="51985" h="86666" extrusionOk="0">
                  <a:moveTo>
                    <a:pt x="0" y="0"/>
                  </a:moveTo>
                  <a:lnTo>
                    <a:pt x="0" y="57775"/>
                  </a:lnTo>
                  <a:lnTo>
                    <a:pt x="51986" y="86667"/>
                  </a:lnTo>
                  <a:lnTo>
                    <a:pt x="51986" y="28892"/>
                  </a:lnTo>
                  <a:lnTo>
                    <a:pt x="0" y="0"/>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sp>
          <p:nvSpPr>
            <p:cNvPr id="23" name="Google Shape;1808;p188">
              <a:extLst>
                <a:ext uri="{FF2B5EF4-FFF2-40B4-BE49-F238E27FC236}">
                  <a16:creationId xmlns:a16="http://schemas.microsoft.com/office/drawing/2014/main" id="{BB3CD23B-E9F9-68AD-3455-926D320A5336}"/>
                </a:ext>
              </a:extLst>
            </p:cNvPr>
            <p:cNvSpPr/>
            <p:nvPr/>
          </p:nvSpPr>
          <p:spPr>
            <a:xfrm>
              <a:off x="2346594" y="3887695"/>
              <a:ext cx="53285" cy="88833"/>
            </a:xfrm>
            <a:custGeom>
              <a:avLst/>
              <a:gdLst/>
              <a:ahLst/>
              <a:cxnLst/>
              <a:rect l="l" t="t" r="r" b="b"/>
              <a:pathLst>
                <a:path w="51985" h="86666" extrusionOk="0">
                  <a:moveTo>
                    <a:pt x="0" y="57775"/>
                  </a:moveTo>
                  <a:lnTo>
                    <a:pt x="51986" y="86667"/>
                  </a:lnTo>
                  <a:lnTo>
                    <a:pt x="51986" y="28892"/>
                  </a:lnTo>
                  <a:lnTo>
                    <a:pt x="0" y="0"/>
                  </a:lnTo>
                  <a:lnTo>
                    <a:pt x="0" y="57775"/>
                  </a:lnTo>
                  <a:close/>
                </a:path>
              </a:pathLst>
            </a:custGeom>
            <a:solidFill>
              <a:srgbClr val="7B42B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Inter" panose="02000503000000020004" pitchFamily="2" charset="0"/>
                <a:ea typeface="Inter" panose="02000503000000020004" pitchFamily="2" charset="0"/>
                <a:cs typeface="Arial" panose="020B0604020202020204" pitchFamily="34" charset="0"/>
                <a:sym typeface="Calibri"/>
              </a:endParaRPr>
            </a:p>
          </p:txBody>
        </p:sp>
      </p:grpSp>
      <p:pic>
        <p:nvPicPr>
          <p:cNvPr id="24" name="Google Shape;1050;p133">
            <a:extLst>
              <a:ext uri="{FF2B5EF4-FFF2-40B4-BE49-F238E27FC236}">
                <a16:creationId xmlns:a16="http://schemas.microsoft.com/office/drawing/2014/main" id="{FF6F3DB4-A25D-B856-99CA-CFB9ABC06B93}"/>
              </a:ext>
            </a:extLst>
          </p:cNvPr>
          <p:cNvPicPr preferRelativeResize="0"/>
          <p:nvPr/>
        </p:nvPicPr>
        <p:blipFill>
          <a:blip r:embed="rId3">
            <a:alphaModFix/>
          </a:blip>
          <a:stretch>
            <a:fillRect/>
          </a:stretch>
        </p:blipFill>
        <p:spPr>
          <a:xfrm>
            <a:off x="3669509" y="2761047"/>
            <a:ext cx="238264" cy="322485"/>
          </a:xfrm>
          <a:prstGeom prst="rect">
            <a:avLst/>
          </a:prstGeom>
          <a:noFill/>
          <a:ln>
            <a:noFill/>
          </a:ln>
        </p:spPr>
      </p:pic>
      <p:pic>
        <p:nvPicPr>
          <p:cNvPr id="25" name="Picture 12" descr="Union Jack - Wikipedia">
            <a:extLst>
              <a:ext uri="{FF2B5EF4-FFF2-40B4-BE49-F238E27FC236}">
                <a16:creationId xmlns:a16="http://schemas.microsoft.com/office/drawing/2014/main" id="{60653757-A5F3-3F87-8B08-646251C479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51" y="1560385"/>
            <a:ext cx="182880" cy="18288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210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auto-pptx:featured-event">
    <p:spTree>
      <p:nvGrpSpPr>
        <p:cNvPr id="1" name="">
          <a:extLst>
            <a:ext uri="{FF2B5EF4-FFF2-40B4-BE49-F238E27FC236}">
              <a16:creationId xmlns:a16="http://schemas.microsoft.com/office/drawing/2014/main" id="{F416A0F4-64CF-EE1C-44E9-299F1E8B440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01B9AED3-4769-9AAB-A157-BAA5AB1EB6AD}"/>
              </a:ext>
            </a:extLst>
          </p:cNvPr>
          <p:cNvPicPr>
            <a:picLocks noChangeAspect="1"/>
          </p:cNvPicPr>
          <p:nvPr/>
        </p:nvPicPr>
        <p:blipFill>
          <a:blip r:embed="rId3"/>
          <a:stretch>
            <a:fillRect/>
          </a:stretch>
        </p:blipFill>
        <p:spPr>
          <a:xfrm>
            <a:off x="0" y="2122"/>
            <a:ext cx="7450681" cy="5148263"/>
          </a:xfrm>
          <a:prstGeom prst="rect">
            <a:avLst/>
          </a:prstGeom>
        </p:spPr>
      </p:pic>
      <p:sp>
        <p:nvSpPr>
          <p:cNvPr id="20" name="Content Placeholder 4">
            <a:extLst>
              <a:ext uri="{FF2B5EF4-FFF2-40B4-BE49-F238E27FC236}">
                <a16:creationId xmlns:a16="http://schemas.microsoft.com/office/drawing/2014/main" id="{F6483799-E877-0786-8947-E3BC9D031D80}"/>
              </a:ext>
            </a:extLst>
          </p:cNvPr>
          <p:cNvSpPr txBox="1">
            <a:spLocks/>
          </p:cNvSpPr>
          <p:nvPr/>
        </p:nvSpPr>
        <p:spPr>
          <a:xfrm>
            <a:off x="5337705" y="1476668"/>
            <a:ext cx="3146419" cy="2980771"/>
          </a:xfrm>
          <a:prstGeom prst="rect">
            <a:avLst/>
          </a:prstGeom>
        </p:spPr>
        <p:txBody>
          <a:bodyPr vert="horz" lIns="0" tIns="45720" rIns="91440" bIns="45720" rtlCol="0" anchor="t">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10000"/>
              </a:lnSpc>
            </a:pPr>
            <a:r>
              <a:rPr lang="en-US" sz="1200">
                <a:latin typeface="Inter"/>
                <a:ea typeface="Inter"/>
              </a:rPr>
              <a:t xml:space="preserve">Join industry peers at this thought leadership event as we explore how </a:t>
            </a:r>
            <a:r>
              <a:rPr lang="en-US" sz="1200" b="1">
                <a:latin typeface="Inter"/>
                <a:ea typeface="Inter"/>
              </a:rPr>
              <a:t>agentic AI, non-human identities, IAM gaps, and runtime security risks</a:t>
            </a:r>
            <a:r>
              <a:rPr lang="en-US" sz="1200">
                <a:latin typeface="Inter"/>
                <a:ea typeface="Inter"/>
              </a:rPr>
              <a:t xml:space="preserve"> are reshaping real-world deployments. </a:t>
            </a:r>
            <a:endParaRPr lang="en-US" sz="1200"/>
          </a:p>
          <a:p>
            <a:pPr>
              <a:lnSpc>
                <a:spcPct val="110000"/>
              </a:lnSpc>
            </a:pPr>
            <a:r>
              <a:rPr lang="en-US" sz="1200">
                <a:latin typeface="Inter"/>
                <a:ea typeface="Inter"/>
              </a:rPr>
              <a:t>Gain practical insights into securing the agentic runtime and aligning identity, access, and governance models to safely scale AI-driven initiatives.</a:t>
            </a:r>
            <a:endParaRPr lang="en-US" sz="1200">
              <a:latin typeface="Aptos" panose="02110004020202020204"/>
              <a:ea typeface="Inter"/>
            </a:endParaRPr>
          </a:p>
          <a:p>
            <a:pPr>
              <a:lnSpc>
                <a:spcPct val="110000"/>
              </a:lnSpc>
            </a:pPr>
            <a:endParaRPr lang="en-US" sz="1200">
              <a:latin typeface="Inter"/>
              <a:ea typeface="Inter"/>
            </a:endParaRPr>
          </a:p>
        </p:txBody>
      </p:sp>
      <p:sp>
        <p:nvSpPr>
          <p:cNvPr id="22" name="Title 1">
            <a:extLst>
              <a:ext uri="{FF2B5EF4-FFF2-40B4-BE49-F238E27FC236}">
                <a16:creationId xmlns:a16="http://schemas.microsoft.com/office/drawing/2014/main" id="{D3871CF1-65E5-D75E-2B86-4413A652333C}"/>
              </a:ext>
            </a:extLst>
          </p:cNvPr>
          <p:cNvSpPr txBox="1">
            <a:spLocks/>
          </p:cNvSpPr>
          <p:nvPr/>
        </p:nvSpPr>
        <p:spPr>
          <a:xfrm>
            <a:off x="411450" y="365750"/>
            <a:ext cx="8321100" cy="360099"/>
          </a:xfrm>
          <a:prstGeom prst="rect">
            <a:avLst/>
          </a:prstGeom>
        </p:spPr>
        <p:txBody>
          <a:bodyPr spcFirstLastPara="1" wrap="square" lIns="0" tIns="0" rIns="0" bIns="0" anchor="t" anchorCtr="0">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600">
                <a:gradFill>
                  <a:gsLst>
                    <a:gs pos="0">
                      <a:srgbClr val="6C81FF"/>
                    </a:gs>
                    <a:gs pos="35000">
                      <a:srgbClr val="C08DFF"/>
                    </a:gs>
                    <a:gs pos="75000">
                      <a:srgbClr val="FF8791"/>
                    </a:gs>
                    <a:gs pos="100000">
                      <a:srgbClr val="F9B571"/>
                    </a:gs>
                  </a:gsLst>
                  <a:lin ang="2700000" scaled="0"/>
                </a:gradFill>
                <a:latin typeface="Inter SemiBold"/>
                <a:ea typeface="Inter SemiBold"/>
              </a:rPr>
              <a:t>Agentic Runtime Security Exchange Frankfurt</a:t>
            </a:r>
          </a:p>
        </p:txBody>
      </p:sp>
      <p:sp>
        <p:nvSpPr>
          <p:cNvPr id="24" name="Subtitle 2">
            <a:extLst>
              <a:ext uri="{FF2B5EF4-FFF2-40B4-BE49-F238E27FC236}">
                <a16:creationId xmlns:a16="http://schemas.microsoft.com/office/drawing/2014/main" id="{346F5D23-7FF9-AD48-1E9F-81EB9B8CEC05}"/>
              </a:ext>
            </a:extLst>
          </p:cNvPr>
          <p:cNvSpPr txBox="1">
            <a:spLocks/>
          </p:cNvSpPr>
          <p:nvPr/>
        </p:nvSpPr>
        <p:spPr>
          <a:xfrm>
            <a:off x="318566" y="818411"/>
            <a:ext cx="8321100" cy="246221"/>
          </a:xfrm>
          <a:prstGeom prst="rect">
            <a:avLst/>
          </a:prstGeom>
        </p:spPr>
        <p:txBody>
          <a:bodyPr lIns="91440" tIns="45720" rIns="91440" bIns="45720" anchor="t"/>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600">
                <a:latin typeface="Inter Light"/>
                <a:cs typeface="Inter Light"/>
              </a:rPr>
              <a:t xml:space="preserve">Event | November 10 | </a:t>
            </a:r>
            <a:r>
              <a:rPr lang="en-US" sz="1600">
                <a:solidFill>
                  <a:srgbClr val="1264A3"/>
                </a:solidFill>
                <a:latin typeface="Inter Light"/>
                <a:cs typeface="Inter Light"/>
                <a:hlinkClick r:id="rId4"/>
              </a:rPr>
              <a:t>Business Track</a:t>
            </a:r>
            <a:r>
              <a:rPr lang="en-US" sz="1600">
                <a:solidFill>
                  <a:srgbClr val="000000"/>
                </a:solidFill>
                <a:latin typeface="Inter Light"/>
                <a:ea typeface="Inter"/>
                <a:cs typeface="Inter Light"/>
              </a:rPr>
              <a:t xml:space="preserve"> | </a:t>
            </a:r>
            <a:r>
              <a:rPr lang="en-US" sz="1600">
                <a:solidFill>
                  <a:srgbClr val="1264A3"/>
                </a:solidFill>
                <a:latin typeface="Inter Light"/>
                <a:ea typeface="Inter"/>
                <a:cs typeface="Inter Light"/>
                <a:hlinkClick r:id="rId5"/>
              </a:rPr>
              <a:t>Practitioner Track</a:t>
            </a:r>
            <a:endParaRPr lang="en-US" sz="1600">
              <a:solidFill>
                <a:srgbClr val="000000"/>
              </a:solidFill>
              <a:latin typeface="Inter Light"/>
              <a:ea typeface="Inter"/>
              <a:cs typeface="Inter Light"/>
            </a:endParaRPr>
          </a:p>
          <a:p>
            <a:endParaRPr lang="en-US" sz="1200">
              <a:latin typeface="Inter"/>
              <a:ea typeface="Inter"/>
              <a:cs typeface="Inter Light"/>
            </a:endParaRPr>
          </a:p>
          <a:p>
            <a:pPr marL="0" indent="0">
              <a:buNone/>
            </a:pPr>
            <a:endParaRPr lang="en-US" sz="1600">
              <a:latin typeface="Inter Light"/>
              <a:cs typeface="Inter Light"/>
            </a:endParaRPr>
          </a:p>
        </p:txBody>
      </p:sp>
      <p:pic>
        <p:nvPicPr>
          <p:cNvPr id="26" name="Google Shape;1050;p133" descr="A yellow triangle with black squares&#10;&#10;AI-generated content may be incorrect.">
            <a:extLst>
              <a:ext uri="{FF2B5EF4-FFF2-40B4-BE49-F238E27FC236}">
                <a16:creationId xmlns:a16="http://schemas.microsoft.com/office/drawing/2014/main" id="{E12CAE89-5F86-9BAB-E140-B3D789570021}"/>
              </a:ext>
            </a:extLst>
          </p:cNvPr>
          <p:cNvPicPr preferRelativeResize="0"/>
          <p:nvPr/>
        </p:nvPicPr>
        <p:blipFill>
          <a:blip r:embed="rId6">
            <a:alphaModFix/>
          </a:blip>
          <a:stretch>
            <a:fillRect/>
          </a:stretch>
        </p:blipFill>
        <p:spPr>
          <a:xfrm>
            <a:off x="8364355" y="218766"/>
            <a:ext cx="365399" cy="488715"/>
          </a:xfrm>
          <a:prstGeom prst="rect">
            <a:avLst/>
          </a:prstGeom>
          <a:noFill/>
          <a:ln>
            <a:noFill/>
          </a:ln>
        </p:spPr>
      </p:pic>
      <p:pic>
        <p:nvPicPr>
          <p:cNvPr id="6" name="Picture 5">
            <a:extLst>
              <a:ext uri="{FF2B5EF4-FFF2-40B4-BE49-F238E27FC236}">
                <a16:creationId xmlns:a16="http://schemas.microsoft.com/office/drawing/2014/main" id="{8907637B-7632-188D-89DC-F2BA22672150}"/>
              </a:ext>
            </a:extLst>
          </p:cNvPr>
          <p:cNvPicPr>
            <a:picLocks noChangeAspect="1"/>
          </p:cNvPicPr>
          <p:nvPr/>
        </p:nvPicPr>
        <p:blipFill>
          <a:blip r:embed="rId7"/>
          <a:stretch>
            <a:fillRect/>
          </a:stretch>
        </p:blipFill>
        <p:spPr>
          <a:xfrm>
            <a:off x="410440" y="1168554"/>
            <a:ext cx="4639231" cy="3530220"/>
          </a:xfrm>
          <a:prstGeom prst="rect">
            <a:avLst/>
          </a:prstGeom>
        </p:spPr>
      </p:pic>
      <p:pic>
        <p:nvPicPr>
          <p:cNvPr id="3" name="Picture 2">
            <a:extLst>
              <a:ext uri="{FF2B5EF4-FFF2-40B4-BE49-F238E27FC236}">
                <a16:creationId xmlns:a16="http://schemas.microsoft.com/office/drawing/2014/main" id="{63A16715-DF9A-52C4-D05B-8F1A09F9F32D}"/>
              </a:ext>
            </a:extLst>
          </p:cNvPr>
          <p:cNvPicPr>
            <a:picLocks noChangeAspect="1"/>
          </p:cNvPicPr>
          <p:nvPr/>
        </p:nvPicPr>
        <p:blipFill>
          <a:blip r:embed="rId8"/>
          <a:stretch>
            <a:fillRect/>
          </a:stretch>
        </p:blipFill>
        <p:spPr>
          <a:xfrm>
            <a:off x="2240924" y="2498330"/>
            <a:ext cx="2808747" cy="1617500"/>
          </a:xfrm>
          <a:prstGeom prst="rect">
            <a:avLst/>
          </a:prstGeom>
        </p:spPr>
      </p:pic>
    </p:spTree>
    <p:extLst>
      <p:ext uri="{BB962C8B-B14F-4D97-AF65-F5344CB8AC3E}">
        <p14:creationId xmlns:p14="http://schemas.microsoft.com/office/powerpoint/2010/main" val="23933697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Application>auto-pptx</Application>
  <Slides>11</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HashiCorp Product Updates (template)</dc:title>
  <dc:creator>auto-pptx</dc:creator>
  <cp:lastModifiedBy>auto-pptx</cp:lastModifiedBy>
  <cp:revision>1</cp:revision>
  <dcterms:created xsi:type="dcterms:W3CDTF">2026-10-16T13:24:56Z</dcterms:created>
  <dcterms:modified xsi:type="dcterms:W3CDTF">2026-10-16T13:24:56Z</dcterms:modified>
</cp:coreProperties>
</file>